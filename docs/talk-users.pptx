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92ec1d8b-6250-e9b6-d11d-8bc4115e6065}">
          <p14:sldIdLst>
            <p14:sldId id="256"/>
            <p14:sldId id="257"/>
            <p14:sldId id="258"/>
            <p14:sldId id="259"/>
          </p14:sldIdLst>
        </p14:section>
        <p14:section name="What you get" id="{57e6f341-a9dd-0d78-41c6-67c6a8af1c18}">
          <p14:sldIdLst>
            <p14:sldId id="260"/>
            <p14:sldId id="261"/>
            <p14:sldId id="262"/>
            <p14:sldId id="263"/>
          </p14:sldIdLst>
        </p14:section>
        <p14:section name="Daily use" id="{d1ceda6c-5255-0f3d-136b-320a0607146a}">
          <p14:sldIdLst>
            <p14:sldId id="264"/>
            <p14:sldId id="265"/>
            <p14:sldId id="266"/>
            <p14:sldId id="267"/>
            <p14:sldId id="268"/>
            <p14:sldId id="269"/>
            <p14:sldId id="270"/>
            <p14:sldId id="271"/>
            <p14:sldId id="272"/>
          </p14:sldIdLst>
        </p14:section>
        <p14:section name="Reference" id="{098b1746-a64f-1882-393e-99fa659cd326}">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people who would run zshrs as their shell. Everything here is something you can type or configure. Developer internals are in the developer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zshrs is a drop-in zsh replacement. It compiles every command to bytecode, JIT-compiles hot blocks, and caches the bytecode across processes. The point for a user: your .zshrc keeps working and the features people usually install as plugins ship in the binary.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Homebrew is the supported path. zshrs-all adds the recorder and the daemon. From source, the lean build is pure shell. The dist profile is what release artifacts and bottles use and needs about 8 GB of free 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have to change your login shell to try it. Run zshrs from your current shell. To make it your login shell, add it to /etc/shells and run chsh, as the README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numbers. Targets are goals. The Measured column is for numbers from your own machine; run zsh-bench to get the first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zsh-bench gives the first four numbers in one run. ps gives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engine sources .p10k.zsh unchanged. The line-editor engines honour the plugin variables you already set. --dump-plugins recognises zinit, oh-my-zsh, prezto, antidote, antigen and zplug.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zsh's whole function tree is packed into the binary and written to ~/.zshrs/functions on first run, so a Homebrew zsh upgrade cannot change how the shell completes. Manual pages and the Texinfo manual ship the same way. Directories your config prepends to fpath still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Rust ports of the fish engines that the zsh plugins recreate in script. They are refused when RCS is unset, so bare zshrs -f stays byte-identical to zsh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Per-feature false in the [zle] section of ~/.zshrs/zshrs.toml opts out. ZSHRS_NATIVE_ZLE_FX=0 disables all of them. Per-keystroke passes have an 8 ms budget by default. The README is inconsistent about whether the defaults are on or off: confirm on your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powerlevel10k theme runs as in-process Rust. Your .p10k.zsh is sourced unchanged and git status uses a native .git reader instead of gitstatusd. There is no instant-prompt step: first paint is the full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pmap, pgrep, peach, barrier, async and await are shell builtins that run on the worker pool with no forks. These are the README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 coreutils commands run in-process. git and the fzf-compatible finder arrive through the zshrs-native build and also run in-process.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daemon owns shared caches and history so many shells can read them by mmap. You start it yourself; nothing auto-spawns it. Shells must keep working when it is down, per the design invariants.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zwhere names the file and line that defined any alias, from the recorder. intercept gives before, after and around advice with timing. The dump flags show lexer, wordcode, AST and bytecode.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formatter and language server live in the same binary as the shell, so editor and CLI cannot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Bourne-family dialects run through one bytecode core, each verified against its real reference shell. Adding --zsh selects zsh-style emulation instead of the real shell's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cache and state directory is ~/.zshrs. Informational output goes to the log, not the terminal. The design notes list rm -rf ~/.zshrs as the force-wipe, since source files are the source of truth and the caches are accelerators.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page people can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Parity bugs are easiest to fix with a one-line repro that runs in both shells. Run the same snippet under zsh and zshrs with -f on both sides so no rc file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Repost of the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rtlCol="0"/>
          <a:lstStyle>
            <a:lvl1pPr algn="l" indent="0" marL="0">
              <a:buNone/>
              <a:defRPr lang="en-US" sz="3600" b="1" dirty="0">
                <a:solidFill>
                  <a:schemeClr val="bg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rtlCol="0"/>
          <a:lstStyle>
            <a:lvl1pPr algn="l" indent="0" marL="0">
              <a:buNone/>
              <a:defRPr lang="en-US" sz="3600" b="1" dirty="0">
                <a:solidFill>
                  <a:schemeClr val="accent4"/>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822960" y="1737360"/>
            <a:ext cx="10058400" cy="457200"/>
          </a:xfrm>
          <a:prstGeom prst="rect">
            <a:avLst/>
          </a:prstGeom>
          <a:noFill/>
          <a:ln/>
        </p:spPr>
        <p:txBody>
          <a:bodyPr wrap="square" lIns="0" tIns="0" rIns="0" bIns="0" rtlCol="0" anchor="t"/>
          <a:lstStyle/>
          <a:p>
            <a:pPr indent="0" marL="0">
              <a:buNone/>
            </a:pPr>
            <a:r>
              <a:rPr lang="en-US" sz="2200" dirty="0">
                <a:solidFill>
                  <a:schemeClr val="accent1"/>
                </a:solidFill>
                <a:latin typeface="Courier New" pitchFamily="34" charset="0"/>
                <a:ea typeface="Courier New" pitchFamily="34" charset="-122"/>
                <a:cs typeface="Courier New" pitchFamily="34" charset="-120"/>
              </a:rPr>
              <a:t>zshrs for users</a:t>
            </a:r>
            <a:endParaRPr lang="en-US" sz="2200" dirty="0"/>
          </a:p>
        </p:txBody>
      </p:sp>
      <p:sp>
        <p:nvSpPr>
          <p:cNvPr id="4" name="Text 1"/>
          <p:cNvSpPr txBox="1"/>
          <p:nvPr/>
        </p:nvSpPr>
        <p:spPr>
          <a:xfrm>
            <a:off x="822960" y="2377440"/>
            <a:ext cx="10515600" cy="2011680"/>
          </a:xfrm>
          <a:prstGeom prst="rect">
            <a:avLst/>
          </a:prstGeom>
          <a:noFill/>
          <a:ln/>
        </p:spPr>
        <p:txBody>
          <a:bodyPr wrap="square" lIns="0" tIns="0" rIns="0" bIns="0" rtlCol="0" anchor="t"/>
          <a:lstStyle/>
          <a:p>
            <a:pPr indent="0" marL="0">
              <a:buNone/>
            </a:pPr>
            <a:r>
              <a:rPr lang="en-US" sz="5400" b="1" dirty="0">
                <a:solidFill>
                  <a:schemeClr val="bg2"/>
                </a:solidFill>
                <a:latin typeface="Cambria" pitchFamily="34" charset="0"/>
                <a:ea typeface="Cambria" pitchFamily="34" charset="-122"/>
                <a:cs typeface="Cambria" pitchFamily="34" charset="-120"/>
              </a:rPr>
              <a:t>A zsh-compatible shell written in Rust</a:t>
            </a:r>
            <a:endParaRPr lang="en-US" sz="5400" dirty="0"/>
          </a:p>
        </p:txBody>
      </p:sp>
      <p:sp>
        <p:nvSpPr>
          <p:cNvPr id="5" name="Text 2"/>
          <p:cNvSpPr txBox="1"/>
          <p:nvPr/>
        </p:nvSpPr>
        <p:spPr>
          <a:xfrm>
            <a:off x="822960" y="4572000"/>
            <a:ext cx="10058400" cy="548640"/>
          </a:xfrm>
          <a:prstGeom prst="rect">
            <a:avLst/>
          </a:prstGeom>
          <a:noFill/>
          <a:ln/>
        </p:spPr>
        <p:txBody>
          <a:bodyPr wrap="square" lIns="0" tIns="0" rIns="0" bIns="0" rtlCol="0" anchor="t"/>
          <a:lstStyle/>
          <a:p>
            <a:pPr indent="0" marL="0">
              <a:buNone/>
            </a:pPr>
            <a:r>
              <a:rPr lang="en-US" sz="2600" dirty="0">
                <a:solidFill>
                  <a:schemeClr val="accent5"/>
                </a:solidFill>
              </a:rPr>
              <a:t>Keep your config. Get the editor features built in.</a:t>
            </a:r>
            <a:endParaRPr lang="en-US" sz="2600" dirty="0"/>
          </a:p>
        </p:txBody>
      </p:sp>
      <p:sp>
        <p:nvSpPr>
          <p:cNvPr id="6"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What it is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users / overview</a:t>
            </a:r>
            <a:endParaRPr lang="en-US" sz="1200" dirty="0"/>
          </a:p>
        </p:txBody>
      </p:sp>
      <p:sp>
        <p:nvSpPr>
          <p:cNvPr id="5" name="Shape 2"/>
          <p:cNvSpPr/>
          <p:nvPr/>
        </p:nvSpPr>
        <p:spPr>
          <a:xfrm>
            <a:off x="822960" y="1737360"/>
            <a:ext cx="3383280" cy="3566160"/>
          </a:xfrm>
          <a:prstGeom prst="roundRect">
            <a:avLst>
              <a:gd name="adj" fmla="val 3243"/>
            </a:avLst>
          </a:prstGeom>
          <a:solidFill>
            <a:srgbClr val="FFFFFF"/>
          </a:solidFill>
          <a:ln w="12700">
            <a:solidFill>
              <a:srgbClr val="D9D5C8"/>
            </a:solidFill>
            <a:prstDash val="solid"/>
          </a:ln>
        </p:spPr>
      </p:sp>
      <p:sp>
        <p:nvSpPr>
          <p:cNvPr id="6" name="Text 3"/>
          <p:cNvSpPr txBox="1"/>
          <p:nvPr/>
        </p:nvSpPr>
        <p:spPr>
          <a:xfrm>
            <a:off x="1097280" y="1965960"/>
            <a:ext cx="283464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Drop-in</a:t>
            </a:r>
            <a:endParaRPr lang="en-US" sz="2200" dirty="0"/>
          </a:p>
        </p:txBody>
      </p:sp>
      <p:sp>
        <p:nvSpPr>
          <p:cNvPr id="7" name="Text 4"/>
          <p:cNvSpPr txBox="1"/>
          <p:nvPr/>
        </p:nvSpPr>
        <p:spPr>
          <a:xfrm>
            <a:off x="1097280" y="2560320"/>
            <a:ext cx="2834640" cy="2560320"/>
          </a:xfrm>
          <a:prstGeom prst="rect">
            <a:avLst/>
          </a:prstGeom>
          <a:noFill/>
          <a:ln/>
        </p:spPr>
        <p:txBody>
          <a:bodyPr wrap="square" lIns="0" tIns="0" rIns="0" bIns="0" rtlCol="0" anchor="t"/>
          <a:lstStyle/>
          <a:p>
            <a:pPr indent="0" marL="0">
              <a:buNone/>
            </a:pPr>
            <a:r>
              <a:rPr lang="en-US" sz="2000" dirty="0">
                <a:solidFill>
                  <a:schemeClr val="accent6"/>
                </a:solidFill>
              </a:rPr>
              <a:t>A zsh replacement. Your .zshrc and .p10k.zsh load unchanged.</a:t>
            </a:r>
            <a:endParaRPr lang="en-US" sz="2000" dirty="0"/>
          </a:p>
        </p:txBody>
      </p:sp>
      <p:sp>
        <p:nvSpPr>
          <p:cNvPr id="8" name="Shape 5"/>
          <p:cNvSpPr/>
          <p:nvPr/>
        </p:nvSpPr>
        <p:spPr>
          <a:xfrm>
            <a:off x="4389120" y="1737360"/>
            <a:ext cx="3383280" cy="3566160"/>
          </a:xfrm>
          <a:prstGeom prst="roundRect">
            <a:avLst>
              <a:gd name="adj" fmla="val 3243"/>
            </a:avLst>
          </a:prstGeom>
          <a:solidFill>
            <a:srgbClr val="FFFFFF"/>
          </a:solidFill>
          <a:ln w="12700">
            <a:solidFill>
              <a:srgbClr val="D9D5C8"/>
            </a:solidFill>
            <a:prstDash val="solid"/>
          </a:ln>
        </p:spPr>
      </p:sp>
      <p:sp>
        <p:nvSpPr>
          <p:cNvPr id="9" name="Text 6"/>
          <p:cNvSpPr txBox="1"/>
          <p:nvPr/>
        </p:nvSpPr>
        <p:spPr>
          <a:xfrm>
            <a:off x="4663440" y="1965960"/>
            <a:ext cx="283464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Fast path</a:t>
            </a:r>
            <a:endParaRPr lang="en-US" sz="2200" dirty="0"/>
          </a:p>
        </p:txBody>
      </p:sp>
      <p:sp>
        <p:nvSpPr>
          <p:cNvPr id="10" name="Text 7"/>
          <p:cNvSpPr txBox="1"/>
          <p:nvPr/>
        </p:nvSpPr>
        <p:spPr>
          <a:xfrm>
            <a:off x="4663440" y="2560320"/>
            <a:ext cx="2834640" cy="2560320"/>
          </a:xfrm>
          <a:prstGeom prst="rect">
            <a:avLst/>
          </a:prstGeom>
          <a:noFill/>
          <a:ln/>
        </p:spPr>
        <p:txBody>
          <a:bodyPr wrap="square" lIns="0" tIns="0" rIns="0" bIns="0" rtlCol="0" anchor="t"/>
          <a:lstStyle/>
          <a:p>
            <a:pPr indent="0" marL="0">
              <a:buNone/>
            </a:pPr>
            <a:r>
              <a:rPr lang="en-US" sz="2000" dirty="0">
                <a:solidFill>
                  <a:schemeClr val="accent6"/>
                </a:solidFill>
              </a:rPr>
              <a:t>Commands compile to bytecode; hot blocks go to native code.</a:t>
            </a:r>
            <a:endParaRPr lang="en-US" sz="2000" dirty="0"/>
          </a:p>
        </p:txBody>
      </p:sp>
      <p:sp>
        <p:nvSpPr>
          <p:cNvPr id="11" name="Shape 8"/>
          <p:cNvSpPr/>
          <p:nvPr/>
        </p:nvSpPr>
        <p:spPr>
          <a:xfrm>
            <a:off x="7955280" y="1737360"/>
            <a:ext cx="3383280" cy="3566160"/>
          </a:xfrm>
          <a:prstGeom prst="roundRect">
            <a:avLst>
              <a:gd name="adj" fmla="val 3243"/>
            </a:avLst>
          </a:prstGeom>
          <a:solidFill>
            <a:srgbClr val="FFFFFF"/>
          </a:solidFill>
          <a:ln w="12700">
            <a:solidFill>
              <a:srgbClr val="D9D5C8"/>
            </a:solidFill>
            <a:prstDash val="solid"/>
          </a:ln>
        </p:spPr>
      </p:sp>
      <p:sp>
        <p:nvSpPr>
          <p:cNvPr id="12" name="Text 9"/>
          <p:cNvSpPr txBox="1"/>
          <p:nvPr/>
        </p:nvSpPr>
        <p:spPr>
          <a:xfrm>
            <a:off x="8229600" y="1965960"/>
            <a:ext cx="283464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Built in</a:t>
            </a:r>
            <a:endParaRPr lang="en-US" sz="2200" dirty="0"/>
          </a:p>
        </p:txBody>
      </p:sp>
      <p:sp>
        <p:nvSpPr>
          <p:cNvPr id="13" name="Text 10"/>
          <p:cNvSpPr txBox="1"/>
          <p:nvPr/>
        </p:nvSpPr>
        <p:spPr>
          <a:xfrm>
            <a:off x="8229600" y="2560320"/>
            <a:ext cx="2834640" cy="2560320"/>
          </a:xfrm>
          <a:prstGeom prst="rect">
            <a:avLst/>
          </a:prstGeom>
          <a:noFill/>
          <a:ln/>
        </p:spPr>
        <p:txBody>
          <a:bodyPr wrap="square" lIns="0" tIns="0" rIns="0" bIns="0" rtlCol="0" anchor="t"/>
          <a:lstStyle/>
          <a:p>
            <a:pPr indent="0" marL="0">
              <a:buNone/>
            </a:pPr>
            <a:r>
              <a:rPr lang="en-US" sz="2000" dirty="0">
                <a:solidFill>
                  <a:schemeClr val="accent6"/>
                </a:solidFill>
              </a:rPr>
              <a:t>Highlighting, autosuggestions, history search and autopair ship in the binary.</a:t>
            </a:r>
            <a:endParaRPr lang="en-US" sz="20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Install</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users / install</a:t>
            </a:r>
            <a:endParaRPr lang="en-US" sz="1200" dirty="0"/>
          </a:p>
        </p:txBody>
      </p:sp>
      <p:sp>
        <p:nvSpPr>
          <p:cNvPr id="5" name="Shape 2"/>
          <p:cNvSpPr/>
          <p:nvPr/>
        </p:nvSpPr>
        <p:spPr>
          <a:xfrm>
            <a:off x="822960" y="1737360"/>
            <a:ext cx="10515600" cy="2606040"/>
          </a:xfrm>
          <a:prstGeom prst="roundRect">
            <a:avLst>
              <a:gd name="adj" fmla="val 4211"/>
            </a:avLst>
          </a:prstGeom>
          <a:solidFill>
            <a:schemeClr val="tx2"/>
          </a:solidFill>
          <a:ln w="12700">
            <a:solidFill>
              <a:srgbClr val="2C3844"/>
            </a:solidFill>
            <a:prstDash val="solid"/>
          </a:ln>
        </p:spPr>
      </p:sp>
      <p:sp>
        <p:nvSpPr>
          <p:cNvPr id="6" name="Text 3"/>
          <p:cNvSpPr txBox="1"/>
          <p:nvPr/>
        </p:nvSpPr>
        <p:spPr>
          <a:xfrm>
            <a:off x="1143000" y="1938528"/>
            <a:ext cx="9875520" cy="2203704"/>
          </a:xfrm>
          <a:prstGeom prst="rect">
            <a:avLst/>
          </a:prstGeom>
          <a:noFill/>
          <a:ln/>
        </p:spPr>
        <p:txBody>
          <a:bodyPr wrap="square" lIns="0" tIns="0" rIns="0" bIns="0" rtlCol="0" anchor="t"/>
          <a:lstStyle/>
          <a:p>
            <a:pPr indent="0" marL="0">
              <a:spcAft>
                <a:spcPts val="300"/>
              </a:spcAft>
              <a:buNone/>
            </a:pPr>
            <a:r>
              <a:rPr lang="en-US" sz="2200" dirty="0">
                <a:solidFill>
                  <a:schemeClr val="accent1"/>
                </a:solidFill>
                <a:latin typeface="Courier New" pitchFamily="34" charset="0"/>
                <a:ea typeface="Courier New" pitchFamily="34" charset="-122"/>
                <a:cs typeface="Courier New" pitchFamily="34" charset="-120"/>
              </a:rPr>
              <a:t>brew tap MenkeTechnologies/menketech</a:t>
            </a:r>
            <a:endParaRPr lang="en-US" sz="2200" dirty="0"/>
          </a:p>
          <a:p>
            <a:pPr indent="0" marL="0">
              <a:spcAft>
                <a:spcPts val="300"/>
              </a:spcAft>
              <a:buNone/>
            </a:pPr>
            <a:r>
              <a:rPr lang="en-US" sz="2200" dirty="0">
                <a:solidFill>
                  <a:schemeClr val="accent1"/>
                </a:solidFill>
                <a:latin typeface="Courier New" pitchFamily="34" charset="0"/>
                <a:ea typeface="Courier New" pitchFamily="34" charset="-122"/>
                <a:cs typeface="Courier New" pitchFamily="34" charset="-120"/>
              </a:rPr>
              <a:t>brew install zshrs</a:t>
            </a:r>
            <a:endParaRPr lang="en-US" sz="2200" dirty="0"/>
          </a:p>
          <a:p>
            <a:pPr indent="0" marL="0">
              <a:spcAft>
                <a:spcPts val="300"/>
              </a:spcAft>
              <a:buNone/>
            </a:pPr>
            <a:r>
              <a:rPr lang="en-US" sz="2200" dirty="0">
                <a:solidFill>
                  <a:schemeClr val="accent5"/>
                </a:solidFill>
                <a:latin typeface="Courier New" pitchFamily="34" charset="0"/>
                <a:ea typeface="Courier New" pitchFamily="34" charset="-122"/>
                <a:cs typeface="Courier New" pitchFamily="34" charset="-120"/>
              </a:rPr>
              <a:t>brew install zshrs-all   # adds recorder + daemon</a:t>
            </a:r>
            <a:endParaRPr lang="en-US" sz="2200" dirty="0"/>
          </a:p>
          <a:p>
            <a:pPr indent="0" marL="0">
              <a:spcAft>
                <a:spcPts val="300"/>
              </a:spcAft>
              <a:buNone/>
            </a:pPr>
            <a:r>
              <a:rPr lang="en-US" sz="2200" dirty="0">
                <a:solidFill>
                  <a:schemeClr val="accent5"/>
                </a:solidFill>
                <a:latin typeface="Courier New" pitchFamily="34" charset="0"/>
                <a:ea typeface="Courier New" pitchFamily="34" charset="-122"/>
                <a:cs typeface="Courier New" pitchFamily="34" charset="-120"/>
              </a:rPr>
              <a:t>cargo install zshrs      # from crates.io</a:t>
            </a:r>
            <a:endParaRPr lang="en-US" sz="2200" dirty="0"/>
          </a:p>
        </p:txBody>
      </p:sp>
      <p:sp>
        <p:nvSpPr>
          <p:cNvPr id="7" name="Text 4"/>
          <p:cNvSpPr txBox="1"/>
          <p:nvPr/>
        </p:nvSpPr>
        <p:spPr>
          <a:xfrm>
            <a:off x="822960" y="4663440"/>
            <a:ext cx="10515600" cy="457200"/>
          </a:xfrm>
          <a:prstGeom prst="rect">
            <a:avLst/>
          </a:prstGeom>
          <a:noFill/>
          <a:ln/>
        </p:spPr>
        <p:txBody>
          <a:bodyPr wrap="square" lIns="0" tIns="0" rIns="0" bIns="0" rtlCol="0" anchor="t"/>
          <a:lstStyle/>
          <a:p>
            <a:pPr indent="0" marL="0">
              <a:buNone/>
            </a:pPr>
            <a:r>
              <a:rPr lang="en-US" sz="2200" dirty="0">
                <a:solidFill>
                  <a:schemeClr val="bg2"/>
                </a:solidFill>
              </a:rPr>
              <a:t>From source: cargo build --release, binary at target/release/zshrs</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Try it without switching</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users / install</a:t>
            </a:r>
            <a:endParaRPr lang="en-US" sz="1200" dirty="0"/>
          </a:p>
        </p:txBody>
      </p:sp>
      <p:sp>
        <p:nvSpPr>
          <p:cNvPr id="5" name="Shape 2"/>
          <p:cNvSpPr/>
          <p:nvPr/>
        </p:nvSpPr>
        <p:spPr>
          <a:xfrm>
            <a:off x="822960" y="1737360"/>
            <a:ext cx="10515600" cy="3154680"/>
          </a:xfrm>
          <a:prstGeom prst="roundRect">
            <a:avLst>
              <a:gd name="adj" fmla="val 3478"/>
            </a:avLst>
          </a:prstGeom>
          <a:solidFill>
            <a:schemeClr val="accent4"/>
          </a:solidFill>
          <a:ln w="12700">
            <a:solidFill>
              <a:srgbClr val="2C3844"/>
            </a:solidFill>
            <a:prstDash val="solid"/>
          </a:ln>
        </p:spPr>
      </p:sp>
      <p:sp>
        <p:nvSpPr>
          <p:cNvPr id="6" name="Text 3"/>
          <p:cNvSpPr txBox="1"/>
          <p:nvPr/>
        </p:nvSpPr>
        <p:spPr>
          <a:xfrm>
            <a:off x="1143000" y="1938528"/>
            <a:ext cx="9875520" cy="2752344"/>
          </a:xfrm>
          <a:prstGeom prst="rect">
            <a:avLst/>
          </a:prstGeom>
          <a:noFill/>
          <a:ln/>
        </p:spPr>
        <p:txBody>
          <a:bodyPr wrap="square" lIns="0" tIns="0" rIns="0" bIns="0" rtlCol="0" anchor="t"/>
          <a:lstStyle/>
          <a:p>
            <a:pPr indent="0" marL="0">
              <a:spcAft>
                <a:spcPts val="300"/>
              </a:spcAft>
              <a:buNone/>
            </a:pPr>
            <a:r>
              <a:rPr lang="en-US" sz="2000" dirty="0">
                <a:solidFill>
                  <a:schemeClr val="accent5"/>
                </a:solidFill>
                <a:latin typeface="Courier New" pitchFamily="34" charset="0"/>
                <a:ea typeface="Courier New" pitchFamily="34" charset="-122"/>
                <a:cs typeface="Courier New" pitchFamily="34" charset="-120"/>
              </a:rPr>
              <a:t># try it, keeps your login shell</a:t>
            </a:r>
            <a:endParaRPr lang="en-US" sz="2000" dirty="0"/>
          </a:p>
          <a:p>
            <a:pPr indent="0" marL="0">
              <a:spcAft>
                <a:spcPts val="300"/>
              </a:spcAft>
              <a:buNone/>
            </a:pPr>
            <a:r>
              <a:rPr lang="en-US" sz="2000" dirty="0">
                <a:solidFill>
                  <a:schemeClr val="accent1"/>
                </a:solidFill>
                <a:latin typeface="Courier New" pitchFamily="34" charset="0"/>
                <a:ea typeface="Courier New" pitchFamily="34" charset="-122"/>
                <a:cs typeface="Courier New" pitchFamily="34" charset="-120"/>
              </a:rPr>
              <a:t>zshrs</a:t>
            </a:r>
            <a:endParaRPr lang="en-US" sz="2000" dirty="0"/>
          </a:p>
          <a:p>
            <a:pPr indent="0" marL="0">
              <a:spcAft>
                <a:spcPts val="300"/>
              </a:spcAft>
              <a:buNone/>
            </a:pPr>
            <a:endParaRPr lang="en-US" sz="2000" dirty="0"/>
          </a:p>
          <a:p>
            <a:pPr indent="0" marL="0">
              <a:spcAft>
                <a:spcPts val="300"/>
              </a:spcAft>
              <a:buNone/>
            </a:pPr>
            <a:r>
              <a:rPr lang="en-US" sz="2000" dirty="0">
                <a:solidFill>
                  <a:schemeClr val="accent5"/>
                </a:solidFill>
                <a:latin typeface="Courier New" pitchFamily="34" charset="0"/>
                <a:ea typeface="Courier New" pitchFamily="34" charset="-122"/>
                <a:cs typeface="Courier New" pitchFamily="34" charset="-120"/>
              </a:rPr>
              <a:t># make it your login shell</a:t>
            </a:r>
            <a:endParaRPr lang="en-US" sz="2000" dirty="0"/>
          </a:p>
          <a:p>
            <a:pPr indent="0" marL="0">
              <a:spcAft>
                <a:spcPts val="300"/>
              </a:spcAft>
              <a:buNone/>
            </a:pPr>
            <a:r>
              <a:rPr lang="en-US" sz="2000" dirty="0">
                <a:solidFill>
                  <a:schemeClr val="accent1"/>
                </a:solidFill>
                <a:latin typeface="Courier New" pitchFamily="34" charset="0"/>
                <a:ea typeface="Courier New" pitchFamily="34" charset="-122"/>
                <a:cs typeface="Courier New" pitchFamily="34" charset="-120"/>
              </a:rPr>
              <a:t>sudo sh -c 'echo "$(which zshrs)" &gt;&gt; /etc/shells'</a:t>
            </a:r>
            <a:endParaRPr lang="en-US" sz="2000" dirty="0"/>
          </a:p>
          <a:p>
            <a:pPr indent="0" marL="0">
              <a:spcAft>
                <a:spcPts val="300"/>
              </a:spcAft>
              <a:buNone/>
            </a:pPr>
            <a:r>
              <a:rPr lang="en-US" sz="2000" dirty="0">
                <a:solidFill>
                  <a:schemeClr val="accent1"/>
                </a:solidFill>
                <a:latin typeface="Courier New" pitchFamily="34" charset="0"/>
                <a:ea typeface="Courier New" pitchFamily="34" charset="-122"/>
                <a:cs typeface="Courier New" pitchFamily="34" charset="-120"/>
              </a:rPr>
              <a:t>chsh -s "$(which zshrs)"</a:t>
            </a:r>
            <a:endParaRPr lang="en-US" sz="20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What you should feel</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users / measurements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737360"/>
          <a:ext cx="10515600" cy="914400"/>
        </p:xfrm>
        <a:graphic>
          <a:graphicData uri="http://schemas.openxmlformats.org/drawingml/2006/table">
            <a:tbl>
              <a:tblPr/>
              <a:tblGrid>
                <a:gridCol w="3291840"/>
                <a:gridCol w="4206240"/>
                <a:gridCol w="3017520"/>
              </a:tblGrid>
              <a:tr h="566928">
                <a:tc>
                  <a:txBody>
                    <a:bodyPr/>
                    <a:lstStyle/>
                    <a:p>
                      <a:pPr indent="0" marL="0">
                        <a:buNone/>
                      </a:pPr>
                      <a:r>
                        <a:rPr lang="en-US" sz="2000" b="1" dirty="0">
                          <a:solidFill>
                            <a:schemeClr val="accent1"/>
                          </a:solidFill>
                        </a:rPr>
                        <a:t>Measure</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b="1" dirty="0">
                          <a:solidFill>
                            <a:schemeClr val="accent1"/>
                          </a:solidFill>
                        </a:rPr>
                        <a:t>What it is</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b="1" dirty="0">
                          <a:solidFill>
                            <a:schemeClr val="accent1"/>
                          </a:solidFill>
                        </a:rPr>
                        <a:t>Target</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2000" dirty="0">
                          <a:solidFill>
                            <a:schemeClr val="bg2"/>
                          </a:solidFill>
                        </a:rPr>
                        <a:t>Prompt appears</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dirty="0">
                          <a:solidFill>
                            <a:schemeClr val="bg2"/>
                          </a:solidFill>
                        </a:rPr>
                        <a:t>Open terminal to prompt</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dirty="0">
                          <a:solidFill>
                            <a:schemeClr val="bg2"/>
                          </a:solidFill>
                        </a:rPr>
                        <a:t>50 ms or less</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2000" dirty="0">
                          <a:solidFill>
                            <a:schemeClr val="bg2"/>
                          </a:solidFill>
                        </a:rPr>
                        <a:t>Ready to run</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dirty="0">
                          <a:solidFill>
                            <a:schemeClr val="bg2"/>
                          </a:solidFill>
                        </a:rPr>
                        <a:t>Until first command runs</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dirty="0">
                          <a:solidFill>
                            <a:schemeClr val="bg2"/>
                          </a:solidFill>
                        </a:rPr>
                        <a:t>150 ms or less</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2000" dirty="0">
                          <a:solidFill>
                            <a:schemeClr val="bg2"/>
                          </a:solidFill>
                        </a:rPr>
                        <a:t>Enter to next prompt</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dirty="0">
                          <a:solidFill>
                            <a:schemeClr val="bg2"/>
                          </a:solidFill>
                        </a:rPr>
                        <a:t>Delay after Enter</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dirty="0">
                          <a:solidFill>
                            <a:schemeClr val="bg2"/>
                          </a:solidFill>
                        </a:rPr>
                        <a:t>10 ms or less</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2000" dirty="0">
                          <a:solidFill>
                            <a:schemeClr val="bg2"/>
                          </a:solidFill>
                        </a:rPr>
                        <a:t>Typing delay</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dirty="0">
                          <a:solidFill>
                            <a:schemeClr val="bg2"/>
                          </a:solidFill>
                        </a:rPr>
                        <a:t>Key press to screen</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dirty="0">
                          <a:solidFill>
                            <a:schemeClr val="bg2"/>
                          </a:solidFill>
                        </a:rPr>
                        <a:t>20 ms or less</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2000" dirty="0">
                          <a:solidFill>
                            <a:schemeClr val="bg2"/>
                          </a:solidFill>
                        </a:rPr>
                        <a:t>Memory per shell</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dirty="0">
                          <a:solidFill>
                            <a:schemeClr val="bg2"/>
                          </a:solidFill>
                          <a:latin typeface="Courier New" pitchFamily="34" charset="0"/>
                          <a:ea typeface="Courier New" pitchFamily="34" charset="-122"/>
                          <a:cs typeface="Courier New" pitchFamily="34" charset="-120"/>
                        </a:rPr>
                        <a:t>ps -o rss= -p $$</a:t>
                      </a:r>
                      <a:endParaRPr lang="en-US" sz="2000" dirty="0">
                        <a:latin typeface="Courier New" charset="0"/>
                        <a:ea typeface="Courier New" charset="0"/>
                        <a:cs typeface="Courier New" charset="0"/>
                      </a:endParaRPr>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dirty="0">
                          <a:solidFill>
                            <a:schemeClr val="bg2"/>
                          </a:solidFill>
                        </a:rPr>
                        <a:t>check it yourself</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Measure it on your machine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users / measurements</a:t>
            </a:r>
            <a:endParaRPr lang="en-US" sz="1200" dirty="0"/>
          </a:p>
        </p:txBody>
      </p:sp>
      <p:sp>
        <p:nvSpPr>
          <p:cNvPr id="5" name="Shape 2"/>
          <p:cNvSpPr/>
          <p:nvPr/>
        </p:nvSpPr>
        <p:spPr>
          <a:xfrm>
            <a:off x="822960" y="1737360"/>
            <a:ext cx="10515600" cy="1600200"/>
          </a:xfrm>
          <a:prstGeom prst="roundRect">
            <a:avLst>
              <a:gd name="adj" fmla="val 6857"/>
            </a:avLst>
          </a:prstGeom>
          <a:solidFill>
            <a:schemeClr val="accent4"/>
          </a:solidFill>
          <a:ln w="12700">
            <a:solidFill>
              <a:srgbClr val="2C3844"/>
            </a:solidFill>
            <a:prstDash val="solid"/>
          </a:ln>
        </p:spPr>
      </p:sp>
      <p:sp>
        <p:nvSpPr>
          <p:cNvPr id="6" name="Text 3"/>
          <p:cNvSpPr txBox="1"/>
          <p:nvPr/>
        </p:nvSpPr>
        <p:spPr>
          <a:xfrm>
            <a:off x="1143000" y="1938528"/>
            <a:ext cx="9875520" cy="1197864"/>
          </a:xfrm>
          <a:prstGeom prst="rect">
            <a:avLst/>
          </a:prstGeom>
          <a:noFill/>
          <a:ln/>
        </p:spPr>
        <p:txBody>
          <a:bodyPr wrap="square" lIns="0" tIns="0" rIns="0" bIns="0" rtlCol="0" anchor="t"/>
          <a:lstStyle/>
          <a:p>
            <a:pPr indent="0" marL="0">
              <a:spcAft>
                <a:spcPts val="300"/>
              </a:spcAft>
              <a:buNone/>
            </a:pPr>
            <a:r>
              <a:rPr lang="en-US" sz="2400" dirty="0">
                <a:solidFill>
                  <a:schemeClr val="accent1"/>
                </a:solidFill>
                <a:latin typeface="Courier New" pitchFamily="34" charset="0"/>
                <a:ea typeface="Courier New" pitchFamily="34" charset="-122"/>
                <a:cs typeface="Courier New" pitchFamily="34" charset="-120"/>
              </a:rPr>
              <a:t>zsh-bench</a:t>
            </a:r>
            <a:endParaRPr lang="en-US" sz="2400" dirty="0"/>
          </a:p>
          <a:p>
            <a:pPr indent="0" marL="0">
              <a:spcAft>
                <a:spcPts val="300"/>
              </a:spcAft>
              <a:buNone/>
            </a:pPr>
            <a:r>
              <a:rPr lang="en-US" sz="2400" dirty="0">
                <a:solidFill>
                  <a:schemeClr val="accent1"/>
                </a:solidFill>
                <a:latin typeface="Courier New" pitchFamily="34" charset="0"/>
                <a:ea typeface="Courier New" pitchFamily="34" charset="-122"/>
                <a:cs typeface="Courier New" pitchFamily="34" charset="-120"/>
              </a:rPr>
              <a:t>ps -o rss= -p $$</a:t>
            </a:r>
            <a:endParaRPr lang="en-US" sz="2400" dirty="0"/>
          </a:p>
        </p:txBody>
      </p:sp>
      <p:sp>
        <p:nvSpPr>
          <p:cNvPr id="7" name="Text 4"/>
          <p:cNvSpPr txBox="1"/>
          <p:nvPr/>
        </p:nvSpPr>
        <p:spPr>
          <a:xfrm>
            <a:off x="822960" y="3749040"/>
            <a:ext cx="10515600" cy="182880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accent4"/>
                </a:solidFill>
              </a:rPr>
              <a:t>Run the same commands in your current shell and in zshrs</a:t>
            </a:r>
            <a:endParaRPr lang="en-US" sz="2400" dirty="0"/>
          </a:p>
          <a:p>
            <a:pPr marL="342900" indent="-342900">
              <a:spcAft>
                <a:spcPts val="1000"/>
              </a:spcAft>
              <a:buSzPct val="100000"/>
              <a:buChar char="•"/>
            </a:pPr>
            <a:r>
              <a:rPr lang="en-US" sz="2400" dirty="0">
                <a:solidFill>
                  <a:schemeClr val="accent4"/>
                </a:solidFill>
              </a:rPr>
              <a:t>Report numbers in an issue if they miss the targets</a:t>
            </a:r>
            <a:endParaRPr lang="en-US" sz="24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Your config keeps working</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users / compatibility</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1737360"/>
          <a:ext cx="10515600" cy="914400"/>
        </p:xfrm>
        <a:graphic>
          <a:graphicData uri="http://schemas.openxmlformats.org/drawingml/2006/table">
            <a:tbl>
              <a:tblPr/>
              <a:tblGrid>
                <a:gridCol w="4754880"/>
                <a:gridCol w="5760720"/>
              </a:tblGrid>
              <a:tr h="566928">
                <a:tc>
                  <a:txBody>
                    <a:bodyPr/>
                    <a:lstStyle/>
                    <a:p>
                      <a:pPr indent="0" marL="0">
                        <a:buNone/>
                      </a:pPr>
                      <a:r>
                        <a:rPr lang="en-US" sz="2000" b="1" dirty="0">
                          <a:solidFill>
                            <a:schemeClr val="accent1"/>
                          </a:solidFill>
                        </a:rPr>
                        <a:t>You have</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b="1" dirty="0">
                          <a:solidFill>
                            <a:schemeClr val="accent1"/>
                          </a:solidFill>
                        </a:rPr>
                        <a:t>What happens</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2000" dirty="0">
                          <a:solidFill>
                            <a:schemeClr val="bg2"/>
                          </a:solidFill>
                        </a:rPr>
                        <a:t>.zshrc</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dirty="0">
                          <a:solidFill>
                            <a:schemeClr val="bg2"/>
                          </a:solidFill>
                        </a:rPr>
                        <a:t>Loads as it is</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2000" dirty="0">
                          <a:solidFill>
                            <a:schemeClr val="bg2"/>
                          </a:solidFill>
                        </a:rPr>
                        <a:t>.p10k.zsh</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dirty="0">
                          <a:solidFill>
                            <a:schemeClr val="bg2"/>
                          </a:solidFill>
                        </a:rPr>
                        <a:t>Sourced unchanged by the native prompt engine</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2000" dirty="0">
                          <a:solidFill>
                            <a:schemeClr val="bg2"/>
                          </a:solidFill>
                        </a:rPr>
                        <a:t>ZSH_HIGHLIGHT_STYLES, ZSH_AUTOSUGGEST_*</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dirty="0">
                          <a:solidFill>
                            <a:schemeClr val="bg2"/>
                          </a:solidFill>
                        </a:rPr>
                        <a:t>Honoured by the native engines</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2000" dirty="0">
                          <a:solidFill>
                            <a:schemeClr val="bg2"/>
                          </a:solidFill>
                        </a:rPr>
                        <a:t>Plugin managers</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000" dirty="0">
                          <a:solidFill>
                            <a:schemeClr val="bg2"/>
                          </a:solidFill>
                        </a:rPr>
                        <a:t>zinit, oh-my-zsh, prezto, antidote, antigen, zplug</a:t>
                      </a:r>
                      <a:endParaRPr lang="en-US" sz="20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Completions, man pages and info are bundled</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users / bundled</a:t>
            </a:r>
            <a:endParaRPr lang="en-US" sz="1200" dirty="0"/>
          </a:p>
        </p:txBody>
      </p:sp>
      <p:sp>
        <p:nvSpPr>
          <p:cNvPr id="5" name="Shape 2"/>
          <p:cNvSpPr/>
          <p:nvPr/>
        </p:nvSpPr>
        <p:spPr>
          <a:xfrm>
            <a:off x="822960" y="1737360"/>
            <a:ext cx="5120640" cy="3840480"/>
          </a:xfrm>
          <a:prstGeom prst="roundRect">
            <a:avLst>
              <a:gd name="adj" fmla="val 2857"/>
            </a:avLst>
          </a:prstGeom>
          <a:solidFill>
            <a:srgbClr val="FFFFFF"/>
          </a:solidFill>
          <a:ln w="12700">
            <a:solidFill>
              <a:srgbClr val="D9D5C8"/>
            </a:solidFill>
            <a:prstDash val="solid"/>
          </a:ln>
        </p:spPr>
      </p:sp>
      <p:sp>
        <p:nvSpPr>
          <p:cNvPr id="6" name="Text 3"/>
          <p:cNvSpPr txBox="1"/>
          <p:nvPr/>
        </p:nvSpPr>
        <p:spPr>
          <a:xfrm>
            <a:off x="1097280" y="1965960"/>
            <a:ext cx="457200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Completions</a:t>
            </a:r>
            <a:endParaRPr lang="en-US" sz="2200" dirty="0"/>
          </a:p>
        </p:txBody>
      </p:sp>
      <p:sp>
        <p:nvSpPr>
          <p:cNvPr id="7" name="Text 4"/>
          <p:cNvSpPr txBox="1"/>
          <p:nvPr/>
        </p:nvSpPr>
        <p:spPr>
          <a:xfrm>
            <a:off x="1097280" y="2560320"/>
            <a:ext cx="4572000" cy="283464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accent4"/>
                </a:solidFill>
              </a:rPr>
              <a:t>Written to ~/.zshrs/functions on first run</a:t>
            </a:r>
            <a:endParaRPr lang="en-US" sz="2200" dirty="0"/>
          </a:p>
          <a:p>
            <a:pPr marL="342900" indent="-342900">
              <a:spcAft>
                <a:spcPts val="1000"/>
              </a:spcAft>
              <a:buSzPct val="100000"/>
              <a:buChar char="•"/>
            </a:pPr>
            <a:r>
              <a:rPr lang="en-US" sz="2200" dirty="0">
                <a:solidFill>
                  <a:schemeClr val="accent4"/>
                </a:solidFill>
              </a:rPr>
              <a:t>Your fpath entries still take priority</a:t>
            </a:r>
            <a:endParaRPr lang="en-US" sz="2200" dirty="0"/>
          </a:p>
          <a:p>
            <a:pPr marL="342900" indent="-342900">
              <a:spcAft>
                <a:spcPts val="1000"/>
              </a:spcAft>
              <a:buSzPct val="100000"/>
              <a:buChar char="•"/>
            </a:pPr>
            <a:r>
              <a:rPr lang="en-US" sz="2200" dirty="0">
                <a:solidFill>
                  <a:schemeClr val="accent4"/>
                </a:solidFill>
              </a:rPr>
              <a:t>Independent of the host zsh install</a:t>
            </a:r>
            <a:endParaRPr lang="en-US" sz="2200" dirty="0"/>
          </a:p>
        </p:txBody>
      </p:sp>
      <p:sp>
        <p:nvSpPr>
          <p:cNvPr id="8" name="Shape 5"/>
          <p:cNvSpPr/>
          <p:nvPr/>
        </p:nvSpPr>
        <p:spPr>
          <a:xfrm>
            <a:off x="6217920" y="1737360"/>
            <a:ext cx="5120640" cy="3840480"/>
          </a:xfrm>
          <a:prstGeom prst="roundRect">
            <a:avLst>
              <a:gd name="adj" fmla="val 2857"/>
            </a:avLst>
          </a:prstGeom>
          <a:solidFill>
            <a:srgbClr val="FFFFFF"/>
          </a:solidFill>
          <a:ln w="12700">
            <a:solidFill>
              <a:srgbClr val="D9D5C8"/>
            </a:solidFill>
            <a:prstDash val="solid"/>
          </a:ln>
        </p:spPr>
      </p:sp>
      <p:sp>
        <p:nvSpPr>
          <p:cNvPr id="9" name="Text 6"/>
          <p:cNvSpPr txBox="1"/>
          <p:nvPr/>
        </p:nvSpPr>
        <p:spPr>
          <a:xfrm>
            <a:off x="6492240" y="1965960"/>
            <a:ext cx="457200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Manuals</a:t>
            </a:r>
            <a:endParaRPr lang="en-US" sz="2200" dirty="0"/>
          </a:p>
        </p:txBody>
      </p:sp>
      <p:sp>
        <p:nvSpPr>
          <p:cNvPr id="10" name="Text 7"/>
          <p:cNvSpPr txBox="1"/>
          <p:nvPr/>
        </p:nvSpPr>
        <p:spPr>
          <a:xfrm>
            <a:off x="6492240" y="2560320"/>
            <a:ext cx="4572000" cy="283464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accent4"/>
                </a:solidFill>
              </a:rPr>
              <a:t>man zshall and info zsh work with no zsh installed</a:t>
            </a:r>
            <a:endParaRPr lang="en-US" sz="2200" dirty="0"/>
          </a:p>
          <a:p>
            <a:pPr marL="342900" indent="-342900">
              <a:spcAft>
                <a:spcPts val="1000"/>
              </a:spcAft>
              <a:buSzPct val="100000"/>
              <a:buChar char="•"/>
            </a:pPr>
            <a:r>
              <a:rPr lang="en-US" sz="2200" dirty="0">
                <a:solidFill>
                  <a:schemeClr val="accent4"/>
                </a:solidFill>
              </a:rPr>
              <a:t>Materialised to ~/.zshrs/man and ~/.zshrs/info</a:t>
            </a:r>
            <a:endParaRPr lang="en-US" sz="2200" dirty="0"/>
          </a:p>
          <a:p>
            <a:pPr marL="342900" indent="-342900">
              <a:spcAft>
                <a:spcPts val="1000"/>
              </a:spcAft>
              <a:buSzPct val="100000"/>
              <a:buChar char="•"/>
            </a:pPr>
            <a:r>
              <a:rPr lang="en-US" sz="2200" dirty="0">
                <a:solidFill>
                  <a:schemeClr val="accent4"/>
                </a:solidFill>
              </a:rPr>
              <a:t>Prepended to MANPATH and INFOPATH</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Line editor features, built in</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users / line editor</a:t>
            </a:r>
            <a:endParaRPr lang="en-US" sz="1200" dirty="0"/>
          </a:p>
        </p:txBody>
      </p:sp>
      <p:sp>
        <p:nvSpPr>
          <p:cNvPr id="5" name="Shape 2"/>
          <p:cNvSpPr/>
          <p:nvPr/>
        </p:nvSpPr>
        <p:spPr>
          <a:xfrm>
            <a:off x="822960" y="1737360"/>
            <a:ext cx="2514600" cy="3840480"/>
          </a:xfrm>
          <a:prstGeom prst="roundRect">
            <a:avLst>
              <a:gd name="adj" fmla="val 4364"/>
            </a:avLst>
          </a:prstGeom>
          <a:solidFill>
            <a:schemeClr val="tx2"/>
          </a:solidFill>
          <a:ln w="12700">
            <a:solidFill>
              <a:srgbClr val="2C3844"/>
            </a:solidFill>
            <a:prstDash val="solid"/>
          </a:ln>
        </p:spPr>
      </p:sp>
      <p:sp>
        <p:nvSpPr>
          <p:cNvPr id="6" name="Text 3"/>
          <p:cNvSpPr txBox="1"/>
          <p:nvPr/>
        </p:nvSpPr>
        <p:spPr>
          <a:xfrm>
            <a:off x="1097280" y="1965960"/>
            <a:ext cx="1965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Highlighting</a:t>
            </a:r>
            <a:endParaRPr lang="en-US" sz="2200" dirty="0"/>
          </a:p>
        </p:txBody>
      </p:sp>
      <p:sp>
        <p:nvSpPr>
          <p:cNvPr id="7" name="Text 4"/>
          <p:cNvSpPr txBox="1"/>
          <p:nvPr/>
        </p:nvSpPr>
        <p:spPr>
          <a:xfrm>
            <a:off x="1097280" y="2560320"/>
            <a:ext cx="1965960" cy="2834640"/>
          </a:xfrm>
          <a:prstGeom prst="rect">
            <a:avLst/>
          </a:prstGeom>
          <a:noFill/>
          <a:ln/>
        </p:spPr>
        <p:txBody>
          <a:bodyPr wrap="square" lIns="0" tIns="0" rIns="0" bIns="0" rtlCol="0" anchor="t"/>
          <a:lstStyle/>
          <a:p>
            <a:pPr indent="0" marL="0">
              <a:buNone/>
            </a:pPr>
            <a:r>
              <a:rPr lang="en-US" sz="1700" dirty="0">
                <a:solidFill>
                  <a:schemeClr val="accent5"/>
                </a:solidFill>
              </a:rPr>
              <a:t>Command validity, paths, quotes, brackets by nesting level</a:t>
            </a:r>
            <a:endParaRPr lang="en-US" sz="1700" dirty="0"/>
          </a:p>
        </p:txBody>
      </p:sp>
      <p:sp>
        <p:nvSpPr>
          <p:cNvPr id="8" name="Shape 5"/>
          <p:cNvSpPr/>
          <p:nvPr/>
        </p:nvSpPr>
        <p:spPr>
          <a:xfrm>
            <a:off x="3520440" y="1737360"/>
            <a:ext cx="2514600" cy="3840480"/>
          </a:xfrm>
          <a:prstGeom prst="roundRect">
            <a:avLst>
              <a:gd name="adj" fmla="val 4364"/>
            </a:avLst>
          </a:prstGeom>
          <a:solidFill>
            <a:schemeClr val="tx2"/>
          </a:solidFill>
          <a:ln w="12700">
            <a:solidFill>
              <a:srgbClr val="2C3844"/>
            </a:solidFill>
            <a:prstDash val="solid"/>
          </a:ln>
        </p:spPr>
      </p:sp>
      <p:sp>
        <p:nvSpPr>
          <p:cNvPr id="9" name="Text 6"/>
          <p:cNvSpPr txBox="1"/>
          <p:nvPr/>
        </p:nvSpPr>
        <p:spPr>
          <a:xfrm>
            <a:off x="3794760" y="1965960"/>
            <a:ext cx="1965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Suggestions</a:t>
            </a:r>
            <a:endParaRPr lang="en-US" sz="2200" dirty="0"/>
          </a:p>
        </p:txBody>
      </p:sp>
      <p:sp>
        <p:nvSpPr>
          <p:cNvPr id="10" name="Text 7"/>
          <p:cNvSpPr txBox="1"/>
          <p:nvPr/>
        </p:nvSpPr>
        <p:spPr>
          <a:xfrm>
            <a:off x="3794760" y="2560320"/>
            <a:ext cx="1965960" cy="2834640"/>
          </a:xfrm>
          <a:prstGeom prst="rect">
            <a:avLst/>
          </a:prstGeom>
          <a:noFill/>
          <a:ln/>
        </p:spPr>
        <p:txBody>
          <a:bodyPr wrap="square" lIns="0" tIns="0" rIns="0" bIns="0" rtlCol="0" anchor="t"/>
          <a:lstStyle/>
          <a:p>
            <a:pPr indent="0" marL="0">
              <a:buNone/>
            </a:pPr>
            <a:r>
              <a:rPr lang="en-US" sz="1700" dirty="0">
                <a:solidFill>
                  <a:schemeClr val="accent5"/>
                </a:solidFill>
              </a:rPr>
              <a:t>Ghost text from history; right arrow or End accepts</a:t>
            </a:r>
            <a:endParaRPr lang="en-US" sz="1700" dirty="0"/>
          </a:p>
        </p:txBody>
      </p:sp>
      <p:sp>
        <p:nvSpPr>
          <p:cNvPr id="11" name="Shape 8"/>
          <p:cNvSpPr/>
          <p:nvPr/>
        </p:nvSpPr>
        <p:spPr>
          <a:xfrm>
            <a:off x="6217920" y="1737360"/>
            <a:ext cx="2514600" cy="3840480"/>
          </a:xfrm>
          <a:prstGeom prst="roundRect">
            <a:avLst>
              <a:gd name="adj" fmla="val 4364"/>
            </a:avLst>
          </a:prstGeom>
          <a:solidFill>
            <a:schemeClr val="tx2"/>
          </a:solidFill>
          <a:ln w="12700">
            <a:solidFill>
              <a:srgbClr val="2C3844"/>
            </a:solidFill>
            <a:prstDash val="solid"/>
          </a:ln>
        </p:spPr>
      </p:sp>
      <p:sp>
        <p:nvSpPr>
          <p:cNvPr id="12" name="Text 9"/>
          <p:cNvSpPr txBox="1"/>
          <p:nvPr/>
        </p:nvSpPr>
        <p:spPr>
          <a:xfrm>
            <a:off x="6492240" y="1965960"/>
            <a:ext cx="1965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History search</a:t>
            </a:r>
            <a:endParaRPr lang="en-US" sz="2200" dirty="0"/>
          </a:p>
        </p:txBody>
      </p:sp>
      <p:sp>
        <p:nvSpPr>
          <p:cNvPr id="13" name="Text 10"/>
          <p:cNvSpPr txBox="1"/>
          <p:nvPr/>
        </p:nvSpPr>
        <p:spPr>
          <a:xfrm>
            <a:off x="6492240" y="2560320"/>
            <a:ext cx="1965960" cy="2834640"/>
          </a:xfrm>
          <a:prstGeom prst="rect">
            <a:avLst/>
          </a:prstGeom>
          <a:noFill/>
          <a:ln/>
        </p:spPr>
        <p:txBody>
          <a:bodyPr wrap="square" lIns="0" tIns="0" rIns="0" bIns="0" rtlCol="0" anchor="t"/>
          <a:lstStyle/>
          <a:p>
            <a:pPr indent="0" marL="0">
              <a:buNone/>
            </a:pPr>
            <a:r>
              <a:rPr lang="en-US" sz="1700" dirty="0">
                <a:solidFill>
                  <a:schemeClr val="accent5"/>
                </a:solidFill>
              </a:rPr>
              <a:t>Prefix and substring, up arrow</a:t>
            </a:r>
            <a:endParaRPr lang="en-US" sz="1700" dirty="0"/>
          </a:p>
        </p:txBody>
      </p:sp>
      <p:sp>
        <p:nvSpPr>
          <p:cNvPr id="14" name="Shape 11"/>
          <p:cNvSpPr/>
          <p:nvPr/>
        </p:nvSpPr>
        <p:spPr>
          <a:xfrm>
            <a:off x="8915400" y="1737360"/>
            <a:ext cx="2514600" cy="3840480"/>
          </a:xfrm>
          <a:prstGeom prst="roundRect">
            <a:avLst>
              <a:gd name="adj" fmla="val 4364"/>
            </a:avLst>
          </a:prstGeom>
          <a:solidFill>
            <a:schemeClr val="tx2"/>
          </a:solidFill>
          <a:ln w="12700">
            <a:solidFill>
              <a:srgbClr val="2C3844"/>
            </a:solidFill>
            <a:prstDash val="solid"/>
          </a:ln>
        </p:spPr>
      </p:sp>
      <p:sp>
        <p:nvSpPr>
          <p:cNvPr id="15" name="Text 12"/>
          <p:cNvSpPr txBox="1"/>
          <p:nvPr/>
        </p:nvSpPr>
        <p:spPr>
          <a:xfrm>
            <a:off x="9189720" y="1965960"/>
            <a:ext cx="1965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Autopair</a:t>
            </a:r>
            <a:endParaRPr lang="en-US" sz="2200" dirty="0"/>
          </a:p>
        </p:txBody>
      </p:sp>
      <p:sp>
        <p:nvSpPr>
          <p:cNvPr id="16" name="Text 13"/>
          <p:cNvSpPr txBox="1"/>
          <p:nvPr/>
        </p:nvSpPr>
        <p:spPr>
          <a:xfrm>
            <a:off x="9189720" y="2560320"/>
            <a:ext cx="1965960" cy="2834640"/>
          </a:xfrm>
          <a:prstGeom prst="rect">
            <a:avLst/>
          </a:prstGeom>
          <a:noFill/>
          <a:ln/>
        </p:spPr>
        <p:txBody>
          <a:bodyPr wrap="square" lIns="0" tIns="0" rIns="0" bIns="0" rtlCol="0" anchor="t"/>
          <a:lstStyle/>
          <a:p>
            <a:pPr indent="0" marL="0">
              <a:buNone/>
            </a:pPr>
            <a:r>
              <a:rPr lang="en-US" sz="1700" dirty="0">
                <a:solidFill>
                  <a:schemeClr val="accent5"/>
                </a:solidFill>
              </a:rPr>
              <a:t>Brackets and quotes</a:t>
            </a:r>
            <a:endParaRPr lang="en-US" sz="17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Turning engines off</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users / line editor</a:t>
            </a:r>
            <a:endParaRPr lang="en-US" sz="1200" dirty="0"/>
          </a:p>
        </p:txBody>
      </p:sp>
      <p:sp>
        <p:nvSpPr>
          <p:cNvPr id="5" name="Shape 2"/>
          <p:cNvSpPr/>
          <p:nvPr/>
        </p:nvSpPr>
        <p:spPr>
          <a:xfrm>
            <a:off x="822960" y="1737360"/>
            <a:ext cx="4480560" cy="3429000"/>
          </a:xfrm>
          <a:prstGeom prst="roundRect">
            <a:avLst>
              <a:gd name="adj" fmla="val 3200"/>
            </a:avLst>
          </a:prstGeom>
          <a:solidFill>
            <a:schemeClr val="accent4"/>
          </a:solidFill>
          <a:ln w="12700">
            <a:solidFill>
              <a:srgbClr val="2C3844"/>
            </a:solidFill>
            <a:prstDash val="solid"/>
          </a:ln>
        </p:spPr>
      </p:sp>
      <p:sp>
        <p:nvSpPr>
          <p:cNvPr id="6" name="Text 3"/>
          <p:cNvSpPr txBox="1"/>
          <p:nvPr/>
        </p:nvSpPr>
        <p:spPr>
          <a:xfrm>
            <a:off x="1143000" y="1938528"/>
            <a:ext cx="3840480" cy="3026664"/>
          </a:xfrm>
          <a:prstGeom prst="rect">
            <a:avLst/>
          </a:prstGeom>
          <a:noFill/>
          <a:ln/>
        </p:spPr>
        <p:txBody>
          <a:bodyPr wrap="square" lIns="0" tIns="0" rIns="0" bIns="0" rtlCol="0" anchor="t"/>
          <a:lstStyle/>
          <a:p>
            <a:pPr indent="0" marL="0">
              <a:spcAft>
                <a:spcPts val="300"/>
              </a:spcAft>
              <a:buNone/>
            </a:pPr>
            <a:r>
              <a:rPr lang="en-US" sz="2000" dirty="0">
                <a:solidFill>
                  <a:schemeClr val="accent5"/>
                </a:solidFill>
                <a:latin typeface="Courier New" pitchFamily="34" charset="0"/>
                <a:ea typeface="Courier New" pitchFamily="34" charset="-122"/>
                <a:cs typeface="Courier New" pitchFamily="34" charset="-120"/>
              </a:rPr>
              <a:t># ~/.zshrs/zshrs.toml</a:t>
            </a:r>
            <a:endParaRPr lang="en-US" sz="2000" dirty="0"/>
          </a:p>
          <a:p>
            <a:pPr indent="0" marL="0">
              <a:spcAft>
                <a:spcPts val="300"/>
              </a:spcAft>
              <a:buNone/>
            </a:pPr>
            <a:r>
              <a:rPr lang="en-US" sz="2000" dirty="0">
                <a:solidFill>
                  <a:schemeClr val="accent3"/>
                </a:solidFill>
                <a:latin typeface="Courier New" pitchFamily="34" charset="0"/>
                <a:ea typeface="Courier New" pitchFamily="34" charset="-122"/>
                <a:cs typeface="Courier New" pitchFamily="34" charset="-120"/>
              </a:rPr>
              <a:t>[zle]</a:t>
            </a:r>
            <a:endParaRPr lang="en-US" sz="2000" dirty="0"/>
          </a:p>
          <a:p>
            <a:pPr indent="0" marL="0">
              <a:spcAft>
                <a:spcPts val="300"/>
              </a:spcAft>
              <a:buNone/>
            </a:pPr>
            <a:r>
              <a:rPr lang="en-US" sz="2000" dirty="0">
                <a:solidFill>
                  <a:schemeClr val="accent1"/>
                </a:solidFill>
                <a:latin typeface="Courier New" pitchFamily="34" charset="0"/>
                <a:ea typeface="Courier New" pitchFamily="34" charset="-122"/>
                <a:cs typeface="Courier New" pitchFamily="34" charset="-120"/>
              </a:rPr>
              <a:t>autosuggest = false</a:t>
            </a:r>
            <a:endParaRPr lang="en-US" sz="2000" dirty="0"/>
          </a:p>
          <a:p>
            <a:pPr indent="0" marL="0">
              <a:spcAft>
                <a:spcPts val="300"/>
              </a:spcAft>
              <a:buNone/>
            </a:pPr>
            <a:r>
              <a:rPr lang="en-US" sz="2000" dirty="0">
                <a:solidFill>
                  <a:schemeClr val="accent1"/>
                </a:solidFill>
                <a:latin typeface="Courier New" pitchFamily="34" charset="0"/>
                <a:ea typeface="Courier New" pitchFamily="34" charset="-122"/>
                <a:cs typeface="Courier New" pitchFamily="34" charset="-120"/>
              </a:rPr>
              <a:t>syntax_highlight = true</a:t>
            </a:r>
            <a:endParaRPr lang="en-US" sz="2000" dirty="0"/>
          </a:p>
          <a:p>
            <a:pPr indent="0" marL="0">
              <a:spcAft>
                <a:spcPts val="300"/>
              </a:spcAft>
              <a:buNone/>
            </a:pPr>
            <a:r>
              <a:rPr lang="en-US" sz="2000" dirty="0">
                <a:solidFill>
                  <a:schemeClr val="accent1"/>
                </a:solidFill>
                <a:latin typeface="Courier New" pitchFamily="34" charset="0"/>
                <a:ea typeface="Courier New" pitchFamily="34" charset="-122"/>
                <a:cs typeface="Courier New" pitchFamily="34" charset="-120"/>
              </a:rPr>
              <a:t>history_search = true</a:t>
            </a:r>
            <a:endParaRPr lang="en-US" sz="2000" dirty="0"/>
          </a:p>
          <a:p>
            <a:pPr indent="0" marL="0">
              <a:spcAft>
                <a:spcPts val="300"/>
              </a:spcAft>
              <a:buNone/>
            </a:pPr>
            <a:r>
              <a:rPr lang="en-US" sz="2000" dirty="0">
                <a:solidFill>
                  <a:schemeClr val="accent1"/>
                </a:solidFill>
                <a:latin typeface="Courier New" pitchFamily="34" charset="0"/>
                <a:ea typeface="Courier New" pitchFamily="34" charset="-122"/>
                <a:cs typeface="Courier New" pitchFamily="34" charset="-120"/>
              </a:rPr>
              <a:t>autopair = true</a:t>
            </a:r>
            <a:endParaRPr lang="en-US" sz="2000" dirty="0"/>
          </a:p>
        </p:txBody>
      </p:sp>
      <p:sp>
        <p:nvSpPr>
          <p:cNvPr id="7" name="Shape 4"/>
          <p:cNvSpPr/>
          <p:nvPr/>
        </p:nvSpPr>
        <p:spPr>
          <a:xfrm>
            <a:off x="5577840" y="1737360"/>
            <a:ext cx="5760720" cy="3931920"/>
          </a:xfrm>
          <a:prstGeom prst="roundRect">
            <a:avLst>
              <a:gd name="adj" fmla="val 2791"/>
            </a:avLst>
          </a:prstGeom>
          <a:solidFill>
            <a:srgbClr val="FFFFFF"/>
          </a:solidFill>
          <a:ln w="12700">
            <a:solidFill>
              <a:srgbClr val="D9D5C8"/>
            </a:solidFill>
            <a:prstDash val="solid"/>
          </a:ln>
        </p:spPr>
      </p:sp>
      <p:sp>
        <p:nvSpPr>
          <p:cNvPr id="8" name="Text 5"/>
          <p:cNvSpPr txBox="1"/>
          <p:nvPr/>
        </p:nvSpPr>
        <p:spPr>
          <a:xfrm>
            <a:off x="5852160" y="1965960"/>
            <a:ext cx="521208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Other switches</a:t>
            </a:r>
            <a:endParaRPr lang="en-US" sz="2200" dirty="0"/>
          </a:p>
        </p:txBody>
      </p:sp>
      <p:sp>
        <p:nvSpPr>
          <p:cNvPr id="9" name="Text 6"/>
          <p:cNvSpPr txBox="1"/>
          <p:nvPr/>
        </p:nvSpPr>
        <p:spPr>
          <a:xfrm>
            <a:off x="5852160" y="2560320"/>
            <a:ext cx="5212080" cy="292608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accent4"/>
                </a:solidFill>
              </a:rPr>
              <a:t>ZSHRS_NATIVE_ZLE_FX=0 disables all</a:t>
            </a:r>
            <a:endParaRPr lang="en-US" sz="2200" dirty="0"/>
          </a:p>
          <a:p>
            <a:pPr marL="342900" indent="-342900">
              <a:spcAft>
                <a:spcPts val="1000"/>
              </a:spcAft>
              <a:buSzPct val="100000"/>
              <a:buChar char="•"/>
            </a:pPr>
            <a:r>
              <a:rPr lang="en-US" sz="2200" dirty="0">
                <a:solidFill>
                  <a:schemeClr val="accent4"/>
                </a:solidFill>
              </a:rPr>
              <a:t>ZSHRS_ZLE_HIGHLIGHT_BUDGET_MS</a:t>
            </a:r>
            <a:endParaRPr lang="en-US" sz="2200" dirty="0"/>
          </a:p>
          <a:p>
            <a:pPr marL="342900" indent="-342900">
              <a:spcAft>
                <a:spcPts val="1000"/>
              </a:spcAft>
              <a:buSzPct val="100000"/>
              <a:buChar char="•"/>
            </a:pPr>
            <a:r>
              <a:rPr lang="en-US" sz="2200" dirty="0">
                <a:solidFill>
                  <a:schemeClr val="accent4"/>
                </a:solidFill>
              </a:rPr>
              <a:t>ZSHRS_ZLE_AUTOSUGGEST_BUDGET_MS</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Prompt</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users / prompt</a:t>
            </a:r>
            <a:endParaRPr lang="en-US" sz="1200" dirty="0"/>
          </a:p>
        </p:txBody>
      </p:sp>
      <p:sp>
        <p:nvSpPr>
          <p:cNvPr id="5" name="Shape 2"/>
          <p:cNvSpPr/>
          <p:nvPr/>
        </p:nvSpPr>
        <p:spPr>
          <a:xfrm>
            <a:off x="822960" y="1737360"/>
            <a:ext cx="5120640" cy="3840480"/>
          </a:xfrm>
          <a:prstGeom prst="roundRect">
            <a:avLst>
              <a:gd name="adj" fmla="val 2857"/>
            </a:avLst>
          </a:prstGeom>
          <a:solidFill>
            <a:schemeClr val="tx2"/>
          </a:solidFill>
          <a:ln w="12700">
            <a:solidFill>
              <a:srgbClr val="2C3844"/>
            </a:solidFill>
            <a:prstDash val="solid"/>
          </a:ln>
        </p:spPr>
      </p:sp>
      <p:sp>
        <p:nvSpPr>
          <p:cNvPr id="6" name="Text 3"/>
          <p:cNvSpPr txBox="1"/>
          <p:nvPr/>
        </p:nvSpPr>
        <p:spPr>
          <a:xfrm>
            <a:off x="1097280" y="1965960"/>
            <a:ext cx="45720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What changes</a:t>
            </a:r>
            <a:endParaRPr lang="en-US" sz="2200" dirty="0"/>
          </a:p>
        </p:txBody>
      </p:sp>
      <p:sp>
        <p:nvSpPr>
          <p:cNvPr id="7" name="Text 4"/>
          <p:cNvSpPr txBox="1"/>
          <p:nvPr/>
        </p:nvSpPr>
        <p:spPr>
          <a:xfrm>
            <a:off x="1097280" y="2560320"/>
            <a:ext cx="4572000" cy="283464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bg2"/>
                </a:solidFill>
              </a:rPr>
              <a:t>Renders from your .p10k.zsh</a:t>
            </a:r>
            <a:endParaRPr lang="en-US" sz="2200" dirty="0"/>
          </a:p>
          <a:p>
            <a:pPr marL="342900" indent="-342900">
              <a:spcAft>
                <a:spcPts val="1000"/>
              </a:spcAft>
              <a:buSzPct val="100000"/>
              <a:buChar char="•"/>
            </a:pPr>
            <a:r>
              <a:rPr lang="en-US" sz="2200" dirty="0">
                <a:solidFill>
                  <a:schemeClr val="bg2"/>
                </a:solidFill>
              </a:rPr>
              <a:t>Native .git reader, no gitstatusd</a:t>
            </a:r>
            <a:endParaRPr lang="en-US" sz="2200" dirty="0"/>
          </a:p>
          <a:p>
            <a:pPr marL="342900" indent="-342900">
              <a:spcAft>
                <a:spcPts val="1000"/>
              </a:spcAft>
              <a:buSzPct val="100000"/>
              <a:buChar char="•"/>
            </a:pPr>
            <a:r>
              <a:rPr lang="en-US" sz="2200" dirty="0">
                <a:solidFill>
                  <a:schemeClr val="bg2"/>
                </a:solidFill>
              </a:rPr>
              <a:t>No instant-prompt stage</a:t>
            </a:r>
            <a:endParaRPr lang="en-US" sz="2200" dirty="0"/>
          </a:p>
        </p:txBody>
      </p:sp>
      <p:sp>
        <p:nvSpPr>
          <p:cNvPr id="8" name="Shape 5"/>
          <p:cNvSpPr/>
          <p:nvPr/>
        </p:nvSpPr>
        <p:spPr>
          <a:xfrm>
            <a:off x="6217920" y="1737360"/>
            <a:ext cx="5120640" cy="3840480"/>
          </a:xfrm>
          <a:prstGeom prst="roundRect">
            <a:avLst>
              <a:gd name="adj" fmla="val 2857"/>
            </a:avLst>
          </a:prstGeom>
          <a:solidFill>
            <a:schemeClr val="tx2"/>
          </a:solidFill>
          <a:ln w="12700">
            <a:solidFill>
              <a:srgbClr val="2C3844"/>
            </a:solidFill>
            <a:prstDash val="solid"/>
          </a:ln>
        </p:spPr>
      </p:sp>
      <p:sp>
        <p:nvSpPr>
          <p:cNvPr id="9" name="Text 6"/>
          <p:cNvSpPr txBox="1"/>
          <p:nvPr/>
        </p:nvSpPr>
        <p:spPr>
          <a:xfrm>
            <a:off x="6492240" y="1965960"/>
            <a:ext cx="45720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What does not</a:t>
            </a:r>
            <a:endParaRPr lang="en-US" sz="2200" dirty="0"/>
          </a:p>
        </p:txBody>
      </p:sp>
      <p:sp>
        <p:nvSpPr>
          <p:cNvPr id="10" name="Text 7"/>
          <p:cNvSpPr txBox="1"/>
          <p:nvPr/>
        </p:nvSpPr>
        <p:spPr>
          <a:xfrm>
            <a:off x="6492240" y="2560320"/>
            <a:ext cx="4572000" cy="283464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bg2"/>
                </a:solidFill>
              </a:rPr>
              <a:t>Your theme config</a:t>
            </a:r>
            <a:endParaRPr lang="en-US" sz="2200" dirty="0"/>
          </a:p>
          <a:p>
            <a:pPr marL="342900" indent="-342900">
              <a:spcAft>
                <a:spcPts val="1000"/>
              </a:spcAft>
              <a:buSzPct val="100000"/>
              <a:buChar char="•"/>
            </a:pPr>
            <a:r>
              <a:rPr lang="en-US" sz="2200" dirty="0">
                <a:solidFill>
                  <a:schemeClr val="bg2"/>
                </a:solidFill>
              </a:rPr>
              <a:t>Your segment settings</a:t>
            </a:r>
            <a:endParaRPr lang="en-US" sz="2200" dirty="0"/>
          </a:p>
          <a:p>
            <a:pPr marL="342900" indent="-342900">
              <a:spcAft>
                <a:spcPts val="1000"/>
              </a:spcAft>
              <a:buSzPct val="100000"/>
              <a:buChar char="•"/>
            </a:pPr>
            <a:r>
              <a:rPr lang="en-US" sz="2200" dirty="0">
                <a:solidFill>
                  <a:schemeClr val="bg2"/>
                </a:solidFill>
              </a:rPr>
              <a:t>Your prompt look</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Parallel and background work</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users / parallel</a:t>
            </a:r>
            <a:endParaRPr lang="en-US" sz="1200" dirty="0"/>
          </a:p>
        </p:txBody>
      </p:sp>
      <p:sp>
        <p:nvSpPr>
          <p:cNvPr id="5" name="Shape 2"/>
          <p:cNvSpPr/>
          <p:nvPr/>
        </p:nvSpPr>
        <p:spPr>
          <a:xfrm>
            <a:off x="822960" y="1737360"/>
            <a:ext cx="10515600" cy="3154680"/>
          </a:xfrm>
          <a:prstGeom prst="roundRect">
            <a:avLst>
              <a:gd name="adj" fmla="val 3478"/>
            </a:avLst>
          </a:prstGeom>
          <a:solidFill>
            <a:schemeClr val="accent4"/>
          </a:solidFill>
          <a:ln w="12700">
            <a:solidFill>
              <a:srgbClr val="2C3844"/>
            </a:solidFill>
            <a:prstDash val="solid"/>
          </a:ln>
        </p:spPr>
      </p:sp>
      <p:sp>
        <p:nvSpPr>
          <p:cNvPr id="6" name="Text 3"/>
          <p:cNvSpPr txBox="1"/>
          <p:nvPr/>
        </p:nvSpPr>
        <p:spPr>
          <a:xfrm>
            <a:off x="1143000" y="1938528"/>
            <a:ext cx="9875520" cy="2752344"/>
          </a:xfrm>
          <a:prstGeom prst="rect">
            <a:avLst/>
          </a:prstGeom>
          <a:noFill/>
          <a:ln/>
        </p:spPr>
        <p:txBody>
          <a:bodyPr wrap="square" lIns="0" tIns="0" rIns="0" bIns="0" rtlCol="0" anchor="t"/>
          <a:lstStyle/>
          <a:p>
            <a:pPr indent="0" marL="0">
              <a:spcAft>
                <a:spcPts val="300"/>
              </a:spcAft>
              <a:buNone/>
            </a:pPr>
            <a:r>
              <a:rPr lang="en-US" sz="1800" dirty="0">
                <a:solidFill>
                  <a:schemeClr val="accent1"/>
                </a:solidFill>
                <a:latin typeface="Courier New" pitchFamily="34" charset="0"/>
                <a:ea typeface="Courier New" pitchFamily="34" charset="-122"/>
                <a:cs typeface="Courier New" pitchFamily="34" charset="-120"/>
              </a:rPr>
              <a:t>pmap 'gzip {}' *.log                        # ordered output</a:t>
            </a:r>
            <a:endParaRPr lang="en-US" sz="1800" dirty="0"/>
          </a:p>
          <a:p>
            <a:pPr indent="0" marL="0">
              <a:spcAft>
                <a:spcPts val="300"/>
              </a:spcAft>
              <a:buNone/>
            </a:pPr>
            <a:r>
              <a:rPr lang="en-US" sz="1800" dirty="0">
                <a:solidFill>
                  <a:schemeClr val="accent1"/>
                </a:solidFill>
                <a:latin typeface="Courier New" pitchFamily="34" charset="0"/>
                <a:ea typeface="Courier New" pitchFamily="34" charset="-122"/>
                <a:cs typeface="Courier New" pitchFamily="34" charset="-120"/>
              </a:rPr>
              <a:t>pgrep 'grep -q TODO {}' **/*.rs             # parallel filter</a:t>
            </a:r>
            <a:endParaRPr lang="en-US" sz="1800" dirty="0"/>
          </a:p>
          <a:p>
            <a:pPr indent="0" marL="0">
              <a:spcAft>
                <a:spcPts val="300"/>
              </a:spcAft>
              <a:buNone/>
            </a:pPr>
            <a:r>
              <a:rPr lang="en-US" sz="1800" dirty="0">
                <a:solidFill>
                  <a:schemeClr val="accent1"/>
                </a:solidFill>
                <a:latin typeface="Courier New" pitchFamily="34" charset="0"/>
                <a:ea typeface="Courier New" pitchFamily="34" charset="-122"/>
                <a:cs typeface="Courier New" pitchFamily="34" charset="-120"/>
              </a:rPr>
              <a:t>peach 'convert {} {}.png' *.svg             # unordered</a:t>
            </a:r>
            <a:endParaRPr lang="en-US" sz="1800" dirty="0"/>
          </a:p>
          <a:p>
            <a:pPr indent="0" marL="0">
              <a:spcAft>
                <a:spcPts val="300"/>
              </a:spcAft>
              <a:buNone/>
            </a:pPr>
            <a:r>
              <a:rPr lang="en-US" sz="1800" dirty="0">
                <a:solidFill>
                  <a:schemeClr val="accent1"/>
                </a:solidFill>
                <a:latin typeface="Courier New" pitchFamily="34" charset="0"/>
                <a:ea typeface="Courier New" pitchFamily="34" charset="-122"/>
                <a:cs typeface="Courier New" pitchFamily="34" charset="-120"/>
              </a:rPr>
              <a:t>barrier 'npm test' ::: 'cargo test' ::: 'pytest'</a:t>
            </a:r>
            <a:endParaRPr lang="en-US" sz="1800" dirty="0"/>
          </a:p>
          <a:p>
            <a:pPr indent="0" marL="0">
              <a:spcAft>
                <a:spcPts val="300"/>
              </a:spcAft>
              <a:buNone/>
            </a:pPr>
            <a:r>
              <a:rPr lang="en-US" sz="1800" dirty="0">
                <a:solidFill>
                  <a:schemeClr val="accent1"/>
                </a:solidFill>
                <a:latin typeface="Courier New" pitchFamily="34" charset="0"/>
                <a:ea typeface="Courier New" pitchFamily="34" charset="-122"/>
                <a:cs typeface="Courier New" pitchFamily="34" charset="-120"/>
              </a:rPr>
              <a:t>id=$(async 'sleep 5; curl https://example.com')</a:t>
            </a:r>
            <a:endParaRPr lang="en-US" sz="1800" dirty="0"/>
          </a:p>
          <a:p>
            <a:pPr indent="0" marL="0">
              <a:spcAft>
                <a:spcPts val="300"/>
              </a:spcAft>
              <a:buNone/>
            </a:pPr>
            <a:r>
              <a:rPr lang="en-US" sz="1800" dirty="0">
                <a:solidFill>
                  <a:schemeClr val="accent1"/>
                </a:solidFill>
                <a:latin typeface="Courier New" pitchFamily="34" charset="0"/>
                <a:ea typeface="Courier New" pitchFamily="34" charset="-122"/>
                <a:cs typeface="Courier New" pitchFamily="34" charset="-120"/>
              </a:rPr>
              <a:t>result=$(await $id)</a:t>
            </a:r>
            <a:endParaRPr lang="en-US" sz="1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Commands that never fork</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users / in-process</a:t>
            </a:r>
            <a:endParaRPr lang="en-US" sz="1200" dirty="0"/>
          </a:p>
        </p:txBody>
      </p:sp>
      <p:sp>
        <p:nvSpPr>
          <p:cNvPr id="5" name="Shape 2"/>
          <p:cNvSpPr/>
          <p:nvPr/>
        </p:nvSpPr>
        <p:spPr>
          <a:xfrm>
            <a:off x="822960" y="1737360"/>
            <a:ext cx="3383280" cy="3840480"/>
          </a:xfrm>
          <a:prstGeom prst="roundRect">
            <a:avLst>
              <a:gd name="adj" fmla="val 3243"/>
            </a:avLst>
          </a:prstGeom>
          <a:solidFill>
            <a:schemeClr val="tx2"/>
          </a:solidFill>
          <a:ln w="12700">
            <a:solidFill>
              <a:srgbClr val="2C3844"/>
            </a:solidFill>
            <a:prstDash val="solid"/>
          </a:ln>
        </p:spPr>
      </p:sp>
      <p:sp>
        <p:nvSpPr>
          <p:cNvPr id="6" name="Text 3"/>
          <p:cNvSpPr txBox="1"/>
          <p:nvPr/>
        </p:nvSpPr>
        <p:spPr>
          <a:xfrm>
            <a:off x="1097280" y="1965960"/>
            <a:ext cx="283464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coreutils</a:t>
            </a:r>
            <a:endParaRPr lang="en-US" sz="2200" dirty="0"/>
          </a:p>
        </p:txBody>
      </p:sp>
      <p:sp>
        <p:nvSpPr>
          <p:cNvPr id="7" name="Text 4"/>
          <p:cNvSpPr txBox="1"/>
          <p:nvPr/>
        </p:nvSpPr>
        <p:spPr>
          <a:xfrm>
            <a:off x="1097280" y="2560320"/>
            <a:ext cx="2834640" cy="28346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bg2"/>
                </a:solidFill>
              </a:rPr>
              <a:t>cat, head, tail, wc, sort, uniq, find</a:t>
            </a:r>
            <a:endParaRPr lang="en-US" sz="2000" dirty="0"/>
          </a:p>
          <a:p>
            <a:pPr marL="342900" indent="-342900">
              <a:spcAft>
                <a:spcPts val="1000"/>
              </a:spcAft>
              <a:buSzPct val="100000"/>
              <a:buChar char="•"/>
            </a:pPr>
            <a:r>
              <a:rPr lang="en-US" sz="2000" dirty="0">
                <a:solidFill>
                  <a:schemeClr val="bg2"/>
                </a:solidFill>
              </a:rPr>
              <a:t>date, hostname, uname, sleep</a:t>
            </a:r>
            <a:endParaRPr lang="en-US" sz="2000" dirty="0"/>
          </a:p>
          <a:p>
            <a:pPr marL="342900" indent="-342900">
              <a:spcAft>
                <a:spcPts val="1000"/>
              </a:spcAft>
              <a:buSzPct val="100000"/>
              <a:buChar char="•"/>
            </a:pPr>
            <a:r>
              <a:rPr lang="en-US" sz="2000" dirty="0">
                <a:solidFill>
                  <a:schemeClr val="bg2"/>
                </a:solidFill>
              </a:rPr>
              <a:t>Run in the shell process</a:t>
            </a:r>
            <a:endParaRPr lang="en-US" sz="2000" dirty="0"/>
          </a:p>
        </p:txBody>
      </p:sp>
      <p:sp>
        <p:nvSpPr>
          <p:cNvPr id="8" name="Shape 5"/>
          <p:cNvSpPr/>
          <p:nvPr/>
        </p:nvSpPr>
        <p:spPr>
          <a:xfrm>
            <a:off x="4389120" y="1737360"/>
            <a:ext cx="3383280" cy="3840480"/>
          </a:xfrm>
          <a:prstGeom prst="roundRect">
            <a:avLst>
              <a:gd name="adj" fmla="val 3243"/>
            </a:avLst>
          </a:prstGeom>
          <a:solidFill>
            <a:schemeClr val="tx2"/>
          </a:solidFill>
          <a:ln w="12700">
            <a:solidFill>
              <a:srgbClr val="2C3844"/>
            </a:solidFill>
            <a:prstDash val="solid"/>
          </a:ln>
        </p:spPr>
      </p:sp>
      <p:sp>
        <p:nvSpPr>
          <p:cNvPr id="9" name="Text 6"/>
          <p:cNvSpPr txBox="1"/>
          <p:nvPr/>
        </p:nvSpPr>
        <p:spPr>
          <a:xfrm>
            <a:off x="4663440" y="1965960"/>
            <a:ext cx="283464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git</a:t>
            </a:r>
            <a:endParaRPr lang="en-US" sz="2200" dirty="0"/>
          </a:p>
        </p:txBody>
      </p:sp>
      <p:sp>
        <p:nvSpPr>
          <p:cNvPr id="10" name="Text 7"/>
          <p:cNvSpPr txBox="1"/>
          <p:nvPr/>
        </p:nvSpPr>
        <p:spPr>
          <a:xfrm>
            <a:off x="4663440" y="2560320"/>
            <a:ext cx="2834640" cy="28346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bg2"/>
                </a:solidFill>
              </a:rPr>
              <a:t>Builtin in zshrs-native</a:t>
            </a:r>
            <a:endParaRPr lang="en-US" sz="2000" dirty="0"/>
          </a:p>
          <a:p>
            <a:pPr marL="342900" indent="-342900">
              <a:spcAft>
                <a:spcPts val="1000"/>
              </a:spcAft>
              <a:buSzPct val="100000"/>
              <a:buChar char="•"/>
            </a:pPr>
            <a:r>
              <a:rPr lang="en-US" sz="2000" dirty="0">
                <a:solidFill>
                  <a:schemeClr val="bg2"/>
                </a:solidFill>
              </a:rPr>
              <a:t>No fork, no exec</a:t>
            </a:r>
            <a:endParaRPr lang="en-US" sz="2000" dirty="0"/>
          </a:p>
          <a:p>
            <a:pPr marL="342900" indent="-342900">
              <a:spcAft>
                <a:spcPts val="1000"/>
              </a:spcAft>
              <a:buSzPct val="100000"/>
              <a:buChar char="•"/>
            </a:pPr>
            <a:r>
              <a:rPr lang="en-US" sz="2000" dirty="0">
                <a:solidFill>
                  <a:schemeClr val="bg2"/>
                </a:solidFill>
              </a:rPr>
              <a:t>No PATH lookup</a:t>
            </a:r>
            <a:endParaRPr lang="en-US" sz="2000" dirty="0"/>
          </a:p>
        </p:txBody>
      </p:sp>
      <p:sp>
        <p:nvSpPr>
          <p:cNvPr id="11" name="Shape 8"/>
          <p:cNvSpPr/>
          <p:nvPr/>
        </p:nvSpPr>
        <p:spPr>
          <a:xfrm>
            <a:off x="7955280" y="1737360"/>
            <a:ext cx="3383280" cy="3840480"/>
          </a:xfrm>
          <a:prstGeom prst="roundRect">
            <a:avLst>
              <a:gd name="adj" fmla="val 3243"/>
            </a:avLst>
          </a:prstGeom>
          <a:solidFill>
            <a:schemeClr val="tx2"/>
          </a:solidFill>
          <a:ln w="12700">
            <a:solidFill>
              <a:srgbClr val="2C3844"/>
            </a:solidFill>
            <a:prstDash val="solid"/>
          </a:ln>
        </p:spPr>
      </p:sp>
      <p:sp>
        <p:nvSpPr>
          <p:cNvPr id="12" name="Text 9"/>
          <p:cNvSpPr txBox="1"/>
          <p:nvPr/>
        </p:nvSpPr>
        <p:spPr>
          <a:xfrm>
            <a:off x="8229600" y="1965960"/>
            <a:ext cx="283464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fzf</a:t>
            </a:r>
            <a:endParaRPr lang="en-US" sz="2200" dirty="0"/>
          </a:p>
        </p:txBody>
      </p:sp>
      <p:sp>
        <p:nvSpPr>
          <p:cNvPr id="13" name="Text 10"/>
          <p:cNvSpPr txBox="1"/>
          <p:nvPr/>
        </p:nvSpPr>
        <p:spPr>
          <a:xfrm>
            <a:off x="8229600" y="2560320"/>
            <a:ext cx="2834640" cy="28346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bg2"/>
                </a:solidFill>
              </a:rPr>
              <a:t>arb --fzf in zshrs-native</a:t>
            </a:r>
            <a:endParaRPr lang="en-US" sz="2000" dirty="0"/>
          </a:p>
          <a:p>
            <a:pPr marL="342900" indent="-342900">
              <a:spcAft>
                <a:spcPts val="1000"/>
              </a:spcAft>
              <a:buSzPct val="100000"/>
              <a:buChar char="•"/>
            </a:pPr>
            <a:r>
              <a:rPr lang="en-US" sz="2000" dirty="0">
                <a:solidFill>
                  <a:schemeClr val="bg2"/>
                </a:solidFill>
              </a:rPr>
              <a:t>Honours FZF_DEFAULT_OPTS</a:t>
            </a:r>
            <a:endParaRPr lang="en-US" sz="2000" dirty="0"/>
          </a:p>
          <a:p>
            <a:pPr marL="342900" indent="-342900">
              <a:spcAft>
                <a:spcPts val="1000"/>
              </a:spcAft>
              <a:buSzPct val="100000"/>
              <a:buChar char="•"/>
            </a:pPr>
            <a:r>
              <a:rPr lang="en-US" sz="2000" dirty="0">
                <a:solidFill>
                  <a:schemeClr val="bg2"/>
                </a:solidFill>
              </a:rPr>
              <a:t>Filters a pipeline</a:t>
            </a:r>
            <a:endParaRPr lang="en-US" sz="20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Daemon (optional)</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users / daemon</a:t>
            </a:r>
            <a:endParaRPr lang="en-US" sz="1200" dirty="0"/>
          </a:p>
        </p:txBody>
      </p:sp>
      <p:sp>
        <p:nvSpPr>
          <p:cNvPr id="5" name="Shape 2"/>
          <p:cNvSpPr/>
          <p:nvPr/>
        </p:nvSpPr>
        <p:spPr>
          <a:xfrm>
            <a:off x="822960" y="1737360"/>
            <a:ext cx="5303520" cy="2606040"/>
          </a:xfrm>
          <a:prstGeom prst="roundRect">
            <a:avLst>
              <a:gd name="adj" fmla="val 4211"/>
            </a:avLst>
          </a:prstGeom>
          <a:solidFill>
            <a:schemeClr val="accent4"/>
          </a:solidFill>
          <a:ln w="12700">
            <a:solidFill>
              <a:srgbClr val="2C3844"/>
            </a:solidFill>
            <a:prstDash val="solid"/>
          </a:ln>
        </p:spPr>
      </p:sp>
      <p:sp>
        <p:nvSpPr>
          <p:cNvPr id="6" name="Text 3"/>
          <p:cNvSpPr txBox="1"/>
          <p:nvPr/>
        </p:nvSpPr>
        <p:spPr>
          <a:xfrm>
            <a:off x="1143000" y="1938528"/>
            <a:ext cx="4663440" cy="2203704"/>
          </a:xfrm>
          <a:prstGeom prst="rect">
            <a:avLst/>
          </a:prstGeom>
          <a:noFill/>
          <a:ln/>
        </p:spPr>
        <p:txBody>
          <a:bodyPr wrap="square" lIns="0" tIns="0" rIns="0" bIns="0" rtlCol="0" anchor="t"/>
          <a:lstStyle/>
          <a:p>
            <a:pPr indent="0" marL="0">
              <a:spcAft>
                <a:spcPts val="300"/>
              </a:spcAft>
              <a:buNone/>
            </a:pPr>
            <a:r>
              <a:rPr lang="en-US" sz="2200" dirty="0">
                <a:solidFill>
                  <a:schemeClr val="accent1"/>
                </a:solidFill>
                <a:latin typeface="Courier New" pitchFamily="34" charset="0"/>
                <a:ea typeface="Courier New" pitchFamily="34" charset="-122"/>
                <a:cs typeface="Courier New" pitchFamily="34" charset="-120"/>
              </a:rPr>
              <a:t>zd daemon status</a:t>
            </a:r>
            <a:endParaRPr lang="en-US" sz="2200" dirty="0"/>
          </a:p>
          <a:p>
            <a:pPr indent="0" marL="0">
              <a:spcAft>
                <a:spcPts val="300"/>
              </a:spcAft>
              <a:buNone/>
            </a:pPr>
            <a:r>
              <a:rPr lang="en-US" sz="2200" dirty="0">
                <a:solidFill>
                  <a:schemeClr val="accent1"/>
                </a:solidFill>
                <a:latin typeface="Courier New" pitchFamily="34" charset="0"/>
                <a:ea typeface="Courier New" pitchFamily="34" charset="-122"/>
                <a:cs typeface="Courier New" pitchFamily="34" charset="-120"/>
              </a:rPr>
              <a:t>zd daemon start</a:t>
            </a:r>
            <a:endParaRPr lang="en-US" sz="2200" dirty="0"/>
          </a:p>
          <a:p>
            <a:pPr indent="0" marL="0">
              <a:spcAft>
                <a:spcPts val="300"/>
              </a:spcAft>
              <a:buNone/>
            </a:pPr>
            <a:r>
              <a:rPr lang="en-US" sz="2200" dirty="0">
                <a:solidFill>
                  <a:schemeClr val="accent1"/>
                </a:solidFill>
                <a:latin typeface="Courier New" pitchFamily="34" charset="0"/>
                <a:ea typeface="Courier New" pitchFamily="34" charset="-122"/>
                <a:cs typeface="Courier New" pitchFamily="34" charset="-120"/>
              </a:rPr>
              <a:t>zd daemon stop</a:t>
            </a:r>
            <a:endParaRPr lang="en-US" sz="2200" dirty="0"/>
          </a:p>
          <a:p>
            <a:pPr indent="0" marL="0">
              <a:spcAft>
                <a:spcPts val="300"/>
              </a:spcAft>
              <a:buNone/>
            </a:pPr>
            <a:r>
              <a:rPr lang="en-US" sz="2200" dirty="0">
                <a:solidFill>
                  <a:schemeClr val="accent1"/>
                </a:solidFill>
                <a:latin typeface="Courier New" pitchFamily="34" charset="0"/>
                <a:ea typeface="Courier New" pitchFamily="34" charset="-122"/>
                <a:cs typeface="Courier New" pitchFamily="34" charset="-120"/>
              </a:rPr>
              <a:t>zd daemon restart</a:t>
            </a:r>
            <a:endParaRPr lang="en-US" sz="2200" dirty="0"/>
          </a:p>
        </p:txBody>
      </p:sp>
      <p:sp>
        <p:nvSpPr>
          <p:cNvPr id="7" name="Shape 4"/>
          <p:cNvSpPr/>
          <p:nvPr/>
        </p:nvSpPr>
        <p:spPr>
          <a:xfrm>
            <a:off x="6400800" y="1737360"/>
            <a:ext cx="4937760" cy="3931920"/>
          </a:xfrm>
          <a:prstGeom prst="roundRect">
            <a:avLst>
              <a:gd name="adj" fmla="val 2791"/>
            </a:avLst>
          </a:prstGeom>
          <a:solidFill>
            <a:srgbClr val="FFFFFF"/>
          </a:solidFill>
          <a:ln w="12700">
            <a:solidFill>
              <a:srgbClr val="D9D5C8"/>
            </a:solidFill>
            <a:prstDash val="solid"/>
          </a:ln>
        </p:spPr>
      </p:sp>
      <p:sp>
        <p:nvSpPr>
          <p:cNvPr id="8" name="Text 5"/>
          <p:cNvSpPr txBox="1"/>
          <p:nvPr/>
        </p:nvSpPr>
        <p:spPr>
          <a:xfrm>
            <a:off x="6675120" y="1965960"/>
            <a:ext cx="438912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What it gives you</a:t>
            </a:r>
            <a:endParaRPr lang="en-US" sz="2200" dirty="0"/>
          </a:p>
        </p:txBody>
      </p:sp>
      <p:sp>
        <p:nvSpPr>
          <p:cNvPr id="9" name="Text 6"/>
          <p:cNvSpPr txBox="1"/>
          <p:nvPr/>
        </p:nvSpPr>
        <p:spPr>
          <a:xfrm>
            <a:off x="6675120" y="2560320"/>
            <a:ext cx="4389120" cy="292608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accent4"/>
                </a:solidFill>
              </a:rPr>
              <a:t>Shared caches across shells</a:t>
            </a:r>
            <a:endParaRPr lang="en-US" sz="2200" dirty="0"/>
          </a:p>
          <a:p>
            <a:pPr marL="342900" indent="-342900">
              <a:spcAft>
                <a:spcPts val="1000"/>
              </a:spcAft>
              <a:buSzPct val="100000"/>
              <a:buChar char="•"/>
            </a:pPr>
            <a:r>
              <a:rPr lang="en-US" sz="2200" dirty="0">
                <a:solidFill>
                  <a:schemeClr val="accent4"/>
                </a:solidFill>
              </a:rPr>
              <a:t>Supervised jobs: zjob</a:t>
            </a:r>
            <a:endParaRPr lang="en-US" sz="2200" dirty="0"/>
          </a:p>
          <a:p>
            <a:pPr marL="342900" indent="-342900">
              <a:spcAft>
                <a:spcPts val="1000"/>
              </a:spcAft>
              <a:buSzPct val="100000"/>
              <a:buChar char="•"/>
            </a:pPr>
            <a:r>
              <a:rPr lang="en-US" sz="2200" dirty="0">
                <a:solidFill>
                  <a:schemeClr val="accent4"/>
                </a:solidFill>
              </a:rPr>
              <a:t>Cross-shell pub/sub and locks</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Find out where things came from</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users / debugging</a:t>
            </a:r>
            <a:endParaRPr lang="en-US" sz="1200" dirty="0"/>
          </a:p>
        </p:txBody>
      </p:sp>
      <p:sp>
        <p:nvSpPr>
          <p:cNvPr id="5" name="Shape 2"/>
          <p:cNvSpPr/>
          <p:nvPr/>
        </p:nvSpPr>
        <p:spPr>
          <a:xfrm>
            <a:off x="822960" y="1737360"/>
            <a:ext cx="10515600" cy="2423160"/>
          </a:xfrm>
          <a:prstGeom prst="roundRect">
            <a:avLst>
              <a:gd name="adj" fmla="val 4528"/>
            </a:avLst>
          </a:prstGeom>
          <a:solidFill>
            <a:schemeClr val="tx2"/>
          </a:solidFill>
          <a:ln w="12700">
            <a:solidFill>
              <a:srgbClr val="2C3844"/>
            </a:solidFill>
            <a:prstDash val="solid"/>
          </a:ln>
        </p:spPr>
      </p:sp>
      <p:sp>
        <p:nvSpPr>
          <p:cNvPr id="6" name="Text 3"/>
          <p:cNvSpPr txBox="1"/>
          <p:nvPr/>
        </p:nvSpPr>
        <p:spPr>
          <a:xfrm>
            <a:off x="1143000" y="1938528"/>
            <a:ext cx="9875520" cy="2020824"/>
          </a:xfrm>
          <a:prstGeom prst="rect">
            <a:avLst/>
          </a:prstGeom>
          <a:noFill/>
          <a:ln/>
        </p:spPr>
        <p:txBody>
          <a:bodyPr wrap="square" lIns="0" tIns="0" rIns="0" bIns="0" rtlCol="0" anchor="t"/>
          <a:lstStyle/>
          <a:p>
            <a:pPr indent="0" marL="0">
              <a:spcAft>
                <a:spcPts val="300"/>
              </a:spcAft>
              <a:buNone/>
            </a:pPr>
            <a:r>
              <a:rPr lang="en-US" sz="1800" dirty="0">
                <a:solidFill>
                  <a:schemeClr val="accent1"/>
                </a:solidFill>
                <a:latin typeface="Courier New" pitchFamily="34" charset="0"/>
                <a:ea typeface="Courier New" pitchFamily="34" charset="-122"/>
                <a:cs typeface="Courier New" pitchFamily="34" charset="-120"/>
              </a:rPr>
              <a:t>intercept after '_*' { echo "$INTERCEPT_NAME took ${INTERCEPT_MS}ms" }</a:t>
            </a:r>
            <a:endParaRPr lang="en-US" sz="1800" dirty="0"/>
          </a:p>
          <a:p>
            <a:pPr indent="0" marL="0">
              <a:spcAft>
                <a:spcPts val="300"/>
              </a:spcAft>
              <a:buNone/>
            </a:pPr>
            <a:r>
              <a:rPr lang="en-US" sz="1800" dirty="0">
                <a:solidFill>
                  <a:schemeClr val="accent1"/>
                </a:solidFill>
                <a:latin typeface="Courier New" pitchFamily="34" charset="0"/>
                <a:ea typeface="Courier New" pitchFamily="34" charset="-122"/>
                <a:cs typeface="Courier New" pitchFamily="34" charset="-120"/>
              </a:rPr>
              <a:t>zshrs --dump-tokens | --dump-wordcode | --dump-ast | --disasm</a:t>
            </a:r>
            <a:endParaRPr lang="en-US" sz="1800" dirty="0"/>
          </a:p>
          <a:p>
            <a:pPr indent="0" marL="0">
              <a:spcAft>
                <a:spcPts val="300"/>
              </a:spcAft>
              <a:buNone/>
            </a:pPr>
            <a:r>
              <a:rPr lang="en-US" sz="1800" dirty="0">
                <a:solidFill>
                  <a:schemeClr val="accent1"/>
                </a:solidFill>
                <a:latin typeface="Courier New" pitchFamily="34" charset="0"/>
                <a:ea typeface="Courier New" pitchFamily="34" charset="-122"/>
                <a:cs typeface="Courier New" pitchFamily="34" charset="-120"/>
              </a:rPr>
              <a:t>zshrs --tiers script.zsh</a:t>
            </a:r>
            <a:endParaRPr lang="en-US" sz="1800" dirty="0"/>
          </a:p>
          <a:p>
            <a:pPr indent="0" marL="0">
              <a:spcAft>
                <a:spcPts val="300"/>
              </a:spcAft>
              <a:buNone/>
            </a:pPr>
            <a:r>
              <a:rPr lang="en-US" sz="1800" dirty="0">
                <a:solidFill>
                  <a:schemeClr val="accent1"/>
                </a:solidFill>
                <a:latin typeface="Courier New" pitchFamily="34" charset="0"/>
                <a:ea typeface="Courier New" pitchFamily="34" charset="-122"/>
                <a:cs typeface="Courier New" pitchFamily="34" charset="-120"/>
              </a:rPr>
              <a:t>zshrs --dump-plugins</a:t>
            </a:r>
            <a:endParaRPr lang="en-US" sz="1800" dirty="0"/>
          </a:p>
        </p:txBody>
      </p:sp>
      <p:sp>
        <p:nvSpPr>
          <p:cNvPr id="7" name="Text 4"/>
          <p:cNvSpPr txBox="1"/>
          <p:nvPr/>
        </p:nvSpPr>
        <p:spPr>
          <a:xfrm>
            <a:off x="822960" y="4297680"/>
            <a:ext cx="10515600" cy="109728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bg2"/>
                </a:solidFill>
              </a:rPr>
              <a:t>zwhere needs the recorder: brew install zshrs-all</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Format and editor support</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users / tooling</a:t>
            </a:r>
            <a:endParaRPr lang="en-US" sz="1200" dirty="0"/>
          </a:p>
        </p:txBody>
      </p:sp>
      <p:sp>
        <p:nvSpPr>
          <p:cNvPr id="5" name="Shape 2"/>
          <p:cNvSpPr/>
          <p:nvPr/>
        </p:nvSpPr>
        <p:spPr>
          <a:xfrm>
            <a:off x="822960" y="1737360"/>
            <a:ext cx="10515600" cy="2057400"/>
          </a:xfrm>
          <a:prstGeom prst="roundRect">
            <a:avLst>
              <a:gd name="adj" fmla="val 5333"/>
            </a:avLst>
          </a:prstGeom>
          <a:solidFill>
            <a:schemeClr val="accent4"/>
          </a:solidFill>
          <a:ln w="12700">
            <a:solidFill>
              <a:srgbClr val="2C3844"/>
            </a:solidFill>
            <a:prstDash val="solid"/>
          </a:ln>
        </p:spPr>
      </p:sp>
      <p:sp>
        <p:nvSpPr>
          <p:cNvPr id="6" name="Text 3"/>
          <p:cNvSpPr txBox="1"/>
          <p:nvPr/>
        </p:nvSpPr>
        <p:spPr>
          <a:xfrm>
            <a:off x="1143000" y="1938528"/>
            <a:ext cx="9875520" cy="1655064"/>
          </a:xfrm>
          <a:prstGeom prst="rect">
            <a:avLst/>
          </a:prstGeom>
          <a:noFill/>
          <a:ln/>
        </p:spPr>
        <p:txBody>
          <a:bodyPr wrap="square" lIns="0" tIns="0" rIns="0" bIns="0" rtlCol="0" anchor="t"/>
          <a:lstStyle/>
          <a:p>
            <a:pPr indent="0" marL="0">
              <a:spcAft>
                <a:spcPts val="300"/>
              </a:spcAft>
              <a:buNone/>
            </a:pPr>
            <a:r>
              <a:rPr lang="en-US" sz="2200" dirty="0">
                <a:solidFill>
                  <a:schemeClr val="accent1"/>
                </a:solidFill>
                <a:latin typeface="Courier New" pitchFamily="34" charset="0"/>
                <a:ea typeface="Courier New" pitchFamily="34" charset="-122"/>
                <a:cs typeface="Courier New" pitchFamily="34" charset="-120"/>
              </a:rPr>
              <a:t>zshrs --fmt [-w] [-t] [-i N] [FILE...]</a:t>
            </a:r>
            <a:endParaRPr lang="en-US" sz="2200" dirty="0"/>
          </a:p>
          <a:p>
            <a:pPr indent="0" marL="0">
              <a:spcAft>
                <a:spcPts val="300"/>
              </a:spcAft>
              <a:buNone/>
            </a:pPr>
            <a:r>
              <a:rPr lang="en-US" sz="2200" dirty="0">
                <a:solidFill>
                  <a:schemeClr val="accent1"/>
                </a:solidFill>
                <a:latin typeface="Courier New" pitchFamily="34" charset="0"/>
                <a:ea typeface="Courier New" pitchFamily="34" charset="-122"/>
                <a:cs typeface="Courier New" pitchFamily="34" charset="-120"/>
              </a:rPr>
              <a:t>zshrs --lsp</a:t>
            </a:r>
            <a:endParaRPr lang="en-US" sz="2200" dirty="0"/>
          </a:p>
          <a:p>
            <a:pPr indent="0" marL="0">
              <a:spcAft>
                <a:spcPts val="300"/>
              </a:spcAft>
              <a:buNone/>
            </a:pPr>
            <a:r>
              <a:rPr lang="en-US" sz="2200" dirty="0">
                <a:solidFill>
                  <a:schemeClr val="accent1"/>
                </a:solidFill>
                <a:latin typeface="Courier New" pitchFamily="34" charset="0"/>
                <a:ea typeface="Courier New" pitchFamily="34" charset="-122"/>
                <a:cs typeface="Courier New" pitchFamily="34" charset="-120"/>
              </a:rPr>
              <a:t>zshrs --dap HOST:PORT</a:t>
            </a:r>
            <a:endParaRPr lang="en-US" sz="2200" dirty="0"/>
          </a:p>
        </p:txBody>
      </p:sp>
      <p:sp>
        <p:nvSpPr>
          <p:cNvPr id="7" name="Text 4"/>
          <p:cNvSpPr txBox="1"/>
          <p:nvPr/>
        </p:nvSpPr>
        <p:spPr>
          <a:xfrm>
            <a:off x="822960" y="4114800"/>
            <a:ext cx="10515600" cy="182880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accent4"/>
                </a:solidFill>
              </a:rPr>
              <a:t>--fmt: in place with -w, or stdin to stdout</a:t>
            </a:r>
            <a:endParaRPr lang="en-US" sz="2200" dirty="0"/>
          </a:p>
          <a:p>
            <a:pPr marL="342900" indent="-342900">
              <a:spcAft>
                <a:spcPts val="1000"/>
              </a:spcAft>
              <a:buSzPct val="100000"/>
              <a:buChar char="•"/>
            </a:pPr>
            <a:r>
              <a:rPr lang="en-US" sz="2200" dirty="0">
                <a:solidFill>
                  <a:schemeClr val="accent4"/>
                </a:solidFill>
              </a:rPr>
              <a:t>--lsp: completion from the real completers, hover, formatting</a:t>
            </a:r>
            <a:endParaRPr lang="en-US" sz="2200" dirty="0"/>
          </a:p>
          <a:p>
            <a:pPr marL="342900" indent="-342900">
              <a:spcAft>
                <a:spcPts val="1000"/>
              </a:spcAft>
              <a:buSzPct val="100000"/>
              <a:buChar char="•"/>
            </a:pPr>
            <a:r>
              <a:rPr lang="en-US" sz="2200" dirty="0">
                <a:solidFill>
                  <a:schemeClr val="accent4"/>
                </a:solidFill>
              </a:rPr>
              <a:t>--dap: debugger over TCP or stdio</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Other shells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users / emulation</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2960" y="1737360"/>
          <a:ext cx="10515600" cy="914400"/>
        </p:xfrm>
        <a:graphic>
          <a:graphicData uri="http://schemas.openxmlformats.org/drawingml/2006/table">
            <a:tbl>
              <a:tblPr/>
              <a:tblGrid>
                <a:gridCol w="4114800"/>
                <a:gridCol w="6400800"/>
              </a:tblGrid>
              <a:tr h="566928">
                <a:tc>
                  <a:txBody>
                    <a:bodyPr/>
                    <a:lstStyle/>
                    <a:p>
                      <a:pPr indent="0" marL="0">
                        <a:buNone/>
                      </a:pPr>
                      <a:r>
                        <a:rPr lang="en-US" sz="2200" b="1" dirty="0">
                          <a:solidFill>
                            <a:schemeClr val="accent1"/>
                          </a:solidFill>
                        </a:rPr>
                        <a:t>Flag</a:t>
                      </a:r>
                      <a:endParaRPr lang="en-US" sz="22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200" b="1" dirty="0">
                          <a:solidFill>
                            <a:schemeClr val="accent1"/>
                          </a:solidFill>
                        </a:rPr>
                        <a:t>Behaves as</a:t>
                      </a:r>
                      <a:endParaRPr lang="en-US" sz="22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2200" dirty="0">
                          <a:solidFill>
                            <a:schemeClr val="bg2"/>
                          </a:solidFill>
                        </a:rPr>
                        <a:t>--zsh</a:t>
                      </a:r>
                      <a:endParaRPr lang="en-US" sz="22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200" dirty="0">
                          <a:solidFill>
                            <a:schemeClr val="bg2"/>
                          </a:solidFill>
                        </a:rPr>
                        <a:t>zsh</a:t>
                      </a:r>
                      <a:endParaRPr lang="en-US" sz="22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2200" dirty="0">
                          <a:solidFill>
                            <a:schemeClr val="bg2"/>
                          </a:solidFill>
                        </a:rPr>
                        <a:t>--bash</a:t>
                      </a:r>
                      <a:endParaRPr lang="en-US" sz="22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200" dirty="0">
                          <a:solidFill>
                            <a:schemeClr val="bg2"/>
                          </a:solidFill>
                        </a:rPr>
                        <a:t>bash</a:t>
                      </a:r>
                      <a:endParaRPr lang="en-US" sz="22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2200" dirty="0">
                          <a:solidFill>
                            <a:schemeClr val="bg2"/>
                          </a:solidFill>
                        </a:rPr>
                        <a:t>--ksh, --mksh, --pdksh</a:t>
                      </a:r>
                      <a:endParaRPr lang="en-US" sz="22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200" dirty="0">
                          <a:solidFill>
                            <a:schemeClr val="bg2"/>
                          </a:solidFill>
                        </a:rPr>
                        <a:t>ksh family</a:t>
                      </a:r>
                      <a:endParaRPr lang="en-US" sz="22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2200" dirty="0">
                          <a:solidFill>
                            <a:schemeClr val="bg2"/>
                          </a:solidFill>
                        </a:rPr>
                        <a:t>--sh, --posix</a:t>
                      </a:r>
                      <a:endParaRPr lang="en-US" sz="22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200" dirty="0">
                          <a:solidFill>
                            <a:schemeClr val="bg2"/>
                          </a:solidFill>
                        </a:rPr>
                        <a:t>/bin/sh</a:t>
                      </a:r>
                      <a:endParaRPr lang="en-US" sz="22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2200" dirty="0">
                          <a:solidFill>
                            <a:schemeClr val="bg2"/>
                          </a:solidFill>
                        </a:rPr>
                        <a:t>--dash, --ash</a:t>
                      </a:r>
                      <a:endParaRPr lang="en-US" sz="22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2200" dirty="0">
                          <a:solidFill>
                            <a:schemeClr val="bg2"/>
                          </a:solidFill>
                        </a:rPr>
                        <a:t>dash</a:t>
                      </a:r>
                      <a:endParaRPr lang="en-US" sz="22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Where files live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users / files</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2960" y="1737360"/>
          <a:ext cx="10515600" cy="914400"/>
        </p:xfrm>
        <a:graphic>
          <a:graphicData uri="http://schemas.openxmlformats.org/drawingml/2006/table">
            <a:tbl>
              <a:tblPr/>
              <a:tblGrid>
                <a:gridCol w="4754880"/>
                <a:gridCol w="5760720"/>
              </a:tblGrid>
              <a:tr h="566928">
                <a:tc>
                  <a:txBody>
                    <a:bodyPr/>
                    <a:lstStyle/>
                    <a:p>
                      <a:pPr indent="0" marL="0">
                        <a:buNone/>
                      </a:pPr>
                      <a:r>
                        <a:rPr lang="en-US" sz="2200" b="1" dirty="0">
                          <a:solidFill>
                            <a:schemeClr val="accent2"/>
                          </a:solidFill>
                        </a:rPr>
                        <a:t>Path</a:t>
                      </a:r>
                      <a:endParaRPr lang="en-US" sz="22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2200" b="1" dirty="0">
                          <a:solidFill>
                            <a:schemeClr val="accent2"/>
                          </a:solidFill>
                        </a:rPr>
                        <a:t>What</a:t>
                      </a:r>
                      <a:endParaRPr lang="en-US" sz="22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r>
              <a:tr h="566928">
                <a:tc>
                  <a:txBody>
                    <a:bodyPr/>
                    <a:lstStyle/>
                    <a:p>
                      <a:pPr indent="0" marL="0">
                        <a:buNone/>
                      </a:pPr>
                      <a:r>
                        <a:rPr lang="en-US" sz="2200" dirty="0">
                          <a:solidFill>
                            <a:schemeClr val="accent4"/>
                          </a:solidFill>
                        </a:rPr>
                        <a:t>~/.zshrs/zshrs.toml</a:t>
                      </a:r>
                      <a:endParaRPr lang="en-US" sz="22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2200" dirty="0">
                          <a:solidFill>
                            <a:schemeClr val="accent4"/>
                          </a:solidFill>
                        </a:rPr>
                        <a:t>Configuration, including [zle]</a:t>
                      </a:r>
                      <a:endParaRPr lang="en-US" sz="22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r>
              <a:tr h="566928">
                <a:tc>
                  <a:txBody>
                    <a:bodyPr/>
                    <a:lstStyle/>
                    <a:p>
                      <a:pPr indent="0" marL="0">
                        <a:buNone/>
                      </a:pPr>
                      <a:r>
                        <a:rPr lang="en-US" sz="2200" dirty="0">
                          <a:solidFill>
                            <a:schemeClr val="accent4"/>
                          </a:solidFill>
                        </a:rPr>
                        <a:t>~/.zshrs/functions</a:t>
                      </a:r>
                      <a:endParaRPr lang="en-US" sz="22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2200" dirty="0">
                          <a:solidFill>
                            <a:schemeClr val="accent4"/>
                          </a:solidFill>
                        </a:rPr>
                        <a:t>Bundled completion functions</a:t>
                      </a:r>
                      <a:endParaRPr lang="en-US" sz="22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r>
              <a:tr h="566928">
                <a:tc>
                  <a:txBody>
                    <a:bodyPr/>
                    <a:lstStyle/>
                    <a:p>
                      <a:pPr indent="0" marL="0">
                        <a:buNone/>
                      </a:pPr>
                      <a:r>
                        <a:rPr lang="en-US" sz="2200" dirty="0">
                          <a:solidFill>
                            <a:schemeClr val="accent4"/>
                          </a:solidFill>
                        </a:rPr>
                        <a:t>~/.zshrs/man, ~/.zshrs/info</a:t>
                      </a:r>
                      <a:endParaRPr lang="en-US" sz="22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2200" dirty="0">
                          <a:solidFill>
                            <a:schemeClr val="accent4"/>
                          </a:solidFill>
                        </a:rPr>
                        <a:t>Bundled manuals</a:t>
                      </a:r>
                      <a:endParaRPr lang="en-US" sz="22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r>
              <a:tr h="566928">
                <a:tc>
                  <a:txBody>
                    <a:bodyPr/>
                    <a:lstStyle/>
                    <a:p>
                      <a:pPr indent="0" marL="0">
                        <a:buNone/>
                      </a:pPr>
                      <a:r>
                        <a:rPr lang="en-US" sz="2200" dirty="0">
                          <a:solidFill>
                            <a:schemeClr val="accent4"/>
                          </a:solidFill>
                        </a:rPr>
                        <a:t>~/.zshrs/zshrs.log</a:t>
                      </a:r>
                      <a:endParaRPr lang="en-US" sz="22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2200" dirty="0">
                          <a:solidFill>
                            <a:schemeClr val="accent4"/>
                          </a:solidFill>
                        </a:rPr>
                        <a:t>Log output</a:t>
                      </a:r>
                      <a:endParaRPr lang="en-US" sz="22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Cheat sheet</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users / reference</a:t>
            </a:r>
            <a:endParaRPr lang="en-US" sz="1200" dirty="0"/>
          </a:p>
        </p:txBody>
      </p:sp>
      <p:sp>
        <p:nvSpPr>
          <p:cNvPr id="5" name="Shape 2"/>
          <p:cNvSpPr/>
          <p:nvPr/>
        </p:nvSpPr>
        <p:spPr>
          <a:xfrm>
            <a:off x="822960" y="1737360"/>
            <a:ext cx="10515600" cy="4215384"/>
          </a:xfrm>
          <a:prstGeom prst="roundRect">
            <a:avLst>
              <a:gd name="adj" fmla="val 2603"/>
            </a:avLst>
          </a:prstGeom>
          <a:solidFill>
            <a:schemeClr val="tx2"/>
          </a:solidFill>
          <a:ln w="12700">
            <a:solidFill>
              <a:srgbClr val="2C3844"/>
            </a:solidFill>
            <a:prstDash val="solid"/>
          </a:ln>
        </p:spPr>
      </p:sp>
      <p:sp>
        <p:nvSpPr>
          <p:cNvPr id="6" name="Text 3"/>
          <p:cNvSpPr txBox="1"/>
          <p:nvPr/>
        </p:nvSpPr>
        <p:spPr>
          <a:xfrm>
            <a:off x="1143000" y="1938528"/>
            <a:ext cx="9875520" cy="3813048"/>
          </a:xfrm>
          <a:prstGeom prst="rect">
            <a:avLst/>
          </a:prstGeom>
          <a:noFill/>
          <a:ln/>
        </p:spPr>
        <p:txBody>
          <a:bodyPr wrap="square" lIns="0" tIns="0" rIns="0" bIns="0" rtlCol="0" anchor="t"/>
          <a:lstStyle/>
          <a:p>
            <a:pPr indent="0" marL="0">
              <a:spcAft>
                <a:spcPts val="300"/>
              </a:spcAft>
              <a:buNone/>
            </a:pPr>
            <a:r>
              <a:rPr lang="en-US" sz="2000" dirty="0">
                <a:solidFill>
                  <a:schemeClr val="accent1"/>
                </a:solidFill>
                <a:latin typeface="Courier New" pitchFamily="34" charset="0"/>
                <a:ea typeface="Courier New" pitchFamily="34" charset="-122"/>
                <a:cs typeface="Courier New" pitchFamily="34" charset="-120"/>
              </a:rPr>
              <a:t>brew install zshrs</a:t>
            </a:r>
            <a:endParaRPr lang="en-US" sz="2000" dirty="0"/>
          </a:p>
          <a:p>
            <a:pPr indent="0" marL="0">
              <a:spcAft>
                <a:spcPts val="300"/>
              </a:spcAft>
              <a:buNone/>
            </a:pPr>
            <a:r>
              <a:rPr lang="en-US" sz="2000" dirty="0">
                <a:solidFill>
                  <a:schemeClr val="accent1"/>
                </a:solidFill>
                <a:latin typeface="Courier New" pitchFamily="34" charset="0"/>
                <a:ea typeface="Courier New" pitchFamily="34" charset="-122"/>
                <a:cs typeface="Courier New" pitchFamily="34" charset="-120"/>
              </a:rPr>
              <a:t>zsh-bench</a:t>
            </a:r>
            <a:endParaRPr lang="en-US" sz="2000" dirty="0"/>
          </a:p>
          <a:p>
            <a:pPr indent="0" marL="0">
              <a:spcAft>
                <a:spcPts val="300"/>
              </a:spcAft>
              <a:buNone/>
            </a:pPr>
            <a:r>
              <a:rPr lang="en-US" sz="2000" dirty="0">
                <a:solidFill>
                  <a:schemeClr val="accent1"/>
                </a:solidFill>
                <a:latin typeface="Courier New" pitchFamily="34" charset="0"/>
                <a:ea typeface="Courier New" pitchFamily="34" charset="-122"/>
                <a:cs typeface="Courier New" pitchFamily="34" charset="-120"/>
              </a:rPr>
              <a:t>zd daemon start</a:t>
            </a:r>
            <a:endParaRPr lang="en-US" sz="2000" dirty="0"/>
          </a:p>
          <a:p>
            <a:pPr indent="0" marL="0">
              <a:spcAft>
                <a:spcPts val="300"/>
              </a:spcAft>
              <a:buNone/>
            </a:pPr>
            <a:r>
              <a:rPr lang="en-US" sz="2000" dirty="0">
                <a:solidFill>
                  <a:schemeClr val="accent1"/>
                </a:solidFill>
                <a:latin typeface="Courier New" pitchFamily="34" charset="0"/>
                <a:ea typeface="Courier New" pitchFamily="34" charset="-122"/>
                <a:cs typeface="Courier New" pitchFamily="34" charset="-120"/>
              </a:rPr>
              <a:t>zshrs --fmt -w FILE</a:t>
            </a:r>
            <a:endParaRPr lang="en-US" sz="2000" dirty="0"/>
          </a:p>
          <a:p>
            <a:pPr indent="0" marL="0">
              <a:spcAft>
                <a:spcPts val="300"/>
              </a:spcAft>
              <a:buNone/>
            </a:pPr>
            <a:r>
              <a:rPr lang="en-US" sz="2000" dirty="0">
                <a:solidFill>
                  <a:schemeClr val="accent1"/>
                </a:solidFill>
                <a:latin typeface="Courier New" pitchFamily="34" charset="0"/>
                <a:ea typeface="Courier New" pitchFamily="34" charset="-122"/>
                <a:cs typeface="Courier New" pitchFamily="34" charset="-120"/>
              </a:rPr>
              <a:t>zshrs --tiers script.zsh</a:t>
            </a:r>
            <a:endParaRPr lang="en-US" sz="2000" dirty="0"/>
          </a:p>
          <a:p>
            <a:pPr indent="0" marL="0">
              <a:spcAft>
                <a:spcPts val="300"/>
              </a:spcAft>
              <a:buNone/>
            </a:pPr>
            <a:r>
              <a:rPr lang="en-US" sz="2000" dirty="0">
                <a:solidFill>
                  <a:schemeClr val="accent1"/>
                </a:solidFill>
                <a:latin typeface="Courier New" pitchFamily="34" charset="0"/>
                <a:ea typeface="Courier New" pitchFamily="34" charset="-122"/>
                <a:cs typeface="Courier New" pitchFamily="34" charset="-120"/>
              </a:rPr>
              <a:t>zshrs --dump-plugins</a:t>
            </a:r>
            <a:endParaRPr lang="en-US" sz="2000" dirty="0"/>
          </a:p>
          <a:p>
            <a:pPr indent="0" marL="0">
              <a:spcAft>
                <a:spcPts val="300"/>
              </a:spcAft>
              <a:buNone/>
            </a:pPr>
            <a:r>
              <a:rPr lang="en-US" sz="2000" dirty="0">
                <a:solidFill>
                  <a:schemeClr val="accent1"/>
                </a:solidFill>
                <a:latin typeface="Courier New" pitchFamily="34" charset="0"/>
                <a:ea typeface="Courier New" pitchFamily="34" charset="-122"/>
                <a:cs typeface="Courier New" pitchFamily="34" charset="-120"/>
              </a:rPr>
              <a:t>znative load owner/repo</a:t>
            </a:r>
            <a:endParaRPr lang="en-US" sz="2000" dirty="0"/>
          </a:p>
          <a:p>
            <a:pPr indent="0" marL="0">
              <a:spcAft>
                <a:spcPts val="300"/>
              </a:spcAft>
              <a:buNone/>
            </a:pPr>
            <a:r>
              <a:rPr lang="en-US" sz="2000" dirty="0">
                <a:solidFill>
                  <a:schemeClr val="accent1"/>
                </a:solidFill>
                <a:latin typeface="Courier New" pitchFamily="34" charset="0"/>
                <a:ea typeface="Courier New" pitchFamily="34" charset="-122"/>
                <a:cs typeface="Courier New" pitchFamily="34" charset="-120"/>
              </a:rPr>
              <a:t>zshrs --prewarm-autoloads</a:t>
            </a:r>
            <a:endParaRPr lang="en-US" sz="20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Reporting a problem</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users / issues</a:t>
            </a:r>
            <a:endParaRPr lang="en-US" sz="1200" dirty="0"/>
          </a:p>
        </p:txBody>
      </p:sp>
      <p:sp>
        <p:nvSpPr>
          <p:cNvPr id="5" name="Shape 2"/>
          <p:cNvSpPr/>
          <p:nvPr/>
        </p:nvSpPr>
        <p:spPr>
          <a:xfrm>
            <a:off x="822960" y="1737360"/>
            <a:ext cx="10515600" cy="1508760"/>
          </a:xfrm>
          <a:prstGeom prst="roundRect">
            <a:avLst>
              <a:gd name="adj" fmla="val 7273"/>
            </a:avLst>
          </a:prstGeom>
          <a:solidFill>
            <a:schemeClr val="accent4"/>
          </a:solidFill>
          <a:ln w="12700">
            <a:solidFill>
              <a:srgbClr val="2C3844"/>
            </a:solidFill>
            <a:prstDash val="solid"/>
          </a:ln>
        </p:spPr>
      </p:sp>
      <p:sp>
        <p:nvSpPr>
          <p:cNvPr id="6" name="Text 3"/>
          <p:cNvSpPr txBox="1"/>
          <p:nvPr/>
        </p:nvSpPr>
        <p:spPr>
          <a:xfrm>
            <a:off x="1143000" y="1938528"/>
            <a:ext cx="9875520" cy="1106424"/>
          </a:xfrm>
          <a:prstGeom prst="rect">
            <a:avLst/>
          </a:prstGeom>
          <a:noFill/>
          <a:ln/>
        </p:spPr>
        <p:txBody>
          <a:bodyPr wrap="square" lIns="0" tIns="0" rIns="0" bIns="0" rtlCol="0" anchor="t"/>
          <a:lstStyle/>
          <a:p>
            <a:pPr indent="0" marL="0">
              <a:spcAft>
                <a:spcPts val="300"/>
              </a:spcAft>
              <a:buNone/>
            </a:pPr>
            <a:r>
              <a:rPr lang="en-US" sz="2200" dirty="0">
                <a:solidFill>
                  <a:schemeClr val="accent1"/>
                </a:solidFill>
                <a:latin typeface="Courier New" pitchFamily="34" charset="0"/>
                <a:ea typeface="Courier New" pitchFamily="34" charset="-122"/>
                <a:cs typeface="Courier New" pitchFamily="34" charset="-120"/>
              </a:rPr>
              <a:t>zsh -fc 'your snippet'</a:t>
            </a:r>
            <a:endParaRPr lang="en-US" sz="2200" dirty="0"/>
          </a:p>
          <a:p>
            <a:pPr indent="0" marL="0">
              <a:spcAft>
                <a:spcPts val="300"/>
              </a:spcAft>
              <a:buNone/>
            </a:pPr>
            <a:r>
              <a:rPr lang="en-US" sz="2200" dirty="0">
                <a:solidFill>
                  <a:schemeClr val="accent1"/>
                </a:solidFill>
                <a:latin typeface="Courier New" pitchFamily="34" charset="0"/>
                <a:ea typeface="Courier New" pitchFamily="34" charset="-122"/>
                <a:cs typeface="Courier New" pitchFamily="34" charset="-120"/>
              </a:rPr>
              <a:t>zshrs --zsh -fc 'your snippet'</a:t>
            </a:r>
            <a:endParaRPr lang="en-US" sz="2200" dirty="0"/>
          </a:p>
        </p:txBody>
      </p:sp>
      <p:sp>
        <p:nvSpPr>
          <p:cNvPr id="7" name="Text 4"/>
          <p:cNvSpPr txBox="1"/>
          <p:nvPr/>
        </p:nvSpPr>
        <p:spPr>
          <a:xfrm>
            <a:off x="822960" y="3657600"/>
            <a:ext cx="10515600" cy="201168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accent4"/>
                </a:solidFill>
              </a:rPr>
              <a:t>Compare the output; open an issue with both</a:t>
            </a:r>
            <a:endParaRPr lang="en-US" sz="2400" dirty="0"/>
          </a:p>
          <a:p>
            <a:pPr marL="342900" indent="-342900">
              <a:spcAft>
                <a:spcPts val="1000"/>
              </a:spcAft>
              <a:buSzPct val="100000"/>
              <a:buChar char="•"/>
            </a:pPr>
            <a:r>
              <a:rPr lang="en-US" sz="2400" dirty="0">
                <a:solidFill>
                  <a:schemeClr val="accent4"/>
                </a:solidFill>
              </a:rPr>
              <a:t>Include the version: zshrs --version</a:t>
            </a:r>
            <a:endParaRPr lang="en-US" sz="2400" dirty="0"/>
          </a:p>
          <a:p>
            <a:pPr marL="342900" indent="-342900">
              <a:spcAft>
                <a:spcPts val="1000"/>
              </a:spcAft>
              <a:buSzPct val="100000"/>
              <a:buChar char="•"/>
            </a:pPr>
            <a:r>
              <a:rPr lang="en-US" sz="2400" dirty="0">
                <a:solidFill>
                  <a:schemeClr val="accent4"/>
                </a:solidFill>
              </a:rPr>
              <a:t>Include your zshrs.log if it crashed</a:t>
            </a:r>
            <a:endParaRPr lang="en-US" sz="24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Install again</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users / install</a:t>
            </a:r>
            <a:endParaRPr lang="en-US" sz="1200" dirty="0"/>
          </a:p>
        </p:txBody>
      </p:sp>
      <p:sp>
        <p:nvSpPr>
          <p:cNvPr id="5" name="Shape 2"/>
          <p:cNvSpPr/>
          <p:nvPr/>
        </p:nvSpPr>
        <p:spPr>
          <a:xfrm>
            <a:off x="822960" y="1737360"/>
            <a:ext cx="10515600" cy="2057400"/>
          </a:xfrm>
          <a:prstGeom prst="roundRect">
            <a:avLst>
              <a:gd name="adj" fmla="val 5333"/>
            </a:avLst>
          </a:prstGeom>
          <a:solidFill>
            <a:schemeClr val="tx2"/>
          </a:solidFill>
          <a:ln w="12700">
            <a:solidFill>
              <a:srgbClr val="2C3844"/>
            </a:solidFill>
            <a:prstDash val="solid"/>
          </a:ln>
        </p:spPr>
      </p:sp>
      <p:sp>
        <p:nvSpPr>
          <p:cNvPr id="6" name="Text 3"/>
          <p:cNvSpPr txBox="1"/>
          <p:nvPr/>
        </p:nvSpPr>
        <p:spPr>
          <a:xfrm>
            <a:off x="1143000" y="1938528"/>
            <a:ext cx="9875520" cy="1655064"/>
          </a:xfrm>
          <a:prstGeom prst="rect">
            <a:avLst/>
          </a:prstGeom>
          <a:noFill/>
          <a:ln/>
        </p:spPr>
        <p:txBody>
          <a:bodyPr wrap="square" lIns="0" tIns="0" rIns="0" bIns="0" rtlCol="0" anchor="t"/>
          <a:lstStyle/>
          <a:p>
            <a:pPr indent="0" marL="0">
              <a:spcAft>
                <a:spcPts val="300"/>
              </a:spcAft>
              <a:buNone/>
            </a:pPr>
            <a:r>
              <a:rPr lang="en-US" sz="2200" dirty="0">
                <a:solidFill>
                  <a:schemeClr val="accent1"/>
                </a:solidFill>
                <a:latin typeface="Courier New" pitchFamily="34" charset="0"/>
                <a:ea typeface="Courier New" pitchFamily="34" charset="-122"/>
                <a:cs typeface="Courier New" pitchFamily="34" charset="-120"/>
              </a:rPr>
              <a:t>brew tap MenkeTechnologies/menketech</a:t>
            </a:r>
            <a:endParaRPr lang="en-US" sz="2200" dirty="0"/>
          </a:p>
          <a:p>
            <a:pPr indent="0" marL="0">
              <a:spcAft>
                <a:spcPts val="300"/>
              </a:spcAft>
              <a:buNone/>
            </a:pPr>
            <a:r>
              <a:rPr lang="en-US" sz="2200" dirty="0">
                <a:solidFill>
                  <a:schemeClr val="accent1"/>
                </a:solidFill>
                <a:latin typeface="Courier New" pitchFamily="34" charset="0"/>
                <a:ea typeface="Courier New" pitchFamily="34" charset="-122"/>
                <a:cs typeface="Courier New" pitchFamily="34" charset="-120"/>
              </a:rPr>
              <a:t>brew install zshrs</a:t>
            </a:r>
            <a:endParaRPr lang="en-US" sz="2200" dirty="0"/>
          </a:p>
          <a:p>
            <a:pPr indent="0" marL="0">
              <a:spcAft>
                <a:spcPts val="300"/>
              </a:spcAft>
              <a:buNone/>
            </a:pPr>
            <a:r>
              <a:rPr lang="en-US" sz="2200" dirty="0">
                <a:solidFill>
                  <a:schemeClr val="accent5"/>
                </a:solidFill>
                <a:latin typeface="Courier New" pitchFamily="34" charset="0"/>
                <a:ea typeface="Courier New" pitchFamily="34" charset="-122"/>
                <a:cs typeface="Courier New" pitchFamily="34" charset="-120"/>
              </a:rPr>
              <a:t>brew install zshrs-all   # adds recorder + daemon</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zshrs talk">
  <a:themeElements>
    <a:clrScheme name="zshrs talk">
      <a:dk1>
        <a:srgbClr val="0F1419"/>
      </a:dk1>
      <a:lt1>
        <a:srgbClr val="F2F0E9"/>
      </a:lt1>
      <a:dk2>
        <a:srgbClr val="1A222B"/>
      </a:dk2>
      <a:lt2>
        <a:srgbClr val="E8E6DF"/>
      </a:lt2>
      <a:accent1>
        <a:srgbClr val="5CC8D7"/>
      </a:accent1>
      <a:accent2>
        <a:srgbClr val="1B7F8E"/>
      </a:accent2>
      <a:accent3>
        <a:srgbClr val="F2994A"/>
      </a:accent3>
      <a:accent4>
        <a:srgbClr val="14181D"/>
      </a:accent4>
      <a:accent5>
        <a:srgbClr val="9AA4AE"/>
      </a:accent5>
      <a:accent6>
        <a:srgbClr val="4A5158"/>
      </a:accent6>
      <a:hlink>
        <a:srgbClr val="5CC8D7"/>
      </a:hlink>
      <a:folHlink>
        <a:srgbClr val="9AA4AE"/>
      </a:folHlink>
    </a:clrScheme>
    <a:fontScheme name="zshrs tal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zshrs for users</dc:title>
  <dc:subject>PptxGenJS Presentation</dc:subject>
  <dc:creator>PptxGenJS</dc:creator>
  <cp:lastModifiedBy>PptxGenJS</cp:lastModifiedBy>
  <cp:revision>1</cp:revision>
  <dcterms:created xsi:type="dcterms:W3CDTF">2026-10-09T22:25:16Z</dcterms:created>
  <dcterms:modified xsi:type="dcterms:W3CDTF">2026-10-09T22:25:16Z</dcterms:modified>
</cp:coreProperties>
</file>