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1bfb5ce-27ca-e513-1e8c-078e03502e65}">
          <p14:sldIdLst>
            <p14:sldId id="256"/>
            <p14:sldId id="257"/>
            <p14:sldId id="258"/>
          </p14:sldIdLst>
        </p14:section>
        <p14:section name="Parity" id="{23d3cb39-1d32-b277-f976-8c3246e76f4f}">
          <p14:sldIdLst>
            <p14:sldId id="259"/>
            <p14:sldId id="260"/>
            <p14:sldId id="261"/>
            <p14:sldId id="262"/>
            <p14:sldId id="263"/>
            <p14:sldId id="264"/>
          </p14:sldIdLst>
        </p14:section>
        <p14:section name="Engine and numbers" id="{3ca91b89-4948-a959-6930-3425548cc061}">
          <p14:sldIdLst>
            <p14:sldId id="265"/>
            <p14:sldId id="266"/>
            <p14:sldId id="267"/>
            <p14:sldId id="268"/>
          </p14:sldIdLst>
        </p14:section>
        <p14:section name="Goodies" id="{0441b61c-6b62-f8a9-ee23-a048b8061d3a}">
          <p14:sldIdLst>
            <p14:sldId id="269"/>
            <p14:sldId id="270"/>
            <p14:sldId id="271"/>
            <p14:sldId id="272"/>
            <p14:sldId id="273"/>
            <p14:sldId id="274"/>
            <p14:sldId id="275"/>
            <p14:sldId id="276"/>
            <p14:sldId id="277"/>
            <p14:sldId id="278"/>
            <p14:sldId id="279"/>
            <p14:sldId id="280"/>
            <p14:sldId id="281"/>
            <p14:sldId id="282"/>
            <p14:sldId id="283"/>
          </p14:sldIdLst>
        </p14:section>
        <p14:section name="Take-away" id="{79daf7a3-203f-6ee6-3f1e-67475fbe51fe}">
          <p14:sldIdLst>
            <p14:sldId id="284"/>
            <p14:sldId id="285"/>
            <p14:sldId id="286"/>
          </p14:sldIdLst>
        </p14:section>
        <p14:section name="Backup" id="{393c6989-04cd-a71e-6a92-eb5f7ef08979}">
          <p14:sldIdLst>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E8E6DF"/>
                </a:solidFill>
                <a:latin typeface="+mn-lt"/>
              </a:defRPr>
            </a:pPr>
            <a:r>
              <a:rPr sz="1600" b="0" i="0" u="none" strike="noStrike">
                <a:solidFill>
                  <a:srgbClr val="E8E6DF"/>
                </a:solidFill>
                <a:latin typeface="+mn-lt"/>
              </a:rPr>
              <a:t>Fuzz modes</a:t>
            </a:r>
          </a:p>
        </c:rich>
      </c:tx>
      <c:layout/>
      <c:overlay val="0"/>
    </c:title>
    <c:autoTitleDeleted val="0"/>
    <c:plotArea>
      <c:layout/>
      <c:doughnutChart>
        <c:varyColors val="1"/>
        <c:ser>
          <c:idx val="0"/>
          <c:order val="0"/>
          <c:tx>
            <c:strRef>
              <c:f>Sheet1!$B$1</c:f>
              <c:strCache>
                <c:ptCount val="1"/>
                <c:pt idx="0">
                  <c:v>Modes</c:v>
                </c:pt>
              </c:strCache>
            </c:strRef>
          </c:tx>
          <c:spPr>
            <a:solidFill>
              <a:schemeClr val="accent1"/>
            </a:solidFill>
            <a:ln w="9525" cap="flat">
              <a:solidFill>
                <a:srgbClr val="F9F9F9"/>
              </a:solidFill>
              <a:prstDash val="solid"/>
              <a:round/>
            </a:ln>
            <a:effectLst/>
          </c:spPr>
          <c:dPt>
            <c:idx val="0"/>
            <c:bubble3D val="0"/>
            <c:spPr>
              <a:solidFill>
                <a:srgbClr val="5CC8D7"/>
              </a:solidFill>
              <a:effectLst/>
            </c:spPr>
          </c:dPt>
          <c:dPt>
            <c:idx val="1"/>
            <c:bubble3D val="0"/>
            <c:spPr>
              <a:solidFill>
                <a:srgbClr val="F2994A"/>
              </a:solidFill>
              <a:effectLst/>
            </c:spPr>
          </c:dPt>
          <c:dLbls>
            <c:dLbl>
              <c:idx val="0"/>
              <c:numFmt formatCode="General" sourceLinked="0"/>
              <c:spPr/>
              <c:txPr>
                <a:bodyPr/>
                <a:lstStyle/>
                <a:p>
                  <a:pPr>
                    <a:defRPr sz="1600" b="0" i="0" u="none" strike="noStrike">
                      <a:solidFill>
                        <a:srgbClr val="0F1419"/>
                      </a:solidFill>
                      <a:latin typeface="+mn-lt"/>
                    </a:defRPr>
                  </a:pPr>
                </a:p>
              </c:txPr>
              <c:showLegendKey val="0"/>
              <c:showVal val="1"/>
              <c:showCatName val="0"/>
              <c:showSerName val="0"/>
              <c:showPercent val="0"/>
              <c:showBubbleSize val="0"/>
            </c:dLbl>
            <c:dLbl>
              <c:idx val="1"/>
              <c:numFmt formatCode="General" sourceLinked="0"/>
              <c:spPr/>
              <c:txPr>
                <a:bodyPr/>
                <a:lstStyle/>
                <a:p>
                  <a:pPr>
                    <a:defRPr sz="1600" b="0" i="0" u="none" strike="noStrike">
                      <a:solidFill>
                        <a:srgbClr val="0F1419"/>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Zero divergences</c:v>
                </c:pt>
                <c:pt idx="1">
                  <c:v>With divergences</c:v>
                </c:pt>
              </c:strCache>
            </c:strRef>
          </c:cat>
          <c:val>
            <c:numRef>
              <c:f>Sheet1!$B$2:$B$3</c:f>
              <c:numCache>
                <c:ptCount val="2"/>
                <c:pt idx="0">
                  <c:v>71</c:v>
                </c:pt>
                <c:pt idx="1">
                  <c:v>3</c:v>
                </c:pt>
              </c:numCache>
            </c:numRef>
          </c:val>
        </c:ser>
        <c:firstSliceAng val="0"/>
        <c:holeSize val="62"/>
      </c:doughnutChart>
      <c:spPr>
        <a:noFill/>
        <a:ln>
          <a:noFill/>
        </a:ln>
        <a:effectLst/>
      </c:spPr>
    </c:plotArea>
    <c:legend>
      <c:legendPos val="b"/>
      <c:overlay val="0"/>
      <c:txPr>
        <a:bodyPr/>
        <a:lstStyle/>
        <a:p>
          <a:pPr>
            <a:defRPr sz="1400">
              <a:solidFill>
                <a:srgbClr val="E8E6D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presentation about one of the more difficult projects I have worked on: porting zsh into Rust and a JIT compiler. If you want to try it during the talk, the install is on slide 3 and repeats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try it, where parity stands, how to help, then the goodies. The point of the talk is to get you using it and helping with it. Internals follow, organised around the outline of goodies; I come back to the outline between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to audience: this slide is reposted at the end. The zshrs formula installs zshrs and zd. zshrs-all adds the recorder and the daemon. cargo install zshrs also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snapshot. Numbers are from docs/PARITY.md, sweep dated 2026-08-21, serial run. 46,685 + 5 + 34 = 46,724. Parallel runs report more failures because the tests spawn real zsh and zshrs processes and are load sensitive; the serial count is the one to quote. Refresh these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Grammar-driven, seed-replayable snippets per mode, run through both zshrs and real zsh. Divergences are re-confirmed three times so load flakes cannot register. 22,200 cases across 74 modes: 71 modes at zero divergences, 27 divergences overall (0.12%), each remaining mode traced to one named root cause. Source: docs/INVENTIONS.md entry 25, bins/parity-fuzz.rs, docs/PARITY.md.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CI invariants, not conventions. port_purity.rs freezes the port directory: every function mirrors a real Src/&lt;x&gt;.c function, cites it, no new files, no invented helper names. tree_walker_absent.rs asserts the old interpreter is gone, backed by 174 behavioural pins in no_tree_walker_dispatch.rs. The reason is drift: contributors and code-generation tools both invent helpers and files, and a test closes both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Four-crate workspace. zshrs is the runtime and the shell binary. zshrs-daemon is the singleton that owns shared state. znative is the published plugin-ABI SDK. zshrs-runtime is a 16-line crate that only emits libzsh.a for AOT linking without making cargo install zshrs build it. Inside the runtime: ported (1:1 C), extensions (new), recorder (feature gated).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audience cares about: how to get involved. Say where issues are filed (GitHub issues on the zshrs repo) and that every one of these is welcome, including a single sanity-check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map for people who want to bring a critical lens. Each row points at a real document or directory in the repo. Hardware: macOS aarch64, Linux x86_64 and Linux aarch64 are the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feel good about the JIT engine. Every command, script, function and sourced file lowers to fusevm bytecode with fused superinstructions. Hot blocks go through a tiered Cranelift JIT to x86-64 and aarch64 machine code. Bytecode is persisted across processes in rkyv images and read by mmap. Nushell interprets its IR and drops it at exit; zsh's .zwc is wordcode for zsh's own interpreter. Source: README, docs/INVENTIONS.md entry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persistent pool of 2 to 18 threads takes command substitution, process substitution, globbing, completion and autoloading. 48 coreutils commands run in-process so a cat in a pipeline never leaves the shell. The quoted 2000 to 5000x figure in the docs is fork overhead divided by a function call; read it as a fixed cost disappearing, not as 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terms, these five numbers are what you feel. Targets are the goals. Fill the Measured column from zsh-bench runs on the demo machine before presenting. Memory: ps -o rss= -p $$. Do not discuss zsh shortcomings here; save comparisons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zsh-bench to get the first four numbers in one go. The second command gives memory per shell. Invite the audience to run both and report numbers in an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outline of all the goodies. I return to this slide between sections so nobody loses the thread. Eight items: the daemon, the recorder, the ZLE config section, syntax highlighting, the Rust prompt engine, the plugin ABI, tooling in the binary, and absorbed binaries.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daemon is a singleton that owns canonical state, fsnotify, scheduling, jobs, locks, cache and history. There is no shared writer and no auto-spawn. Clients are stateless and forkable. The pattern is emacsclient, Nailgun and LSP; applying it to a shell's own state is new. Source: docs/INVENTIONS.md entry 9, docs/DAEMON.md.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from the README: zd daemon status, start, stop, restart. From the register: zjob submit --pty runs a child on a pseudo-terminal under the daemon; attaching later puts your terminal in raw mode, detaches on Ctrl-]. zsubscribe, zpublish and zlock are cross-shell pub/sub and token-issued named locks, replacing flock plus socat plus FIFOs.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shells, one daemon. Each shell connects over a Unix socket and maps the shared tables. The daemon is the only writer, which removes the cache-invalidation class of bugs: fsnotify is the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separate binary sources your real login chain while AOP interception sits on every state-mutating dispatcher, recording kind, name, value, file, line and call chain. Everything it can prove is a pure function of your dotfiles folds into the canonical shard and is skipped at startup; the rest replays. It is why zwhere can name the file and line that defined any alias. Source: docs/INVENTIONS.md entries 7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outline of all the goodies. I return to this slide between sections so nobody loses the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[zle] section of ~/.zshrs/zshrs.toml controls the four native line-editor engines. Keys from the README: autosuggest, syntax_highlight, history_search, autopair. Setting one false opts out. The engines are refused when RCS is unset, so bare zshrs -f stays byte-identical to zsh -f. ZSHRS_NATIVE_ZLE_FX=0 force-disables all. The README example comment says default off while another README paragraph says on by default: confirm the default before stating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Rust ports of the fish-shell engines that zsh-syntax-highlighting, zsh-autosuggestions and zsh-history-substring-search recreate in script, plus a zsh-autopair port. Existing plugin config applies: ZSH_HIGHLIGHT_STYLES, ZSH_AUTOSUGGEST_*, HISTORY_SUBSTRING_SEARCH_*, AUTOPAIR_*. The native engines stay authoritative even with the script plugins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the fish port. The palette and word-level classification are fast-syntax-highlighting's: command-type ladder, brackets by nesting level, glob, variable, path, option, math, here-string and case styles, a secondary theme inside $(...), and the autoload, source and printf chromas. So the native pass renders the same as the plugin it replaces. Validity and file-existence checks run on the command and paths. Source: README line 717.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and autosuggest passes are capped at 8 ms by default, so a huge directory or a pathological PATH cannot lag typing. Overridable with ZSHRS_ZLE_HIGHLIGHT_BUDGET_MS and ZSHRS_ZLE_AUTOSUGGEST_BUDGET_MS. Source: README line 717, docs/INVENTIONS.md entry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outline of all the goodies. I return to this slide between sections so nobody loses the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powerlevel10k theme is absorbed into the binary as in-process Rust, in src/extensions/p10k. The line count: the register says 15,708 lines; a recount of src/extensions/p10k at the time of this deck gives about 21,000 lines, so quote the recount. gitstatusd is replaced by a native .git reader. Your .p10k.zsh sources unchanged. Instant prompt exists to hide the cost of interpreting the theme, so when interpretation stops, the workaround is deleted rather than 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cargo add znative, ship a cdylib, load it with zmodload -R. Version-gated with mismatches refused, only #[repr(C)] crosses the boundary. Plugins register builtins and native completion generators wired into compsys. znative load owner/repo is a package manager on top: it builds on first start and loads from a content-addressed store thereafter. Source: docs/PLUGINS.md, docs/INVENTIONS.md entry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server is the shell, it answers from the same lexer, parser, option table and completers the interactive session uses. LSP and DAP: first in the Bourne lineage; Elvish and Nushell have LSP outside it, so do not say first with a language server. --fmt is a source formatter that also backs LSP formatting. The unit-test framework has 14 assertion verbs and a worker-pool runner. Source: docs/INVENTIONS.md entries 26 to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 the companion zshrs-native build, git is served as a builtin with no fork, exec or PATH lookup, and arb --fzf is an fzf-compatible finder honouring FZF_DEFAULT_OPTS in-process. Plus 48 coreutils commands in the main binary. BusyBox absorbed coreutils in 1995; this goes past coreutils to full applications. Source: README, docs/INVENTIONS.md entry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lists people can walk away with and be good to go. Leave this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Repost of the install, as 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Comparisons with zsh and its limits come up here, only if asked. Backup slides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The five remaining failures from docs/PARITY.md. The nul_quoting_format case is structural: C stores NUL metafied, so it survives a parse/eval round trip, while zshrs holds a real NUL in a Rust String. zmodload -R is deliberate. The RC_QUOTES alias case depends on zsh's own input-buffer-dependent behaviour, so the target needs deciding. The last two pass under --test-threads=1.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Instant prompt exists to hide the cost of interpreting the theme; when interpretation stops, the workaround is deleted rather than ported. The acceptance criterion for zshrs: first paint equals full functionality, with no background loading behind a visible prompt. Source: docs/INVENTIONS.md entry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rtlCol="0"/>
          <a:lstStyle>
            <a:lvl1pPr algn="l" indent="0" marL="0">
              <a:buNone/>
              <a:defRPr lang="en-US" sz="3600" b="1" dirty="0">
                <a:solidFill>
                  <a:schemeClr val="accent4"/>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822960" y="1737360"/>
            <a:ext cx="10058400" cy="457200"/>
          </a:xfrm>
          <a:prstGeom prst="rect">
            <a:avLst/>
          </a:prstGeom>
          <a:noFill/>
          <a:ln/>
        </p:spPr>
        <p:txBody>
          <a:bodyPr wrap="square" lIns="0" tIns="0" rIns="0" bIns="0" rtlCol="0" anchor="t"/>
          <a:lstStyle/>
          <a:p>
            <a:pPr indent="0" marL="0">
              <a:buNone/>
            </a:pPr>
            <a:r>
              <a:rPr lang="en-US" sz="2000" dirty="0">
                <a:solidFill>
                  <a:schemeClr val="accent1"/>
                </a:solidFill>
                <a:latin typeface="Courier New" pitchFamily="34" charset="0"/>
                <a:ea typeface="Courier New" pitchFamily="34" charset="-122"/>
                <a:cs typeface="Courier New" pitchFamily="34" charset="-120"/>
              </a:rPr>
              <a:t>$ brew install zshrs</a:t>
            </a:r>
            <a:endParaRPr lang="en-US" sz="2000" dirty="0"/>
          </a:p>
        </p:txBody>
      </p:sp>
      <p:sp>
        <p:nvSpPr>
          <p:cNvPr id="4" name="Text 1"/>
          <p:cNvSpPr txBox="1"/>
          <p:nvPr/>
        </p:nvSpPr>
        <p:spPr>
          <a:xfrm>
            <a:off x="822960" y="2377440"/>
            <a:ext cx="10515600" cy="2011680"/>
          </a:xfrm>
          <a:prstGeom prst="rect">
            <a:avLst/>
          </a:prstGeom>
          <a:noFill/>
          <a:ln/>
        </p:spPr>
        <p:txBody>
          <a:bodyPr wrap="square" lIns="0" tIns="0" rIns="0" bIns="0" rtlCol="0" anchor="t"/>
          <a:lstStyle/>
          <a:p>
            <a:pPr indent="0" marL="0">
              <a:buNone/>
            </a:pPr>
            <a:r>
              <a:rPr lang="en-US" sz="5400" b="1" dirty="0">
                <a:solidFill>
                  <a:schemeClr val="bg2"/>
                </a:solidFill>
                <a:latin typeface="Cambria" pitchFamily="34" charset="0"/>
                <a:ea typeface="Cambria" pitchFamily="34" charset="-122"/>
                <a:cs typeface="Cambria" pitchFamily="34" charset="-120"/>
              </a:rPr>
              <a:t>Porting zsh to Rust and a JIT compiler</a:t>
            </a:r>
            <a:endParaRPr lang="en-US" sz="5400" dirty="0"/>
          </a:p>
        </p:txBody>
      </p:sp>
      <p:sp>
        <p:nvSpPr>
          <p:cNvPr id="5" name="Text 2"/>
          <p:cNvSpPr txBox="1"/>
          <p:nvPr/>
        </p:nvSpPr>
        <p:spPr>
          <a:xfrm>
            <a:off x="822960" y="4572000"/>
            <a:ext cx="10058400" cy="548640"/>
          </a:xfrm>
          <a:prstGeom prst="rect">
            <a:avLst/>
          </a:prstGeom>
          <a:noFill/>
          <a:ln/>
        </p:spPr>
        <p:txBody>
          <a:bodyPr wrap="square" lIns="0" tIns="0" rIns="0" bIns="0" rtlCol="0" anchor="t"/>
          <a:lstStyle/>
          <a:p>
            <a:pPr indent="0" marL="0">
              <a:buNone/>
            </a:pPr>
            <a:r>
              <a:rPr lang="en-US" sz="2400" dirty="0">
                <a:solidFill>
                  <a:schemeClr val="accent5"/>
                </a:solidFill>
              </a:rPr>
              <a:t>One of the more difficult projects I have worked on.</a:t>
            </a:r>
            <a:endParaRPr lang="en-US" sz="2400" dirty="0"/>
          </a:p>
        </p:txBody>
      </p:sp>
      <p:sp>
        <p:nvSpPr>
          <p:cNvPr id="6"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What this talk covers</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agenda</a:t>
            </a:r>
            <a:endParaRPr lang="en-US" sz="1200" dirty="0"/>
          </a:p>
        </p:txBody>
      </p:sp>
      <p:sp>
        <p:nvSpPr>
          <p:cNvPr id="5" name="Shape 2"/>
          <p:cNvSpPr/>
          <p:nvPr/>
        </p:nvSpPr>
        <p:spPr>
          <a:xfrm>
            <a:off x="822960" y="1828800"/>
            <a:ext cx="2514600" cy="3108960"/>
          </a:xfrm>
          <a:prstGeom prst="roundRect">
            <a:avLst>
              <a:gd name="adj" fmla="val 4364"/>
            </a:avLst>
          </a:prstGeom>
          <a:solidFill>
            <a:srgbClr val="FFFFFF"/>
          </a:solidFill>
          <a:ln w="12700">
            <a:solidFill>
              <a:srgbClr val="D9D5C8"/>
            </a:solidFill>
            <a:prstDash val="solid"/>
          </a:ln>
        </p:spPr>
      </p:sp>
      <p:sp>
        <p:nvSpPr>
          <p:cNvPr id="6" name="Text 3"/>
          <p:cNvSpPr txBox="1"/>
          <p:nvPr/>
        </p:nvSpPr>
        <p:spPr>
          <a:xfrm>
            <a:off x="1097280" y="2057400"/>
            <a:ext cx="196596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1  Try it</a:t>
            </a:r>
            <a:endParaRPr lang="en-US" sz="2200" dirty="0"/>
          </a:p>
        </p:txBody>
      </p:sp>
      <p:sp>
        <p:nvSpPr>
          <p:cNvPr id="7" name="Text 4"/>
          <p:cNvSpPr txBox="1"/>
          <p:nvPr/>
        </p:nvSpPr>
        <p:spPr>
          <a:xfrm>
            <a:off x="1097280" y="2651760"/>
            <a:ext cx="1965960" cy="21031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accent4"/>
                </a:solidFill>
              </a:rPr>
              <a:t>Install in two commands</a:t>
            </a:r>
            <a:endParaRPr lang="en-US" sz="1700" dirty="0"/>
          </a:p>
          <a:p>
            <a:pPr marL="342900" indent="-342900">
              <a:spcAft>
                <a:spcPts val="1000"/>
              </a:spcAft>
              <a:buSzPct val="100000"/>
              <a:buChar char="•"/>
            </a:pPr>
            <a:r>
              <a:rPr lang="en-US" sz="1700" dirty="0">
                <a:solidFill>
                  <a:schemeClr val="accent4"/>
                </a:solidFill>
              </a:rPr>
              <a:t>Follow along live</a:t>
            </a:r>
            <a:endParaRPr lang="en-US" sz="1700" dirty="0"/>
          </a:p>
        </p:txBody>
      </p:sp>
      <p:sp>
        <p:nvSpPr>
          <p:cNvPr id="8" name="Shape 5"/>
          <p:cNvSpPr/>
          <p:nvPr/>
        </p:nvSpPr>
        <p:spPr>
          <a:xfrm>
            <a:off x="3520440" y="1828800"/>
            <a:ext cx="2514600" cy="3108960"/>
          </a:xfrm>
          <a:prstGeom prst="roundRect">
            <a:avLst>
              <a:gd name="adj" fmla="val 4364"/>
            </a:avLst>
          </a:prstGeom>
          <a:solidFill>
            <a:srgbClr val="FFFFFF"/>
          </a:solidFill>
          <a:ln w="12700">
            <a:solidFill>
              <a:srgbClr val="D9D5C8"/>
            </a:solidFill>
            <a:prstDash val="solid"/>
          </a:ln>
        </p:spPr>
      </p:sp>
      <p:sp>
        <p:nvSpPr>
          <p:cNvPr id="9" name="Text 6"/>
          <p:cNvSpPr txBox="1"/>
          <p:nvPr/>
        </p:nvSpPr>
        <p:spPr>
          <a:xfrm>
            <a:off x="3794760" y="2057400"/>
            <a:ext cx="196596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2  Parity</a:t>
            </a:r>
            <a:endParaRPr lang="en-US" sz="2200" dirty="0"/>
          </a:p>
        </p:txBody>
      </p:sp>
      <p:sp>
        <p:nvSpPr>
          <p:cNvPr id="10" name="Text 7"/>
          <p:cNvSpPr txBox="1"/>
          <p:nvPr/>
        </p:nvSpPr>
        <p:spPr>
          <a:xfrm>
            <a:off x="3794760" y="2651760"/>
            <a:ext cx="1965960" cy="21031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accent4"/>
                </a:solidFill>
              </a:rPr>
              <a:t>Where the port stands</a:t>
            </a:r>
            <a:endParaRPr lang="en-US" sz="1700" dirty="0"/>
          </a:p>
          <a:p>
            <a:pPr marL="342900" indent="-342900">
              <a:spcAft>
                <a:spcPts val="1000"/>
              </a:spcAft>
              <a:buSzPct val="100000"/>
              <a:buChar char="•"/>
            </a:pPr>
            <a:r>
              <a:rPr lang="en-US" sz="1700" dirty="0">
                <a:solidFill>
                  <a:schemeClr val="accent4"/>
                </a:solidFill>
              </a:rPr>
              <a:t>How it is measured</a:t>
            </a:r>
            <a:endParaRPr lang="en-US" sz="1700" dirty="0"/>
          </a:p>
        </p:txBody>
      </p:sp>
      <p:sp>
        <p:nvSpPr>
          <p:cNvPr id="11" name="Shape 8"/>
          <p:cNvSpPr/>
          <p:nvPr/>
        </p:nvSpPr>
        <p:spPr>
          <a:xfrm>
            <a:off x="6217920" y="1828800"/>
            <a:ext cx="2514600" cy="3108960"/>
          </a:xfrm>
          <a:prstGeom prst="roundRect">
            <a:avLst>
              <a:gd name="adj" fmla="val 4364"/>
            </a:avLst>
          </a:prstGeom>
          <a:solidFill>
            <a:srgbClr val="FFFFFF"/>
          </a:solidFill>
          <a:ln w="12700">
            <a:solidFill>
              <a:srgbClr val="D9D5C8"/>
            </a:solidFill>
            <a:prstDash val="solid"/>
          </a:ln>
        </p:spPr>
      </p:sp>
      <p:sp>
        <p:nvSpPr>
          <p:cNvPr id="12" name="Text 9"/>
          <p:cNvSpPr txBox="1"/>
          <p:nvPr/>
        </p:nvSpPr>
        <p:spPr>
          <a:xfrm>
            <a:off x="6492240" y="2057400"/>
            <a:ext cx="196596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3  Get involved</a:t>
            </a:r>
            <a:endParaRPr lang="en-US" sz="2200" dirty="0"/>
          </a:p>
        </p:txBody>
      </p:sp>
      <p:sp>
        <p:nvSpPr>
          <p:cNvPr id="13" name="Text 10"/>
          <p:cNvSpPr txBox="1"/>
          <p:nvPr/>
        </p:nvSpPr>
        <p:spPr>
          <a:xfrm>
            <a:off x="6492240" y="2651760"/>
            <a:ext cx="1965960" cy="21031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accent4"/>
                </a:solidFill>
              </a:rPr>
              <a:t>Five ways to help</a:t>
            </a:r>
            <a:endParaRPr lang="en-US" sz="1700" dirty="0"/>
          </a:p>
          <a:p>
            <a:pPr marL="342900" indent="-342900">
              <a:spcAft>
                <a:spcPts val="1000"/>
              </a:spcAft>
              <a:buSzPct val="100000"/>
              <a:buChar char="•"/>
            </a:pPr>
            <a:r>
              <a:rPr lang="en-US" sz="1700" dirty="0">
                <a:solidFill>
                  <a:schemeClr val="accent4"/>
                </a:solidFill>
              </a:rPr>
              <a:t>Where to look</a:t>
            </a:r>
            <a:endParaRPr lang="en-US" sz="1700" dirty="0"/>
          </a:p>
        </p:txBody>
      </p:sp>
      <p:sp>
        <p:nvSpPr>
          <p:cNvPr id="14" name="Shape 11"/>
          <p:cNvSpPr/>
          <p:nvPr/>
        </p:nvSpPr>
        <p:spPr>
          <a:xfrm>
            <a:off x="8915400" y="1828800"/>
            <a:ext cx="2514600" cy="3108960"/>
          </a:xfrm>
          <a:prstGeom prst="roundRect">
            <a:avLst>
              <a:gd name="adj" fmla="val 4364"/>
            </a:avLst>
          </a:prstGeom>
          <a:solidFill>
            <a:srgbClr val="FFFFFF"/>
          </a:solidFill>
          <a:ln w="12700">
            <a:solidFill>
              <a:srgbClr val="D9D5C8"/>
            </a:solidFill>
            <a:prstDash val="solid"/>
          </a:ln>
        </p:spPr>
      </p:sp>
      <p:sp>
        <p:nvSpPr>
          <p:cNvPr id="15" name="Text 12"/>
          <p:cNvSpPr txBox="1"/>
          <p:nvPr/>
        </p:nvSpPr>
        <p:spPr>
          <a:xfrm>
            <a:off x="9189720" y="2057400"/>
            <a:ext cx="196596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4  The goodies</a:t>
            </a:r>
            <a:endParaRPr lang="en-US" sz="2200" dirty="0"/>
          </a:p>
        </p:txBody>
      </p:sp>
      <p:sp>
        <p:nvSpPr>
          <p:cNvPr id="16" name="Text 13"/>
          <p:cNvSpPr txBox="1"/>
          <p:nvPr/>
        </p:nvSpPr>
        <p:spPr>
          <a:xfrm>
            <a:off x="9189720" y="2651760"/>
            <a:ext cx="1965960" cy="21031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accent4"/>
                </a:solidFill>
              </a:rPr>
              <a:t>Engine and numbers</a:t>
            </a:r>
            <a:endParaRPr lang="en-US" sz="1700" dirty="0"/>
          </a:p>
          <a:p>
            <a:pPr marL="342900" indent="-342900">
              <a:spcAft>
                <a:spcPts val="1000"/>
              </a:spcAft>
              <a:buSzPct val="100000"/>
              <a:buChar char="•"/>
            </a:pPr>
            <a:r>
              <a:rPr lang="en-US" sz="1700" dirty="0">
                <a:solidFill>
                  <a:schemeClr val="accent4"/>
                </a:solidFill>
              </a:rPr>
              <a:t>Daemon, ZLE, highlight</a:t>
            </a:r>
            <a:endParaRPr lang="en-US" sz="1700" dirty="0"/>
          </a:p>
          <a:p>
            <a:pPr marL="342900" indent="-342900">
              <a:spcAft>
                <a:spcPts val="1000"/>
              </a:spcAft>
              <a:buSzPct val="100000"/>
              <a:buChar char="•"/>
            </a:pPr>
            <a:r>
              <a:rPr lang="en-US" sz="1700" dirty="0">
                <a:solidFill>
                  <a:schemeClr val="accent4"/>
                </a:solidFill>
              </a:rPr>
              <a:t>Prompt, plugins, tooling</a:t>
            </a:r>
            <a:endParaRPr lang="en-US" sz="17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Install it now</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try it</a:t>
            </a:r>
            <a:endParaRPr lang="en-US" sz="1200" dirty="0"/>
          </a:p>
        </p:txBody>
      </p:sp>
      <p:sp>
        <p:nvSpPr>
          <p:cNvPr id="5" name="Shape 2"/>
          <p:cNvSpPr/>
          <p:nvPr/>
        </p:nvSpPr>
        <p:spPr>
          <a:xfrm>
            <a:off x="822960" y="1828800"/>
            <a:ext cx="10515600" cy="2103120"/>
          </a:xfrm>
          <a:prstGeom prst="roundRect">
            <a:avLst>
              <a:gd name="adj" fmla="val 5217"/>
            </a:avLst>
          </a:prstGeom>
          <a:solidFill>
            <a:schemeClr val="tx2"/>
          </a:solidFill>
          <a:ln w="12700">
            <a:solidFill>
              <a:srgbClr val="2C3844"/>
            </a:solidFill>
            <a:prstDash val="solid"/>
          </a:ln>
        </p:spPr>
      </p:sp>
      <p:sp>
        <p:nvSpPr>
          <p:cNvPr id="6" name="Text 3"/>
          <p:cNvSpPr txBox="1"/>
          <p:nvPr/>
        </p:nvSpPr>
        <p:spPr>
          <a:xfrm>
            <a:off x="1143000" y="2057400"/>
            <a:ext cx="9875520" cy="1645920"/>
          </a:xfrm>
          <a:prstGeom prst="rect">
            <a:avLst/>
          </a:prstGeom>
          <a:noFill/>
          <a:ln/>
        </p:spPr>
        <p:txBody>
          <a:bodyPr wrap="square" lIns="0" tIns="0" rIns="0" bIns="0" rtlCol="0" anchor="t"/>
          <a:lstStyle/>
          <a:p>
            <a:pPr indent="0" marL="0">
              <a:spcAft>
                <a:spcPts val="400"/>
              </a:spcAft>
              <a:buNone/>
            </a:pPr>
            <a:r>
              <a:rPr lang="en-US" sz="2200" dirty="0">
                <a:solidFill>
                  <a:schemeClr val="accent1"/>
                </a:solidFill>
                <a:latin typeface="Courier New" pitchFamily="34" charset="0"/>
                <a:ea typeface="Courier New" pitchFamily="34" charset="-122"/>
                <a:cs typeface="Courier New" pitchFamily="34" charset="-120"/>
              </a:rPr>
              <a:t>brew tap MenkeTechnologies/menketech</a:t>
            </a:r>
            <a:endParaRPr lang="en-US" sz="2200" dirty="0"/>
          </a:p>
          <a:p>
            <a:pPr indent="0" marL="0">
              <a:spcAft>
                <a:spcPts val="400"/>
              </a:spcAft>
              <a:buNone/>
            </a:pPr>
            <a:r>
              <a:rPr lang="en-US" sz="2200" dirty="0">
                <a:solidFill>
                  <a:schemeClr val="accent1"/>
                </a:solidFill>
                <a:latin typeface="Courier New" pitchFamily="34" charset="0"/>
                <a:ea typeface="Courier New" pitchFamily="34" charset="-122"/>
                <a:cs typeface="Courier New" pitchFamily="34" charset="-120"/>
              </a:rPr>
              <a:t>brew install zshrs</a:t>
            </a:r>
            <a:endParaRPr lang="en-US" sz="2200" dirty="0"/>
          </a:p>
          <a:p>
            <a:pPr indent="0" marL="0">
              <a:spcAft>
                <a:spcPts val="400"/>
              </a:spcAft>
              <a:buNone/>
            </a:pPr>
            <a:r>
              <a:rPr lang="en-US" sz="2200" dirty="0">
                <a:solidFill>
                  <a:schemeClr val="accent5"/>
                </a:solidFill>
                <a:latin typeface="Courier New" pitchFamily="34" charset="0"/>
                <a:ea typeface="Courier New" pitchFamily="34" charset="-122"/>
                <a:cs typeface="Courier New" pitchFamily="34" charset="-120"/>
              </a:rPr>
              <a:t>brew install zshrs-all   # adds recorder + daemon</a:t>
            </a:r>
            <a:endParaRPr lang="en-US" sz="2200" dirty="0"/>
          </a:p>
        </p:txBody>
      </p:sp>
      <p:sp>
        <p:nvSpPr>
          <p:cNvPr id="7" name="Text 4"/>
          <p:cNvSpPr txBox="1"/>
          <p:nvPr/>
        </p:nvSpPr>
        <p:spPr>
          <a:xfrm>
            <a:off x="822960" y="4023360"/>
            <a:ext cx="10515600" cy="457200"/>
          </a:xfrm>
          <a:prstGeom prst="rect">
            <a:avLst/>
          </a:prstGeom>
          <a:noFill/>
          <a:ln/>
        </p:spPr>
        <p:txBody>
          <a:bodyPr wrap="square" lIns="0" tIns="0" rIns="0" bIns="0" rtlCol="0" anchor="t"/>
          <a:lstStyle/>
          <a:p>
            <a:pPr indent="0" marL="0">
              <a:buNone/>
            </a:pPr>
            <a:r>
              <a:rPr lang="en-US" sz="2000" dirty="0">
                <a:solidFill>
                  <a:schemeClr val="accent5"/>
                </a:solidFill>
              </a:rPr>
              <a:t>Or from crates.io: </a:t>
            </a:r>
            <a:pPr indent="0" marL="0">
              <a:buNone/>
            </a:pPr>
            <a:r>
              <a:rPr lang="en-US" sz="2000" dirty="0">
                <a:solidFill>
                  <a:schemeClr val="accent3"/>
                </a:solidFill>
                <a:latin typeface="Courier New" pitchFamily="34" charset="0"/>
                <a:ea typeface="Courier New" pitchFamily="34" charset="-122"/>
                <a:cs typeface="Courier New" pitchFamily="34" charset="-120"/>
              </a:rPr>
              <a:t>cargo install zshrs</a:t>
            </a:r>
            <a:endParaRPr lang="en-US" sz="2000" dirty="0"/>
          </a:p>
        </p:txBody>
      </p:sp>
      <p:sp>
        <p:nvSpPr>
          <p:cNvPr id="8" name="Text 5"/>
          <p:cNvSpPr txBox="1"/>
          <p:nvPr/>
        </p:nvSpPr>
        <p:spPr>
          <a:xfrm>
            <a:off x="822960" y="4663440"/>
            <a:ext cx="10515600" cy="457200"/>
          </a:xfrm>
          <a:prstGeom prst="rect">
            <a:avLst/>
          </a:prstGeom>
          <a:noFill/>
          <a:ln/>
        </p:spPr>
        <p:txBody>
          <a:bodyPr wrap="square" lIns="0" tIns="0" rIns="0" bIns="0" rtlCol="0" anchor="t"/>
          <a:lstStyle/>
          <a:p>
            <a:pPr indent="0" marL="0">
              <a:buNone/>
            </a:pPr>
            <a:r>
              <a:rPr lang="en-US" sz="2000" dirty="0">
                <a:solidFill>
                  <a:schemeClr val="bg2"/>
                </a:solidFill>
              </a:rPr>
              <a:t>This slide is repeated at the end if you miss it.</a:t>
            </a:r>
            <a:endParaRPr lang="en-US" sz="20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Code parity today</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parity snapshot</a:t>
            </a:r>
            <a:endParaRPr lang="en-US" sz="1200" dirty="0"/>
          </a:p>
        </p:txBody>
      </p:sp>
      <p:sp>
        <p:nvSpPr>
          <p:cNvPr id="5" name="Shape 2"/>
          <p:cNvSpPr/>
          <p:nvPr/>
        </p:nvSpPr>
        <p:spPr>
          <a:xfrm>
            <a:off x="822960" y="1737360"/>
            <a:ext cx="3291840" cy="2377440"/>
          </a:xfrm>
          <a:prstGeom prst="roundRect">
            <a:avLst>
              <a:gd name="adj" fmla="val 4615"/>
            </a:avLst>
          </a:prstGeom>
          <a:solidFill>
            <a:schemeClr val="accent4"/>
          </a:solidFill>
          <a:ln w="12700">
            <a:solidFill>
              <a:schemeClr val="accent4"/>
            </a:solidFill>
            <a:prstDash val="solid"/>
          </a:ln>
        </p:spPr>
      </p:sp>
      <p:sp>
        <p:nvSpPr>
          <p:cNvPr id="6" name="Text 3"/>
          <p:cNvSpPr txBox="1"/>
          <p:nvPr/>
        </p:nvSpPr>
        <p:spPr>
          <a:xfrm>
            <a:off x="1097280" y="1920240"/>
            <a:ext cx="274320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46,724</a:t>
            </a:r>
            <a:endParaRPr lang="en-US" sz="4400" dirty="0"/>
          </a:p>
        </p:txBody>
      </p:sp>
      <p:sp>
        <p:nvSpPr>
          <p:cNvPr id="7" name="Text 4"/>
          <p:cNvSpPr txBox="1"/>
          <p:nvPr/>
        </p:nvSpPr>
        <p:spPr>
          <a:xfrm>
            <a:off x="1097280" y="2788920"/>
            <a:ext cx="2743200" cy="1188720"/>
          </a:xfrm>
          <a:prstGeom prst="rect">
            <a:avLst/>
          </a:prstGeom>
          <a:noFill/>
          <a:ln/>
        </p:spPr>
        <p:txBody>
          <a:bodyPr wrap="square" lIns="0" tIns="0" rIns="0" bIns="0" rtlCol="0" anchor="t"/>
          <a:lstStyle/>
          <a:p>
            <a:pPr indent="0" marL="0">
              <a:buNone/>
            </a:pPr>
            <a:r>
              <a:rPr lang="en-US" sz="1800" dirty="0">
                <a:solidFill>
                  <a:schemeClr val="bg2"/>
                </a:solidFill>
              </a:rPr>
              <a:t>parity tests, each running real zsh and zshrs and comparing whole-shell state</a:t>
            </a:r>
            <a:endParaRPr lang="en-US" sz="1800" dirty="0"/>
          </a:p>
        </p:txBody>
      </p:sp>
      <p:sp>
        <p:nvSpPr>
          <p:cNvPr id="8" name="Shape 5"/>
          <p:cNvSpPr/>
          <p:nvPr/>
        </p:nvSpPr>
        <p:spPr>
          <a:xfrm>
            <a:off x="4434840" y="1737360"/>
            <a:ext cx="3291840" cy="2377440"/>
          </a:xfrm>
          <a:prstGeom prst="roundRect">
            <a:avLst>
              <a:gd name="adj" fmla="val 4615"/>
            </a:avLst>
          </a:prstGeom>
          <a:solidFill>
            <a:schemeClr val="accent4"/>
          </a:solidFill>
          <a:ln w="12700">
            <a:solidFill>
              <a:schemeClr val="accent4"/>
            </a:solidFill>
            <a:prstDash val="solid"/>
          </a:ln>
        </p:spPr>
      </p:sp>
      <p:sp>
        <p:nvSpPr>
          <p:cNvPr id="9" name="Text 6"/>
          <p:cNvSpPr txBox="1"/>
          <p:nvPr/>
        </p:nvSpPr>
        <p:spPr>
          <a:xfrm>
            <a:off x="4709160" y="1920240"/>
            <a:ext cx="274320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99.99%</a:t>
            </a:r>
            <a:endParaRPr lang="en-US" sz="4400" dirty="0"/>
          </a:p>
        </p:txBody>
      </p:sp>
      <p:sp>
        <p:nvSpPr>
          <p:cNvPr id="10" name="Text 7"/>
          <p:cNvSpPr txBox="1"/>
          <p:nvPr/>
        </p:nvSpPr>
        <p:spPr>
          <a:xfrm>
            <a:off x="4709160" y="2788920"/>
            <a:ext cx="2743200" cy="1188720"/>
          </a:xfrm>
          <a:prstGeom prst="rect">
            <a:avLst/>
          </a:prstGeom>
          <a:noFill/>
          <a:ln/>
        </p:spPr>
        <p:txBody>
          <a:bodyPr wrap="square" lIns="0" tIns="0" rIns="0" bIns="0" rtlCol="0" anchor="t"/>
          <a:lstStyle/>
          <a:p>
            <a:pPr indent="0" marL="0">
              <a:buNone/>
            </a:pPr>
            <a:r>
              <a:rPr lang="en-US" sz="1800" dirty="0">
                <a:solidFill>
                  <a:schemeClr val="bg2"/>
                </a:solidFill>
              </a:rPr>
              <a:t>passing (46,685)</a:t>
            </a:r>
            <a:endParaRPr lang="en-US" sz="1800" dirty="0"/>
          </a:p>
        </p:txBody>
      </p:sp>
      <p:sp>
        <p:nvSpPr>
          <p:cNvPr id="11" name="Shape 8"/>
          <p:cNvSpPr/>
          <p:nvPr/>
        </p:nvSpPr>
        <p:spPr>
          <a:xfrm>
            <a:off x="8046720" y="1737360"/>
            <a:ext cx="3291840" cy="2377440"/>
          </a:xfrm>
          <a:prstGeom prst="roundRect">
            <a:avLst>
              <a:gd name="adj" fmla="val 4615"/>
            </a:avLst>
          </a:prstGeom>
          <a:solidFill>
            <a:schemeClr val="accent4"/>
          </a:solidFill>
          <a:ln w="12700">
            <a:solidFill>
              <a:schemeClr val="accent4"/>
            </a:solidFill>
            <a:prstDash val="solid"/>
          </a:ln>
        </p:spPr>
      </p:sp>
      <p:sp>
        <p:nvSpPr>
          <p:cNvPr id="12" name="Text 9"/>
          <p:cNvSpPr txBox="1"/>
          <p:nvPr/>
        </p:nvSpPr>
        <p:spPr>
          <a:xfrm>
            <a:off x="8321040" y="1920240"/>
            <a:ext cx="2743200" cy="82296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5</a:t>
            </a:r>
            <a:endParaRPr lang="en-US" sz="4400" dirty="0"/>
          </a:p>
        </p:txBody>
      </p:sp>
      <p:sp>
        <p:nvSpPr>
          <p:cNvPr id="13" name="Text 10"/>
          <p:cNvSpPr txBox="1"/>
          <p:nvPr/>
        </p:nvSpPr>
        <p:spPr>
          <a:xfrm>
            <a:off x="8321040" y="2788920"/>
            <a:ext cx="2743200" cy="1188720"/>
          </a:xfrm>
          <a:prstGeom prst="rect">
            <a:avLst/>
          </a:prstGeom>
          <a:noFill/>
          <a:ln/>
        </p:spPr>
        <p:txBody>
          <a:bodyPr wrap="square" lIns="0" tIns="0" rIns="0" bIns="0" rtlCol="0" anchor="t"/>
          <a:lstStyle/>
          <a:p>
            <a:pPr indent="0" marL="0">
              <a:buNone/>
            </a:pPr>
            <a:r>
              <a:rPr lang="en-US" sz="1800" dirty="0">
                <a:solidFill>
                  <a:schemeClr val="bg2"/>
                </a:solidFill>
              </a:rPr>
              <a:t>failing, each traced to a documented cause</a:t>
            </a:r>
            <a:endParaRPr lang="en-US" sz="1800" dirty="0"/>
          </a:p>
        </p:txBody>
      </p:sp>
      <p:sp>
        <p:nvSpPr>
          <p:cNvPr id="14" name="Text 11"/>
          <p:cNvSpPr txBox="1"/>
          <p:nvPr/>
        </p:nvSpPr>
        <p:spPr>
          <a:xfrm>
            <a:off x="822960" y="4480560"/>
            <a:ext cx="10515600" cy="822960"/>
          </a:xfrm>
          <a:prstGeom prst="rect">
            <a:avLst/>
          </a:prstGeom>
          <a:noFill/>
          <a:ln/>
        </p:spPr>
        <p:txBody>
          <a:bodyPr wrap="square" lIns="0" tIns="0" rIns="0" bIns="0" rtlCol="0" anchor="t"/>
          <a:lstStyle/>
          <a:p>
            <a:pPr indent="0" marL="0">
              <a:buNone/>
            </a:pPr>
            <a:r>
              <a:rPr lang="en-US" sz="1800" dirty="0">
                <a:solidFill>
                  <a:schemeClr val="accent6"/>
                </a:solidFill>
              </a:rPr>
              <a:t>34 ignored. Serial run, docs/PARITY.md, 2026-08-21. The five open items are listed in the backup section.</a:t>
            </a:r>
            <a:endParaRPr lang="en-US" sz="1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Differential fuzzing against zsh</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parity measures</a:t>
            </a:r>
            <a:endParaRPr lang="en-US" sz="1200" dirty="0"/>
          </a:p>
        </p:txBody>
      </p:sp>
      <p:sp>
        <p:nvSpPr>
          <p:cNvPr id="5" name="Shape 2"/>
          <p:cNvSpPr/>
          <p:nvPr/>
        </p:nvSpPr>
        <p:spPr>
          <a:xfrm>
            <a:off x="822960" y="1737360"/>
            <a:ext cx="3017520" cy="1737360"/>
          </a:xfrm>
          <a:prstGeom prst="roundRect">
            <a:avLst>
              <a:gd name="adj" fmla="val 6316"/>
            </a:avLst>
          </a:prstGeom>
          <a:solidFill>
            <a:schemeClr val="tx2"/>
          </a:solidFill>
          <a:ln w="12700">
            <a:solidFill>
              <a:srgbClr val="2C3844"/>
            </a:solidFill>
            <a:prstDash val="solid"/>
          </a:ln>
        </p:spPr>
      </p:sp>
      <p:sp>
        <p:nvSpPr>
          <p:cNvPr id="6" name="Text 3"/>
          <p:cNvSpPr txBox="1"/>
          <p:nvPr/>
        </p:nvSpPr>
        <p:spPr>
          <a:xfrm>
            <a:off x="1097280" y="1920240"/>
            <a:ext cx="246888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22,200</a:t>
            </a:r>
            <a:endParaRPr lang="en-US" sz="4400" dirty="0"/>
          </a:p>
        </p:txBody>
      </p:sp>
      <p:sp>
        <p:nvSpPr>
          <p:cNvPr id="7" name="Text 4"/>
          <p:cNvSpPr txBox="1"/>
          <p:nvPr/>
        </p:nvSpPr>
        <p:spPr>
          <a:xfrm>
            <a:off x="1097280" y="2788920"/>
            <a:ext cx="2468880" cy="548640"/>
          </a:xfrm>
          <a:prstGeom prst="rect">
            <a:avLst/>
          </a:prstGeom>
          <a:noFill/>
          <a:ln/>
        </p:spPr>
        <p:txBody>
          <a:bodyPr wrap="square" lIns="0" tIns="0" rIns="0" bIns="0" rtlCol="0" anchor="t"/>
          <a:lstStyle/>
          <a:p>
            <a:pPr indent="0" marL="0">
              <a:buNone/>
            </a:pPr>
            <a:r>
              <a:rPr lang="en-US" sz="1800" dirty="0">
                <a:solidFill>
                  <a:schemeClr val="bg2"/>
                </a:solidFill>
              </a:rPr>
              <a:t>fuzz cases</a:t>
            </a:r>
            <a:endParaRPr lang="en-US" sz="1800" dirty="0"/>
          </a:p>
        </p:txBody>
      </p:sp>
      <p:sp>
        <p:nvSpPr>
          <p:cNvPr id="8" name="Shape 5"/>
          <p:cNvSpPr/>
          <p:nvPr/>
        </p:nvSpPr>
        <p:spPr>
          <a:xfrm>
            <a:off x="822960" y="3657600"/>
            <a:ext cx="3017520" cy="1737360"/>
          </a:xfrm>
          <a:prstGeom prst="roundRect">
            <a:avLst>
              <a:gd name="adj" fmla="val 6316"/>
            </a:avLst>
          </a:prstGeom>
          <a:solidFill>
            <a:schemeClr val="tx2"/>
          </a:solidFill>
          <a:ln w="12700">
            <a:solidFill>
              <a:srgbClr val="2C3844"/>
            </a:solidFill>
            <a:prstDash val="solid"/>
          </a:ln>
        </p:spPr>
      </p:sp>
      <p:sp>
        <p:nvSpPr>
          <p:cNvPr id="9" name="Text 6"/>
          <p:cNvSpPr txBox="1"/>
          <p:nvPr/>
        </p:nvSpPr>
        <p:spPr>
          <a:xfrm>
            <a:off x="1097280" y="3840480"/>
            <a:ext cx="246888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74</a:t>
            </a:r>
            <a:endParaRPr lang="en-US" sz="4400" dirty="0"/>
          </a:p>
        </p:txBody>
      </p:sp>
      <p:sp>
        <p:nvSpPr>
          <p:cNvPr id="10" name="Text 7"/>
          <p:cNvSpPr txBox="1"/>
          <p:nvPr/>
        </p:nvSpPr>
        <p:spPr>
          <a:xfrm>
            <a:off x="1097280" y="4709160"/>
            <a:ext cx="2468880" cy="548640"/>
          </a:xfrm>
          <a:prstGeom prst="rect">
            <a:avLst/>
          </a:prstGeom>
          <a:noFill/>
          <a:ln/>
        </p:spPr>
        <p:txBody>
          <a:bodyPr wrap="square" lIns="0" tIns="0" rIns="0" bIns="0" rtlCol="0" anchor="t"/>
          <a:lstStyle/>
          <a:p>
            <a:pPr indent="0" marL="0">
              <a:buNone/>
            </a:pPr>
            <a:r>
              <a:rPr lang="en-US" sz="1800" dirty="0">
                <a:solidFill>
                  <a:schemeClr val="bg2"/>
                </a:solidFill>
              </a:rPr>
              <a:t>modes, 71 at zero divergences</a:t>
            </a:r>
            <a:endParaRPr lang="en-US" sz="1800" dirty="0"/>
          </a:p>
        </p:txBody>
      </p:sp>
      <p:sp>
        <p:nvSpPr>
          <p:cNvPr id="11" name="Shape 8"/>
          <p:cNvSpPr/>
          <p:nvPr/>
        </p:nvSpPr>
        <p:spPr>
          <a:xfrm>
            <a:off x="4114800" y="1737360"/>
            <a:ext cx="3017520" cy="1737360"/>
          </a:xfrm>
          <a:prstGeom prst="roundRect">
            <a:avLst>
              <a:gd name="adj" fmla="val 6316"/>
            </a:avLst>
          </a:prstGeom>
          <a:solidFill>
            <a:schemeClr val="tx2"/>
          </a:solidFill>
          <a:ln w="12700">
            <a:solidFill>
              <a:srgbClr val="2C3844"/>
            </a:solidFill>
            <a:prstDash val="solid"/>
          </a:ln>
        </p:spPr>
      </p:sp>
      <p:sp>
        <p:nvSpPr>
          <p:cNvPr id="12" name="Text 9"/>
          <p:cNvSpPr txBox="1"/>
          <p:nvPr/>
        </p:nvSpPr>
        <p:spPr>
          <a:xfrm>
            <a:off x="4389120" y="1920240"/>
            <a:ext cx="2468880" cy="82296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27</a:t>
            </a:r>
            <a:endParaRPr lang="en-US" sz="4400" dirty="0"/>
          </a:p>
        </p:txBody>
      </p:sp>
      <p:sp>
        <p:nvSpPr>
          <p:cNvPr id="13" name="Text 10"/>
          <p:cNvSpPr txBox="1"/>
          <p:nvPr/>
        </p:nvSpPr>
        <p:spPr>
          <a:xfrm>
            <a:off x="4389120" y="2788920"/>
            <a:ext cx="2468880" cy="548640"/>
          </a:xfrm>
          <a:prstGeom prst="rect">
            <a:avLst/>
          </a:prstGeom>
          <a:noFill/>
          <a:ln/>
        </p:spPr>
        <p:txBody>
          <a:bodyPr wrap="square" lIns="0" tIns="0" rIns="0" bIns="0" rtlCol="0" anchor="t"/>
          <a:lstStyle/>
          <a:p>
            <a:pPr indent="0" marL="0">
              <a:buNone/>
            </a:pPr>
            <a:r>
              <a:rPr lang="en-US" sz="1800" dirty="0">
                <a:solidFill>
                  <a:schemeClr val="bg2"/>
                </a:solidFill>
              </a:rPr>
              <a:t>divergences (0.12%)</a:t>
            </a:r>
            <a:endParaRPr lang="en-US" sz="1800" dirty="0"/>
          </a:p>
        </p:txBody>
      </p:sp>
      <p:sp>
        <p:nvSpPr>
          <p:cNvPr id="14" name="Shape 11"/>
          <p:cNvSpPr/>
          <p:nvPr/>
        </p:nvSpPr>
        <p:spPr>
          <a:xfrm>
            <a:off x="4114800" y="3657600"/>
            <a:ext cx="3017520" cy="1737360"/>
          </a:xfrm>
          <a:prstGeom prst="roundRect">
            <a:avLst>
              <a:gd name="adj" fmla="val 6316"/>
            </a:avLst>
          </a:prstGeom>
          <a:solidFill>
            <a:schemeClr val="tx2"/>
          </a:solidFill>
          <a:ln w="12700">
            <a:solidFill>
              <a:srgbClr val="2C3844"/>
            </a:solidFill>
            <a:prstDash val="solid"/>
          </a:ln>
        </p:spPr>
      </p:sp>
      <p:sp>
        <p:nvSpPr>
          <p:cNvPr id="15" name="Text 12"/>
          <p:cNvSpPr txBox="1"/>
          <p:nvPr/>
        </p:nvSpPr>
        <p:spPr>
          <a:xfrm>
            <a:off x="4389120" y="3840480"/>
            <a:ext cx="246888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3x</a:t>
            </a:r>
            <a:endParaRPr lang="en-US" sz="4400" dirty="0"/>
          </a:p>
        </p:txBody>
      </p:sp>
      <p:sp>
        <p:nvSpPr>
          <p:cNvPr id="16" name="Text 13"/>
          <p:cNvSpPr txBox="1"/>
          <p:nvPr/>
        </p:nvSpPr>
        <p:spPr>
          <a:xfrm>
            <a:off x="4389120" y="4709160"/>
            <a:ext cx="2468880" cy="548640"/>
          </a:xfrm>
          <a:prstGeom prst="rect">
            <a:avLst/>
          </a:prstGeom>
          <a:noFill/>
          <a:ln/>
        </p:spPr>
        <p:txBody>
          <a:bodyPr wrap="square" lIns="0" tIns="0" rIns="0" bIns="0" rtlCol="0" anchor="t"/>
          <a:lstStyle/>
          <a:p>
            <a:pPr indent="0" marL="0">
              <a:buNone/>
            </a:pPr>
            <a:r>
              <a:rPr lang="en-US" sz="1800" dirty="0">
                <a:solidFill>
                  <a:schemeClr val="bg2"/>
                </a:solidFill>
              </a:rPr>
              <a:t>re-confirmation per divergence</a:t>
            </a:r>
            <a:endParaRPr lang="en-US" sz="1800" dirty="0"/>
          </a:p>
        </p:txBody>
      </p:sp>
      <p:graphicFrame>
        <p:nvGraphicFramePr>
          <p:cNvPr id="17" name="Chart 0" descr=""/>
          <p:cNvGraphicFramePr/>
          <p:nvPr/>
        </p:nvGraphicFramePr>
        <p:xfrm>
          <a:off x="7406640" y="1737360"/>
          <a:ext cx="3931920" cy="36576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Parity is enforced mechanically</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parity measures</a:t>
            </a:r>
            <a:endParaRPr lang="en-US" sz="1200" dirty="0"/>
          </a:p>
        </p:txBody>
      </p:sp>
      <p:sp>
        <p:nvSpPr>
          <p:cNvPr id="5" name="Shape 2"/>
          <p:cNvSpPr/>
          <p:nvPr/>
        </p:nvSpPr>
        <p:spPr>
          <a:xfrm>
            <a:off x="822960" y="1737360"/>
            <a:ext cx="3383280" cy="3383280"/>
          </a:xfrm>
          <a:prstGeom prst="roundRect">
            <a:avLst>
              <a:gd name="adj" fmla="val 3243"/>
            </a:avLst>
          </a:prstGeom>
          <a:solidFill>
            <a:srgbClr val="FFFFFF"/>
          </a:solidFill>
          <a:ln w="12700">
            <a:solidFill>
              <a:srgbClr val="D9D5C8"/>
            </a:solidFill>
            <a:prstDash val="solid"/>
          </a:ln>
        </p:spPr>
      </p:sp>
      <p:sp>
        <p:nvSpPr>
          <p:cNvPr id="6" name="Text 3"/>
          <p:cNvSpPr txBox="1"/>
          <p:nvPr/>
        </p:nvSpPr>
        <p:spPr>
          <a:xfrm>
            <a:off x="1097280" y="1965960"/>
            <a:ext cx="283464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1:1 port</a:t>
            </a:r>
            <a:endParaRPr lang="en-US" sz="2200" dirty="0"/>
          </a:p>
        </p:txBody>
      </p:sp>
      <p:sp>
        <p:nvSpPr>
          <p:cNvPr id="7" name="Text 4"/>
          <p:cNvSpPr txBox="1"/>
          <p:nvPr/>
        </p:nvSpPr>
        <p:spPr>
          <a:xfrm>
            <a:off x="1097280" y="2560320"/>
            <a:ext cx="2834640" cy="23774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accent4"/>
                </a:solidFill>
              </a:rPr>
              <a:t>src/ported/: 106 files</a:t>
            </a:r>
            <a:endParaRPr lang="en-US" sz="2000" dirty="0"/>
          </a:p>
          <a:p>
            <a:pPr marL="342900" indent="-342900">
              <a:spcAft>
                <a:spcPts val="1000"/>
              </a:spcAft>
              <a:buSzPct val="100000"/>
              <a:buChar char="•"/>
            </a:pPr>
            <a:r>
              <a:rPr lang="en-US" sz="2000" dirty="0">
                <a:solidFill>
                  <a:schemeClr val="accent4"/>
                </a:solidFill>
              </a:rPr>
              <a:t>Every fn maps to a Src/&lt;x&gt;.c function</a:t>
            </a:r>
            <a:endParaRPr lang="en-US" sz="2000" dirty="0"/>
          </a:p>
          <a:p>
            <a:pPr marL="342900" indent="-342900">
              <a:spcAft>
                <a:spcPts val="1000"/>
              </a:spcAft>
              <a:buSzPct val="100000"/>
              <a:buChar char="•"/>
            </a:pPr>
            <a:r>
              <a:rPr lang="en-US" sz="2000" dirty="0">
                <a:solidFill>
                  <a:schemeClr val="accent4"/>
                </a:solidFill>
              </a:rPr>
              <a:t>Enforced by tests/port_purity.rs</a:t>
            </a:r>
            <a:endParaRPr lang="en-US" sz="2000" dirty="0"/>
          </a:p>
        </p:txBody>
      </p:sp>
      <p:sp>
        <p:nvSpPr>
          <p:cNvPr id="8" name="Shape 5"/>
          <p:cNvSpPr/>
          <p:nvPr/>
        </p:nvSpPr>
        <p:spPr>
          <a:xfrm>
            <a:off x="4389120" y="1737360"/>
            <a:ext cx="3383280" cy="3383280"/>
          </a:xfrm>
          <a:prstGeom prst="roundRect">
            <a:avLst>
              <a:gd name="adj" fmla="val 3243"/>
            </a:avLst>
          </a:prstGeom>
          <a:solidFill>
            <a:srgbClr val="FFFFFF"/>
          </a:solidFill>
          <a:ln w="12700">
            <a:solidFill>
              <a:srgbClr val="D9D5C8"/>
            </a:solidFill>
            <a:prstDash val="solid"/>
          </a:ln>
        </p:spPr>
      </p:sp>
      <p:sp>
        <p:nvSpPr>
          <p:cNvPr id="9" name="Text 6"/>
          <p:cNvSpPr txBox="1"/>
          <p:nvPr/>
        </p:nvSpPr>
        <p:spPr>
          <a:xfrm>
            <a:off x="4663440" y="1965960"/>
            <a:ext cx="283464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Extensions apart</a:t>
            </a:r>
            <a:endParaRPr lang="en-US" sz="2200" dirty="0"/>
          </a:p>
        </p:txBody>
      </p:sp>
      <p:sp>
        <p:nvSpPr>
          <p:cNvPr id="10" name="Text 7"/>
          <p:cNvSpPr txBox="1"/>
          <p:nvPr/>
        </p:nvSpPr>
        <p:spPr>
          <a:xfrm>
            <a:off x="4663440" y="2560320"/>
            <a:ext cx="2834640" cy="23774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accent4"/>
                </a:solidFill>
              </a:rPr>
              <a:t>src/extensions/: 116 files</a:t>
            </a:r>
            <a:endParaRPr lang="en-US" sz="2000" dirty="0"/>
          </a:p>
          <a:p>
            <a:pPr marL="342900" indent="-342900">
              <a:spcAft>
                <a:spcPts val="1000"/>
              </a:spcAft>
              <a:buSzPct val="100000"/>
              <a:buChar char="•"/>
            </a:pPr>
            <a:r>
              <a:rPr lang="en-US" sz="2000" dirty="0">
                <a:solidFill>
                  <a:schemeClr val="accent4"/>
                </a:solidFill>
              </a:rPr>
              <a:t>Only features zsh C lacks</a:t>
            </a:r>
            <a:endParaRPr lang="en-US" sz="2000" dirty="0"/>
          </a:p>
          <a:p>
            <a:pPr marL="342900" indent="-342900">
              <a:spcAft>
                <a:spcPts val="1000"/>
              </a:spcAft>
              <a:buSzPct val="100000"/>
              <a:buChar char="•"/>
            </a:pPr>
            <a:r>
              <a:rPr lang="en-US" sz="2000" dirty="0">
                <a:solidFill>
                  <a:schemeClr val="accent4"/>
                </a:solidFill>
              </a:rPr>
              <a:t>Kept out of the port directory</a:t>
            </a:r>
            <a:endParaRPr lang="en-US" sz="2000" dirty="0"/>
          </a:p>
        </p:txBody>
      </p:sp>
      <p:sp>
        <p:nvSpPr>
          <p:cNvPr id="11" name="Shape 8"/>
          <p:cNvSpPr/>
          <p:nvPr/>
        </p:nvSpPr>
        <p:spPr>
          <a:xfrm>
            <a:off x="7955280" y="1737360"/>
            <a:ext cx="3383280" cy="3383280"/>
          </a:xfrm>
          <a:prstGeom prst="roundRect">
            <a:avLst>
              <a:gd name="adj" fmla="val 3243"/>
            </a:avLst>
          </a:prstGeom>
          <a:solidFill>
            <a:srgbClr val="FFFFFF"/>
          </a:solidFill>
          <a:ln w="12700">
            <a:solidFill>
              <a:srgbClr val="D9D5C8"/>
            </a:solidFill>
            <a:prstDash val="solid"/>
          </a:ln>
        </p:spPr>
      </p:sp>
      <p:sp>
        <p:nvSpPr>
          <p:cNvPr id="12" name="Text 9"/>
          <p:cNvSpPr txBox="1"/>
          <p:nvPr/>
        </p:nvSpPr>
        <p:spPr>
          <a:xfrm>
            <a:off x="8229600" y="1965960"/>
            <a:ext cx="283464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No old interpreter</a:t>
            </a:r>
            <a:endParaRPr lang="en-US" sz="2200" dirty="0"/>
          </a:p>
        </p:txBody>
      </p:sp>
      <p:sp>
        <p:nvSpPr>
          <p:cNvPr id="13" name="Text 10"/>
          <p:cNvSpPr txBox="1"/>
          <p:nvPr/>
        </p:nvSpPr>
        <p:spPr>
          <a:xfrm>
            <a:off x="8229600" y="2560320"/>
            <a:ext cx="2834640" cy="23774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accent4"/>
                </a:solidFill>
              </a:rPr>
              <a:t>tests/tree_walker_absent.rs</a:t>
            </a:r>
            <a:endParaRPr lang="en-US" sz="2000" dirty="0"/>
          </a:p>
          <a:p>
            <a:pPr marL="342900" indent="-342900">
              <a:spcAft>
                <a:spcPts val="1000"/>
              </a:spcAft>
              <a:buSzPct val="100000"/>
              <a:buChar char="•"/>
            </a:pPr>
            <a:r>
              <a:rPr lang="en-US" sz="2000" dirty="0">
                <a:solidFill>
                  <a:schemeClr val="accent4"/>
                </a:solidFill>
              </a:rPr>
              <a:t>174 behavioural pins</a:t>
            </a:r>
            <a:endParaRPr lang="en-US" sz="2000" dirty="0"/>
          </a:p>
          <a:p>
            <a:pPr marL="342900" indent="-342900">
              <a:spcAft>
                <a:spcPts val="1000"/>
              </a:spcAft>
              <a:buSzPct val="100000"/>
              <a:buChar char="•"/>
            </a:pPr>
            <a:r>
              <a:rPr lang="en-US" sz="2000" dirty="0">
                <a:solidFill>
                  <a:schemeClr val="accent4"/>
                </a:solidFill>
              </a:rPr>
              <a:t>One execution path: bytecode</a:t>
            </a:r>
            <a:endParaRPr lang="en-US" sz="20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How the pieces fit</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architecture</a:t>
            </a:r>
            <a:endParaRPr lang="en-US" sz="1200" dirty="0"/>
          </a:p>
        </p:txBody>
      </p:sp>
      <p:sp>
        <p:nvSpPr>
          <p:cNvPr id="5" name="Shape 2"/>
          <p:cNvSpPr/>
          <p:nvPr/>
        </p:nvSpPr>
        <p:spPr>
          <a:xfrm>
            <a:off x="822960" y="1737360"/>
            <a:ext cx="3169920" cy="1554480"/>
          </a:xfrm>
          <a:prstGeom prst="roundRect">
            <a:avLst>
              <a:gd name="adj" fmla="val 7059"/>
            </a:avLst>
          </a:prstGeom>
          <a:solidFill>
            <a:schemeClr val="tx2"/>
          </a:solidFill>
          <a:ln w="12700">
            <a:solidFill>
              <a:srgbClr val="2C3844"/>
            </a:solidFill>
            <a:prstDash val="solid"/>
          </a:ln>
        </p:spPr>
      </p:sp>
      <p:sp>
        <p:nvSpPr>
          <p:cNvPr id="6" name="Text 3"/>
          <p:cNvSpPr txBox="1"/>
          <p:nvPr/>
        </p:nvSpPr>
        <p:spPr>
          <a:xfrm>
            <a:off x="1051560" y="1920240"/>
            <a:ext cx="27127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zshrs</a:t>
            </a:r>
            <a:endParaRPr lang="en-US" sz="2200" dirty="0"/>
          </a:p>
        </p:txBody>
      </p:sp>
      <p:sp>
        <p:nvSpPr>
          <p:cNvPr id="7" name="Text 4"/>
          <p:cNvSpPr txBox="1"/>
          <p:nvPr/>
        </p:nvSpPr>
        <p:spPr>
          <a:xfrm>
            <a:off x="1051560" y="2468880"/>
            <a:ext cx="2712720" cy="731520"/>
          </a:xfrm>
          <a:prstGeom prst="rect">
            <a:avLst/>
          </a:prstGeom>
          <a:noFill/>
          <a:ln/>
        </p:spPr>
        <p:txBody>
          <a:bodyPr wrap="square" lIns="0" tIns="0" rIns="0" bIns="0" rtlCol="0" anchor="t"/>
          <a:lstStyle/>
          <a:p>
            <a:pPr indent="0" marL="0">
              <a:buNone/>
            </a:pPr>
            <a:r>
              <a:rPr lang="en-US" sz="1800" dirty="0">
                <a:solidFill>
                  <a:schemeClr val="bg2"/>
                </a:solidFill>
              </a:rPr>
              <a:t>runtime and shell binary; ported + extensions</a:t>
            </a:r>
            <a:endParaRPr lang="en-US" sz="1800" dirty="0"/>
          </a:p>
        </p:txBody>
      </p:sp>
      <p:sp>
        <p:nvSpPr>
          <p:cNvPr id="8" name="Shape 5"/>
          <p:cNvSpPr/>
          <p:nvPr/>
        </p:nvSpPr>
        <p:spPr>
          <a:xfrm>
            <a:off x="4056888" y="2331720"/>
            <a:ext cx="384048" cy="365760"/>
          </a:xfrm>
          <a:prstGeom prst="rightArrow">
            <a:avLst/>
          </a:prstGeom>
          <a:solidFill>
            <a:schemeClr val="accent3"/>
          </a:solidFill>
          <a:ln w="12700">
            <a:solidFill>
              <a:schemeClr val="accent3"/>
            </a:solidFill>
            <a:prstDash val="solid"/>
          </a:ln>
        </p:spPr>
      </p:sp>
      <p:sp>
        <p:nvSpPr>
          <p:cNvPr id="9" name="Shape 6"/>
          <p:cNvSpPr/>
          <p:nvPr/>
        </p:nvSpPr>
        <p:spPr>
          <a:xfrm>
            <a:off x="4495800" y="1737360"/>
            <a:ext cx="3169920" cy="1554480"/>
          </a:xfrm>
          <a:prstGeom prst="roundRect">
            <a:avLst>
              <a:gd name="adj" fmla="val 7059"/>
            </a:avLst>
          </a:prstGeom>
          <a:solidFill>
            <a:schemeClr val="tx2"/>
          </a:solidFill>
          <a:ln w="12700">
            <a:solidFill>
              <a:srgbClr val="2C3844"/>
            </a:solidFill>
            <a:prstDash val="solid"/>
          </a:ln>
        </p:spPr>
      </p:sp>
      <p:sp>
        <p:nvSpPr>
          <p:cNvPr id="10" name="Text 7"/>
          <p:cNvSpPr txBox="1"/>
          <p:nvPr/>
        </p:nvSpPr>
        <p:spPr>
          <a:xfrm>
            <a:off x="4724400" y="1920240"/>
            <a:ext cx="27127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zshrs-daemon</a:t>
            </a:r>
            <a:endParaRPr lang="en-US" sz="2200" dirty="0"/>
          </a:p>
        </p:txBody>
      </p:sp>
      <p:sp>
        <p:nvSpPr>
          <p:cNvPr id="11" name="Text 8"/>
          <p:cNvSpPr txBox="1"/>
          <p:nvPr/>
        </p:nvSpPr>
        <p:spPr>
          <a:xfrm>
            <a:off x="4724400" y="2468880"/>
            <a:ext cx="2712720" cy="731520"/>
          </a:xfrm>
          <a:prstGeom prst="rect">
            <a:avLst/>
          </a:prstGeom>
          <a:noFill/>
          <a:ln/>
        </p:spPr>
        <p:txBody>
          <a:bodyPr wrap="square" lIns="0" tIns="0" rIns="0" bIns="0" rtlCol="0" anchor="t"/>
          <a:lstStyle/>
          <a:p>
            <a:pPr indent="0" marL="0">
              <a:buNone/>
            </a:pPr>
            <a:r>
              <a:rPr lang="en-US" sz="1800" dirty="0">
                <a:solidFill>
                  <a:schemeClr val="bg2"/>
                </a:solidFill>
              </a:rPr>
              <a:t>singleton owning shared state; clients are stateless</a:t>
            </a:r>
            <a:endParaRPr lang="en-US" sz="1800" dirty="0"/>
          </a:p>
        </p:txBody>
      </p:sp>
      <p:sp>
        <p:nvSpPr>
          <p:cNvPr id="12" name="Shape 9"/>
          <p:cNvSpPr/>
          <p:nvPr/>
        </p:nvSpPr>
        <p:spPr>
          <a:xfrm>
            <a:off x="7729728" y="2331720"/>
            <a:ext cx="384048" cy="365760"/>
          </a:xfrm>
          <a:prstGeom prst="rightArrow">
            <a:avLst/>
          </a:prstGeom>
          <a:solidFill>
            <a:schemeClr val="accent3"/>
          </a:solidFill>
          <a:ln w="12700">
            <a:solidFill>
              <a:schemeClr val="accent3"/>
            </a:solidFill>
            <a:prstDash val="solid"/>
          </a:ln>
        </p:spPr>
      </p:sp>
      <p:sp>
        <p:nvSpPr>
          <p:cNvPr id="13" name="Shape 10"/>
          <p:cNvSpPr/>
          <p:nvPr/>
        </p:nvSpPr>
        <p:spPr>
          <a:xfrm>
            <a:off x="8168640" y="1737360"/>
            <a:ext cx="3169920" cy="1554480"/>
          </a:xfrm>
          <a:prstGeom prst="roundRect">
            <a:avLst>
              <a:gd name="adj" fmla="val 7059"/>
            </a:avLst>
          </a:prstGeom>
          <a:solidFill>
            <a:schemeClr val="tx2"/>
          </a:solidFill>
          <a:ln w="12700">
            <a:solidFill>
              <a:srgbClr val="2C3844"/>
            </a:solidFill>
            <a:prstDash val="solid"/>
          </a:ln>
        </p:spPr>
      </p:sp>
      <p:sp>
        <p:nvSpPr>
          <p:cNvPr id="14" name="Text 11"/>
          <p:cNvSpPr txBox="1"/>
          <p:nvPr/>
        </p:nvSpPr>
        <p:spPr>
          <a:xfrm>
            <a:off x="8397240" y="1920240"/>
            <a:ext cx="27127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znative</a:t>
            </a:r>
            <a:endParaRPr lang="en-US" sz="2200" dirty="0"/>
          </a:p>
        </p:txBody>
      </p:sp>
      <p:sp>
        <p:nvSpPr>
          <p:cNvPr id="15" name="Text 12"/>
          <p:cNvSpPr txBox="1"/>
          <p:nvPr/>
        </p:nvSpPr>
        <p:spPr>
          <a:xfrm>
            <a:off x="8397240" y="2468880"/>
            <a:ext cx="2712720" cy="731520"/>
          </a:xfrm>
          <a:prstGeom prst="rect">
            <a:avLst/>
          </a:prstGeom>
          <a:noFill/>
          <a:ln/>
        </p:spPr>
        <p:txBody>
          <a:bodyPr wrap="square" lIns="0" tIns="0" rIns="0" bIns="0" rtlCol="0" anchor="t"/>
          <a:lstStyle/>
          <a:p>
            <a:pPr indent="0" marL="0">
              <a:buNone/>
            </a:pPr>
            <a:r>
              <a:rPr lang="en-US" sz="1800" dirty="0">
                <a:solidFill>
                  <a:schemeClr val="bg2"/>
                </a:solidFill>
              </a:rPr>
              <a:t>plugin ABI SDK; cdylib plugins</a:t>
            </a:r>
            <a:endParaRPr lang="en-US" sz="1800" dirty="0"/>
          </a:p>
        </p:txBody>
      </p:sp>
      <p:sp>
        <p:nvSpPr>
          <p:cNvPr id="16" name="Shape 13"/>
          <p:cNvSpPr/>
          <p:nvPr/>
        </p:nvSpPr>
        <p:spPr>
          <a:xfrm>
            <a:off x="822960" y="3840480"/>
            <a:ext cx="3169920" cy="1554480"/>
          </a:xfrm>
          <a:prstGeom prst="roundRect">
            <a:avLst>
              <a:gd name="adj" fmla="val 7059"/>
            </a:avLst>
          </a:prstGeom>
          <a:solidFill>
            <a:schemeClr val="tx2"/>
          </a:solidFill>
          <a:ln w="12700">
            <a:solidFill>
              <a:srgbClr val="2C3844"/>
            </a:solidFill>
            <a:prstDash val="solid"/>
          </a:ln>
        </p:spPr>
      </p:sp>
      <p:sp>
        <p:nvSpPr>
          <p:cNvPr id="17" name="Text 14"/>
          <p:cNvSpPr txBox="1"/>
          <p:nvPr/>
        </p:nvSpPr>
        <p:spPr>
          <a:xfrm>
            <a:off x="1051560" y="4023360"/>
            <a:ext cx="27127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src/ported</a:t>
            </a:r>
            <a:endParaRPr lang="en-US" sz="2200" dirty="0"/>
          </a:p>
        </p:txBody>
      </p:sp>
      <p:sp>
        <p:nvSpPr>
          <p:cNvPr id="18" name="Text 15"/>
          <p:cNvSpPr txBox="1"/>
          <p:nvPr/>
        </p:nvSpPr>
        <p:spPr>
          <a:xfrm>
            <a:off x="1051560" y="4572000"/>
            <a:ext cx="2712720" cy="731520"/>
          </a:xfrm>
          <a:prstGeom prst="rect">
            <a:avLst/>
          </a:prstGeom>
          <a:noFill/>
          <a:ln/>
        </p:spPr>
        <p:txBody>
          <a:bodyPr wrap="square" lIns="0" tIns="0" rIns="0" bIns="0" rtlCol="0" anchor="t"/>
          <a:lstStyle/>
          <a:p>
            <a:pPr indent="0" marL="0">
              <a:buNone/>
            </a:pPr>
            <a:r>
              <a:rPr lang="en-US" sz="1800" dirty="0">
                <a:solidFill>
                  <a:schemeClr val="bg2"/>
                </a:solidFill>
              </a:rPr>
              <a:t>106 files, strict 1:1 with zsh C</a:t>
            </a:r>
            <a:endParaRPr lang="en-US" sz="1800" dirty="0"/>
          </a:p>
        </p:txBody>
      </p:sp>
      <p:sp>
        <p:nvSpPr>
          <p:cNvPr id="19" name="Shape 16"/>
          <p:cNvSpPr/>
          <p:nvPr/>
        </p:nvSpPr>
        <p:spPr>
          <a:xfrm>
            <a:off x="4056888" y="4434840"/>
            <a:ext cx="384048" cy="365760"/>
          </a:xfrm>
          <a:prstGeom prst="rightArrow">
            <a:avLst/>
          </a:prstGeom>
          <a:solidFill>
            <a:schemeClr val="accent3"/>
          </a:solidFill>
          <a:ln w="12700">
            <a:solidFill>
              <a:schemeClr val="accent3"/>
            </a:solidFill>
            <a:prstDash val="solid"/>
          </a:ln>
        </p:spPr>
      </p:sp>
      <p:sp>
        <p:nvSpPr>
          <p:cNvPr id="20" name="Shape 17"/>
          <p:cNvSpPr/>
          <p:nvPr/>
        </p:nvSpPr>
        <p:spPr>
          <a:xfrm>
            <a:off x="4495800" y="3840480"/>
            <a:ext cx="3169920" cy="1554480"/>
          </a:xfrm>
          <a:prstGeom prst="roundRect">
            <a:avLst>
              <a:gd name="adj" fmla="val 7059"/>
            </a:avLst>
          </a:prstGeom>
          <a:solidFill>
            <a:schemeClr val="tx2"/>
          </a:solidFill>
          <a:ln w="12700">
            <a:solidFill>
              <a:srgbClr val="2C3844"/>
            </a:solidFill>
            <a:prstDash val="solid"/>
          </a:ln>
        </p:spPr>
      </p:sp>
      <p:sp>
        <p:nvSpPr>
          <p:cNvPr id="21" name="Text 18"/>
          <p:cNvSpPr txBox="1"/>
          <p:nvPr/>
        </p:nvSpPr>
        <p:spPr>
          <a:xfrm>
            <a:off x="4724400" y="4023360"/>
            <a:ext cx="27127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src/extensions</a:t>
            </a:r>
            <a:endParaRPr lang="en-US" sz="2200" dirty="0"/>
          </a:p>
        </p:txBody>
      </p:sp>
      <p:sp>
        <p:nvSpPr>
          <p:cNvPr id="22" name="Text 19"/>
          <p:cNvSpPr txBox="1"/>
          <p:nvPr/>
        </p:nvSpPr>
        <p:spPr>
          <a:xfrm>
            <a:off x="4724400" y="4572000"/>
            <a:ext cx="2712720" cy="731520"/>
          </a:xfrm>
          <a:prstGeom prst="rect">
            <a:avLst/>
          </a:prstGeom>
          <a:noFill/>
          <a:ln/>
        </p:spPr>
        <p:txBody>
          <a:bodyPr wrap="square" lIns="0" tIns="0" rIns="0" bIns="0" rtlCol="0" anchor="t"/>
          <a:lstStyle/>
          <a:p>
            <a:pPr indent="0" marL="0">
              <a:buNone/>
            </a:pPr>
            <a:r>
              <a:rPr lang="en-US" sz="1800" dirty="0">
                <a:solidFill>
                  <a:schemeClr val="bg2"/>
                </a:solidFill>
              </a:rPr>
              <a:t>116 files, features zsh C lacks</a:t>
            </a:r>
            <a:endParaRPr lang="en-US" sz="1800" dirty="0"/>
          </a:p>
        </p:txBody>
      </p:sp>
      <p:sp>
        <p:nvSpPr>
          <p:cNvPr id="23" name="Shape 20"/>
          <p:cNvSpPr/>
          <p:nvPr/>
        </p:nvSpPr>
        <p:spPr>
          <a:xfrm>
            <a:off x="7729728" y="4434840"/>
            <a:ext cx="384048" cy="365760"/>
          </a:xfrm>
          <a:prstGeom prst="rightArrow">
            <a:avLst/>
          </a:prstGeom>
          <a:solidFill>
            <a:schemeClr val="accent3"/>
          </a:solidFill>
          <a:ln w="12700">
            <a:solidFill>
              <a:schemeClr val="accent3"/>
            </a:solidFill>
            <a:prstDash val="solid"/>
          </a:ln>
        </p:spPr>
      </p:sp>
      <p:sp>
        <p:nvSpPr>
          <p:cNvPr id="24" name="Shape 21"/>
          <p:cNvSpPr/>
          <p:nvPr/>
        </p:nvSpPr>
        <p:spPr>
          <a:xfrm>
            <a:off x="8168640" y="3840480"/>
            <a:ext cx="3169920" cy="1554480"/>
          </a:xfrm>
          <a:prstGeom prst="roundRect">
            <a:avLst>
              <a:gd name="adj" fmla="val 7059"/>
            </a:avLst>
          </a:prstGeom>
          <a:solidFill>
            <a:schemeClr val="tx2"/>
          </a:solidFill>
          <a:ln w="12700">
            <a:solidFill>
              <a:srgbClr val="2C3844"/>
            </a:solidFill>
            <a:prstDash val="solid"/>
          </a:ln>
        </p:spPr>
      </p:sp>
      <p:sp>
        <p:nvSpPr>
          <p:cNvPr id="25" name="Text 22"/>
          <p:cNvSpPr txBox="1"/>
          <p:nvPr/>
        </p:nvSpPr>
        <p:spPr>
          <a:xfrm>
            <a:off x="8397240" y="4023360"/>
            <a:ext cx="27127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src/recorder</a:t>
            </a:r>
            <a:endParaRPr lang="en-US" sz="2200" dirty="0"/>
          </a:p>
        </p:txBody>
      </p:sp>
      <p:sp>
        <p:nvSpPr>
          <p:cNvPr id="26" name="Text 23"/>
          <p:cNvSpPr txBox="1"/>
          <p:nvPr/>
        </p:nvSpPr>
        <p:spPr>
          <a:xfrm>
            <a:off x="8397240" y="4572000"/>
            <a:ext cx="2712720" cy="731520"/>
          </a:xfrm>
          <a:prstGeom prst="rect">
            <a:avLst/>
          </a:prstGeom>
          <a:noFill/>
          <a:ln/>
        </p:spPr>
        <p:txBody>
          <a:bodyPr wrap="square" lIns="0" tIns="0" rIns="0" bIns="0" rtlCol="0" anchor="t"/>
          <a:lstStyle/>
          <a:p>
            <a:pPr indent="0" marL="0">
              <a:buNone/>
            </a:pPr>
            <a:r>
              <a:rPr lang="en-US" sz="1800" dirty="0">
                <a:solidFill>
                  <a:schemeClr val="bg2"/>
                </a:solidFill>
              </a:rPr>
              <a:t>feature-gated config recorder</a:t>
            </a:r>
            <a:endParaRPr lang="en-US" sz="1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Help wanted</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get involved</a:t>
            </a:r>
            <a:endParaRPr lang="en-US" sz="1200" dirty="0"/>
          </a:p>
        </p:txBody>
      </p:sp>
      <p:sp>
        <p:nvSpPr>
          <p:cNvPr id="5" name="Shape 2"/>
          <p:cNvSpPr/>
          <p:nvPr/>
        </p:nvSpPr>
        <p:spPr>
          <a:xfrm>
            <a:off x="822960" y="1600200"/>
            <a:ext cx="10515600" cy="731520"/>
          </a:xfrm>
          <a:prstGeom prst="roundRect">
            <a:avLst>
              <a:gd name="adj" fmla="val 15000"/>
            </a:avLst>
          </a:prstGeom>
          <a:solidFill>
            <a:schemeClr val="tx2"/>
          </a:solidFill>
          <a:ln w="12700">
            <a:solidFill>
              <a:srgbClr val="2C3844"/>
            </a:solidFill>
            <a:prstDash val="solid"/>
          </a:ln>
        </p:spPr>
      </p:sp>
      <p:sp>
        <p:nvSpPr>
          <p:cNvPr id="6" name="Text 3"/>
          <p:cNvSpPr txBox="1"/>
          <p:nvPr/>
        </p:nvSpPr>
        <p:spPr>
          <a:xfrm>
            <a:off x="1097280" y="1600200"/>
            <a:ext cx="548640" cy="731520"/>
          </a:xfrm>
          <a:prstGeom prst="rect">
            <a:avLst/>
          </a:prstGeom>
          <a:noFill/>
          <a:ln/>
        </p:spPr>
        <p:txBody>
          <a:bodyPr wrap="square" lIns="0" tIns="0" rIns="0" bIns="0" rtlCol="0" anchor="ctr"/>
          <a:lstStyle/>
          <a:p>
            <a:pPr indent="0" marL="0">
              <a:buNone/>
            </a:pPr>
            <a:r>
              <a:rPr lang="en-US" sz="2400" b="1" dirty="0">
                <a:solidFill>
                  <a:schemeClr val="accent3"/>
                </a:solidFill>
              </a:rPr>
              <a:t>1</a:t>
            </a:r>
            <a:endParaRPr lang="en-US" sz="2400" dirty="0"/>
          </a:p>
        </p:txBody>
      </p:sp>
      <p:sp>
        <p:nvSpPr>
          <p:cNvPr id="7" name="Text 4"/>
          <p:cNvSpPr txBox="1"/>
          <p:nvPr/>
        </p:nvSpPr>
        <p:spPr>
          <a:xfrm>
            <a:off x="1828800" y="1600200"/>
            <a:ext cx="9144000" cy="731520"/>
          </a:xfrm>
          <a:prstGeom prst="rect">
            <a:avLst/>
          </a:prstGeom>
          <a:noFill/>
          <a:ln/>
        </p:spPr>
        <p:txBody>
          <a:bodyPr wrap="square" lIns="0" tIns="0" rIns="0" bIns="0" rtlCol="0" anchor="ctr"/>
          <a:lstStyle/>
          <a:p>
            <a:pPr indent="0" marL="0">
              <a:buNone/>
            </a:pPr>
            <a:r>
              <a:rPr lang="en-US" sz="2000" dirty="0">
                <a:solidFill>
                  <a:schemeClr val="bg2"/>
                </a:solidFill>
              </a:rPr>
              <a:t>Start using it.</a:t>
            </a:r>
            <a:endParaRPr lang="en-US" sz="2000" dirty="0"/>
          </a:p>
        </p:txBody>
      </p:sp>
      <p:sp>
        <p:nvSpPr>
          <p:cNvPr id="8" name="Shape 5"/>
          <p:cNvSpPr/>
          <p:nvPr/>
        </p:nvSpPr>
        <p:spPr>
          <a:xfrm>
            <a:off x="822960" y="2468880"/>
            <a:ext cx="10515600" cy="731520"/>
          </a:xfrm>
          <a:prstGeom prst="roundRect">
            <a:avLst>
              <a:gd name="adj" fmla="val 15000"/>
            </a:avLst>
          </a:prstGeom>
          <a:solidFill>
            <a:schemeClr val="tx2"/>
          </a:solidFill>
          <a:ln w="12700">
            <a:solidFill>
              <a:srgbClr val="2C3844"/>
            </a:solidFill>
            <a:prstDash val="solid"/>
          </a:ln>
        </p:spPr>
      </p:sp>
      <p:sp>
        <p:nvSpPr>
          <p:cNvPr id="9" name="Text 6"/>
          <p:cNvSpPr txBox="1"/>
          <p:nvPr/>
        </p:nvSpPr>
        <p:spPr>
          <a:xfrm>
            <a:off x="1097280" y="2468880"/>
            <a:ext cx="548640" cy="731520"/>
          </a:xfrm>
          <a:prstGeom prst="rect">
            <a:avLst/>
          </a:prstGeom>
          <a:noFill/>
          <a:ln/>
        </p:spPr>
        <p:txBody>
          <a:bodyPr wrap="square" lIns="0" tIns="0" rIns="0" bIns="0" rtlCol="0" anchor="ctr"/>
          <a:lstStyle/>
          <a:p>
            <a:pPr indent="0" marL="0">
              <a:buNone/>
            </a:pPr>
            <a:r>
              <a:rPr lang="en-US" sz="2400" b="1" dirty="0">
                <a:solidFill>
                  <a:schemeClr val="accent3"/>
                </a:solidFill>
              </a:rPr>
              <a:t>2</a:t>
            </a:r>
            <a:endParaRPr lang="en-US" sz="2400" dirty="0"/>
          </a:p>
        </p:txBody>
      </p:sp>
      <p:sp>
        <p:nvSpPr>
          <p:cNvPr id="10" name="Text 7"/>
          <p:cNvSpPr txBox="1"/>
          <p:nvPr/>
        </p:nvSpPr>
        <p:spPr>
          <a:xfrm>
            <a:off x="1828800" y="2468880"/>
            <a:ext cx="9144000" cy="731520"/>
          </a:xfrm>
          <a:prstGeom prst="rect">
            <a:avLst/>
          </a:prstGeom>
          <a:noFill/>
          <a:ln/>
        </p:spPr>
        <p:txBody>
          <a:bodyPr wrap="square" lIns="0" tIns="0" rIns="0" bIns="0" rtlCol="0" anchor="ctr"/>
          <a:lstStyle/>
          <a:p>
            <a:pPr indent="0" marL="0">
              <a:buNone/>
            </a:pPr>
            <a:r>
              <a:rPr lang="en-US" sz="2000" dirty="0">
                <a:solidFill>
                  <a:schemeClr val="bg2"/>
                </a:solidFill>
              </a:rPr>
              <a:t>Sanity check the code parity.</a:t>
            </a:r>
            <a:endParaRPr lang="en-US" sz="2000" dirty="0"/>
          </a:p>
        </p:txBody>
      </p:sp>
      <p:sp>
        <p:nvSpPr>
          <p:cNvPr id="11" name="Shape 8"/>
          <p:cNvSpPr/>
          <p:nvPr/>
        </p:nvSpPr>
        <p:spPr>
          <a:xfrm>
            <a:off x="822960" y="3337560"/>
            <a:ext cx="10515600" cy="731520"/>
          </a:xfrm>
          <a:prstGeom prst="roundRect">
            <a:avLst>
              <a:gd name="adj" fmla="val 15000"/>
            </a:avLst>
          </a:prstGeom>
          <a:solidFill>
            <a:schemeClr val="tx2"/>
          </a:solidFill>
          <a:ln w="12700">
            <a:solidFill>
              <a:srgbClr val="2C3844"/>
            </a:solidFill>
            <a:prstDash val="solid"/>
          </a:ln>
        </p:spPr>
      </p:sp>
      <p:sp>
        <p:nvSpPr>
          <p:cNvPr id="12" name="Text 9"/>
          <p:cNvSpPr txBox="1"/>
          <p:nvPr/>
        </p:nvSpPr>
        <p:spPr>
          <a:xfrm>
            <a:off x="1097280" y="3337560"/>
            <a:ext cx="548640" cy="731520"/>
          </a:xfrm>
          <a:prstGeom prst="rect">
            <a:avLst/>
          </a:prstGeom>
          <a:noFill/>
          <a:ln/>
        </p:spPr>
        <p:txBody>
          <a:bodyPr wrap="square" lIns="0" tIns="0" rIns="0" bIns="0" rtlCol="0" anchor="ctr"/>
          <a:lstStyle/>
          <a:p>
            <a:pPr indent="0" marL="0">
              <a:buNone/>
            </a:pPr>
            <a:r>
              <a:rPr lang="en-US" sz="2400" b="1" dirty="0">
                <a:solidFill>
                  <a:schemeClr val="accent3"/>
                </a:solidFill>
              </a:rPr>
              <a:t>3</a:t>
            </a:r>
            <a:endParaRPr lang="en-US" sz="2400" dirty="0"/>
          </a:p>
        </p:txBody>
      </p:sp>
      <p:sp>
        <p:nvSpPr>
          <p:cNvPr id="13" name="Text 10"/>
          <p:cNvSpPr txBox="1"/>
          <p:nvPr/>
        </p:nvSpPr>
        <p:spPr>
          <a:xfrm>
            <a:off x="1828800" y="3337560"/>
            <a:ext cx="9144000" cy="731520"/>
          </a:xfrm>
          <a:prstGeom prst="rect">
            <a:avLst/>
          </a:prstGeom>
          <a:noFill/>
          <a:ln/>
        </p:spPr>
        <p:txBody>
          <a:bodyPr wrap="square" lIns="0" tIns="0" rIns="0" bIns="0" rtlCol="0" anchor="ctr"/>
          <a:lstStyle/>
          <a:p>
            <a:pPr indent="0" marL="0">
              <a:buNone/>
            </a:pPr>
            <a:r>
              <a:rPr lang="en-US" sz="2000" dirty="0">
                <a:solidFill>
                  <a:schemeClr val="bg2"/>
                </a:solidFill>
              </a:rPr>
              <a:t>Review security, performance, energy use and hardware needs.</a:t>
            </a:r>
            <a:endParaRPr lang="en-US" sz="2000" dirty="0"/>
          </a:p>
        </p:txBody>
      </p:sp>
      <p:sp>
        <p:nvSpPr>
          <p:cNvPr id="14" name="Shape 11"/>
          <p:cNvSpPr/>
          <p:nvPr/>
        </p:nvSpPr>
        <p:spPr>
          <a:xfrm>
            <a:off x="822960" y="4206240"/>
            <a:ext cx="10515600" cy="731520"/>
          </a:xfrm>
          <a:prstGeom prst="roundRect">
            <a:avLst>
              <a:gd name="adj" fmla="val 15000"/>
            </a:avLst>
          </a:prstGeom>
          <a:solidFill>
            <a:schemeClr val="tx2"/>
          </a:solidFill>
          <a:ln w="12700">
            <a:solidFill>
              <a:srgbClr val="2C3844"/>
            </a:solidFill>
            <a:prstDash val="solid"/>
          </a:ln>
        </p:spPr>
      </p:sp>
      <p:sp>
        <p:nvSpPr>
          <p:cNvPr id="15" name="Text 12"/>
          <p:cNvSpPr txBox="1"/>
          <p:nvPr/>
        </p:nvSpPr>
        <p:spPr>
          <a:xfrm>
            <a:off x="1097280" y="4206240"/>
            <a:ext cx="548640" cy="731520"/>
          </a:xfrm>
          <a:prstGeom prst="rect">
            <a:avLst/>
          </a:prstGeom>
          <a:noFill/>
          <a:ln/>
        </p:spPr>
        <p:txBody>
          <a:bodyPr wrap="square" lIns="0" tIns="0" rIns="0" bIns="0" rtlCol="0" anchor="ctr"/>
          <a:lstStyle/>
          <a:p>
            <a:pPr indent="0" marL="0">
              <a:buNone/>
            </a:pPr>
            <a:r>
              <a:rPr lang="en-US" sz="2400" b="1" dirty="0">
                <a:solidFill>
                  <a:schemeClr val="accent3"/>
                </a:solidFill>
              </a:rPr>
              <a:t>4</a:t>
            </a:r>
            <a:endParaRPr lang="en-US" sz="2400" dirty="0"/>
          </a:p>
        </p:txBody>
      </p:sp>
      <p:sp>
        <p:nvSpPr>
          <p:cNvPr id="16" name="Text 13"/>
          <p:cNvSpPr txBox="1"/>
          <p:nvPr/>
        </p:nvSpPr>
        <p:spPr>
          <a:xfrm>
            <a:off x="1828800" y="4206240"/>
            <a:ext cx="9144000" cy="731520"/>
          </a:xfrm>
          <a:prstGeom prst="rect">
            <a:avLst/>
          </a:prstGeom>
          <a:noFill/>
          <a:ln/>
        </p:spPr>
        <p:txBody>
          <a:bodyPr wrap="square" lIns="0" tIns="0" rIns="0" bIns="0" rtlCol="0" anchor="ctr"/>
          <a:lstStyle/>
          <a:p>
            <a:pPr indent="0" marL="0">
              <a:buNone/>
            </a:pPr>
            <a:r>
              <a:rPr lang="en-US" sz="2000" dirty="0">
                <a:solidFill>
                  <a:schemeClr val="bg2"/>
                </a:solidFill>
              </a:rPr>
              <a:t>Open issues.</a:t>
            </a:r>
            <a:endParaRPr lang="en-US" sz="2000" dirty="0"/>
          </a:p>
        </p:txBody>
      </p:sp>
      <p:sp>
        <p:nvSpPr>
          <p:cNvPr id="17" name="Shape 14"/>
          <p:cNvSpPr/>
          <p:nvPr/>
        </p:nvSpPr>
        <p:spPr>
          <a:xfrm>
            <a:off x="822960" y="5074920"/>
            <a:ext cx="10515600" cy="731520"/>
          </a:xfrm>
          <a:prstGeom prst="roundRect">
            <a:avLst>
              <a:gd name="adj" fmla="val 15000"/>
            </a:avLst>
          </a:prstGeom>
          <a:solidFill>
            <a:schemeClr val="tx2"/>
          </a:solidFill>
          <a:ln w="12700">
            <a:solidFill>
              <a:srgbClr val="2C3844"/>
            </a:solidFill>
            <a:prstDash val="solid"/>
          </a:ln>
        </p:spPr>
      </p:sp>
      <p:sp>
        <p:nvSpPr>
          <p:cNvPr id="18" name="Text 15"/>
          <p:cNvSpPr txBox="1"/>
          <p:nvPr/>
        </p:nvSpPr>
        <p:spPr>
          <a:xfrm>
            <a:off x="1097280" y="5074920"/>
            <a:ext cx="548640" cy="731520"/>
          </a:xfrm>
          <a:prstGeom prst="rect">
            <a:avLst/>
          </a:prstGeom>
          <a:noFill/>
          <a:ln/>
        </p:spPr>
        <p:txBody>
          <a:bodyPr wrap="square" lIns="0" tIns="0" rIns="0" bIns="0" rtlCol="0" anchor="ctr"/>
          <a:lstStyle/>
          <a:p>
            <a:pPr indent="0" marL="0">
              <a:buNone/>
            </a:pPr>
            <a:r>
              <a:rPr lang="en-US" sz="2400" b="1" dirty="0">
                <a:solidFill>
                  <a:schemeClr val="accent3"/>
                </a:solidFill>
              </a:rPr>
              <a:t>5</a:t>
            </a:r>
            <a:endParaRPr lang="en-US" sz="2400" dirty="0"/>
          </a:p>
        </p:txBody>
      </p:sp>
      <p:sp>
        <p:nvSpPr>
          <p:cNvPr id="19" name="Text 16"/>
          <p:cNvSpPr txBox="1"/>
          <p:nvPr/>
        </p:nvSpPr>
        <p:spPr>
          <a:xfrm>
            <a:off x="1828800" y="5074920"/>
            <a:ext cx="9144000" cy="731520"/>
          </a:xfrm>
          <a:prstGeom prst="rect">
            <a:avLst/>
          </a:prstGeom>
          <a:noFill/>
          <a:ln/>
        </p:spPr>
        <p:txBody>
          <a:bodyPr wrap="square" lIns="0" tIns="0" rIns="0" bIns="0" rtlCol="0" anchor="ctr"/>
          <a:lstStyle/>
          <a:p>
            <a:pPr indent="0" marL="0">
              <a:buNone/>
            </a:pPr>
            <a:r>
              <a:rPr lang="en-US" sz="2000" dirty="0">
                <a:solidFill>
                  <a:schemeClr val="bg2"/>
                </a:solidFill>
              </a:rPr>
              <a:t>Get involved and ask questions.</a:t>
            </a:r>
            <a:endParaRPr lang="en-US" sz="20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Where a reviewer can start</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get involved</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15600" cy="914400"/>
        </p:xfrm>
        <a:graphic>
          <a:graphicData uri="http://schemas.openxmlformats.org/drawingml/2006/table">
            <a:tbl>
              <a:tblPr/>
              <a:tblGrid>
                <a:gridCol w="2377440"/>
                <a:gridCol w="3931920"/>
                <a:gridCol w="4206240"/>
              </a:tblGrid>
              <a:tr h="566928">
                <a:tc>
                  <a:txBody>
                    <a:bodyPr/>
                    <a:lstStyle/>
                    <a:p>
                      <a:pPr indent="0" marL="0">
                        <a:buNone/>
                      </a:pPr>
                      <a:r>
                        <a:rPr lang="en-US" sz="1800" b="1" dirty="0">
                          <a:solidFill>
                            <a:schemeClr val="accent2"/>
                          </a:solidFill>
                        </a:rPr>
                        <a:t>Lens</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b="1" dirty="0">
                          <a:solidFill>
                            <a:schemeClr val="accent2"/>
                          </a:solidFill>
                        </a:rPr>
                        <a:t>Look at</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b="1" dirty="0">
                          <a:solidFill>
                            <a:schemeClr val="accent2"/>
                          </a:solidFill>
                        </a:rPr>
                        <a:t>Why</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1800" dirty="0">
                          <a:solidFill>
                            <a:schemeClr val="accent4"/>
                          </a:solidFill>
                        </a:rPr>
                        <a:t>Parity</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docs/PARITY.md, tests/</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Re-run the suites on your machine</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1800" dirty="0">
                          <a:solidFill>
                            <a:schemeClr val="accent4"/>
                          </a:solidFill>
                        </a:rPr>
                        <a:t>Security</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docs/PLUGINS.md, docs/DAEMON.md</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Native plugin loading, daemon socket</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1800" dirty="0">
                          <a:solidFill>
                            <a:schemeClr val="accent4"/>
                          </a:solidFill>
                        </a:rPr>
                        <a:t>Performance</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docs/hot_path_performance.md</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Measured gaps and backlog</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1800" dirty="0">
                          <a:solidFill>
                            <a:schemeClr val="accent4"/>
                          </a:solidFill>
                        </a:rPr>
                        <a:t>Energy and hardware</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zsh-bench, ps -o rss=</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Startup cost, memory, other CPUs</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1800" dirty="0">
                          <a:solidFill>
                            <a:schemeClr val="accent4"/>
                          </a:solidFill>
                        </a:rPr>
                        <a:t>Compatibility</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your own .zshrc</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Does your config load and behave?</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fusevm: the engine</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engine</a:t>
            </a:r>
            <a:endParaRPr lang="en-US" sz="1200" dirty="0"/>
          </a:p>
        </p:txBody>
      </p:sp>
      <p:sp>
        <p:nvSpPr>
          <p:cNvPr id="5" name="Shape 2"/>
          <p:cNvSpPr/>
          <p:nvPr/>
        </p:nvSpPr>
        <p:spPr>
          <a:xfrm>
            <a:off x="822960" y="1737360"/>
            <a:ext cx="3169920" cy="1645920"/>
          </a:xfrm>
          <a:prstGeom prst="roundRect">
            <a:avLst>
              <a:gd name="adj" fmla="val 6667"/>
            </a:avLst>
          </a:prstGeom>
          <a:solidFill>
            <a:schemeClr val="tx2"/>
          </a:solidFill>
          <a:ln w="12700">
            <a:solidFill>
              <a:srgbClr val="2C3844"/>
            </a:solidFill>
            <a:prstDash val="solid"/>
          </a:ln>
        </p:spPr>
      </p:sp>
      <p:sp>
        <p:nvSpPr>
          <p:cNvPr id="6" name="Text 3"/>
          <p:cNvSpPr txBox="1"/>
          <p:nvPr/>
        </p:nvSpPr>
        <p:spPr>
          <a:xfrm>
            <a:off x="1051560" y="1920240"/>
            <a:ext cx="27127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Parse</a:t>
            </a:r>
            <a:endParaRPr lang="en-US" sz="2200" dirty="0"/>
          </a:p>
        </p:txBody>
      </p:sp>
      <p:sp>
        <p:nvSpPr>
          <p:cNvPr id="7" name="Text 4"/>
          <p:cNvSpPr txBox="1"/>
          <p:nvPr/>
        </p:nvSpPr>
        <p:spPr>
          <a:xfrm>
            <a:off x="1051560" y="2468880"/>
            <a:ext cx="2712720" cy="822960"/>
          </a:xfrm>
          <a:prstGeom prst="rect">
            <a:avLst/>
          </a:prstGeom>
          <a:noFill/>
          <a:ln/>
        </p:spPr>
        <p:txBody>
          <a:bodyPr wrap="square" lIns="0" tIns="0" rIns="0" bIns="0" rtlCol="0" anchor="t"/>
          <a:lstStyle/>
          <a:p>
            <a:pPr indent="0" marL="0">
              <a:buNone/>
            </a:pPr>
            <a:r>
              <a:rPr lang="en-US" sz="1800" dirty="0">
                <a:solidFill>
                  <a:schemeClr val="bg2"/>
                </a:solidFill>
              </a:rPr>
              <a:t>zsh source to AST</a:t>
            </a:r>
            <a:endParaRPr lang="en-US" sz="1800" dirty="0"/>
          </a:p>
        </p:txBody>
      </p:sp>
      <p:sp>
        <p:nvSpPr>
          <p:cNvPr id="8" name="Shape 5"/>
          <p:cNvSpPr/>
          <p:nvPr/>
        </p:nvSpPr>
        <p:spPr>
          <a:xfrm>
            <a:off x="4056888" y="2377440"/>
            <a:ext cx="384048" cy="365760"/>
          </a:xfrm>
          <a:prstGeom prst="rightArrow">
            <a:avLst/>
          </a:prstGeom>
          <a:solidFill>
            <a:schemeClr val="accent3"/>
          </a:solidFill>
          <a:ln w="12700">
            <a:solidFill>
              <a:schemeClr val="accent3"/>
            </a:solidFill>
            <a:prstDash val="solid"/>
          </a:ln>
        </p:spPr>
      </p:sp>
      <p:sp>
        <p:nvSpPr>
          <p:cNvPr id="9" name="Shape 6"/>
          <p:cNvSpPr/>
          <p:nvPr/>
        </p:nvSpPr>
        <p:spPr>
          <a:xfrm>
            <a:off x="4495800" y="1737360"/>
            <a:ext cx="3169920" cy="1645920"/>
          </a:xfrm>
          <a:prstGeom prst="roundRect">
            <a:avLst>
              <a:gd name="adj" fmla="val 6667"/>
            </a:avLst>
          </a:prstGeom>
          <a:solidFill>
            <a:schemeClr val="tx2"/>
          </a:solidFill>
          <a:ln w="12700">
            <a:solidFill>
              <a:srgbClr val="2C3844"/>
            </a:solidFill>
            <a:prstDash val="solid"/>
          </a:ln>
        </p:spPr>
      </p:sp>
      <p:sp>
        <p:nvSpPr>
          <p:cNvPr id="10" name="Text 7"/>
          <p:cNvSpPr txBox="1"/>
          <p:nvPr/>
        </p:nvSpPr>
        <p:spPr>
          <a:xfrm>
            <a:off x="4724400" y="1920240"/>
            <a:ext cx="27127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Bytecode</a:t>
            </a:r>
            <a:endParaRPr lang="en-US" sz="2200" dirty="0"/>
          </a:p>
        </p:txBody>
      </p:sp>
      <p:sp>
        <p:nvSpPr>
          <p:cNvPr id="11" name="Text 8"/>
          <p:cNvSpPr txBox="1"/>
          <p:nvPr/>
        </p:nvSpPr>
        <p:spPr>
          <a:xfrm>
            <a:off x="4724400" y="2468880"/>
            <a:ext cx="2712720" cy="822960"/>
          </a:xfrm>
          <a:prstGeom prst="rect">
            <a:avLst/>
          </a:prstGeom>
          <a:noFill/>
          <a:ln/>
        </p:spPr>
        <p:txBody>
          <a:bodyPr wrap="square" lIns="0" tIns="0" rIns="0" bIns="0" rtlCol="0" anchor="t"/>
          <a:lstStyle/>
          <a:p>
            <a:pPr indent="0" marL="0">
              <a:buNone/>
            </a:pPr>
            <a:r>
              <a:rPr lang="en-US" sz="1800" dirty="0">
                <a:solidFill>
                  <a:schemeClr val="bg2"/>
                </a:solidFill>
              </a:rPr>
              <a:t>fused superinstructions</a:t>
            </a:r>
            <a:endParaRPr lang="en-US" sz="1800" dirty="0"/>
          </a:p>
        </p:txBody>
      </p:sp>
      <p:sp>
        <p:nvSpPr>
          <p:cNvPr id="12" name="Shape 9"/>
          <p:cNvSpPr/>
          <p:nvPr/>
        </p:nvSpPr>
        <p:spPr>
          <a:xfrm>
            <a:off x="7729728" y="2377440"/>
            <a:ext cx="384048" cy="365760"/>
          </a:xfrm>
          <a:prstGeom prst="rightArrow">
            <a:avLst/>
          </a:prstGeom>
          <a:solidFill>
            <a:schemeClr val="accent3"/>
          </a:solidFill>
          <a:ln w="12700">
            <a:solidFill>
              <a:schemeClr val="accent3"/>
            </a:solidFill>
            <a:prstDash val="solid"/>
          </a:ln>
        </p:spPr>
      </p:sp>
      <p:sp>
        <p:nvSpPr>
          <p:cNvPr id="13" name="Shape 10"/>
          <p:cNvSpPr/>
          <p:nvPr/>
        </p:nvSpPr>
        <p:spPr>
          <a:xfrm>
            <a:off x="8168640" y="1737360"/>
            <a:ext cx="3169920" cy="1645920"/>
          </a:xfrm>
          <a:prstGeom prst="roundRect">
            <a:avLst>
              <a:gd name="adj" fmla="val 6667"/>
            </a:avLst>
          </a:prstGeom>
          <a:solidFill>
            <a:schemeClr val="tx2"/>
          </a:solidFill>
          <a:ln w="12700">
            <a:solidFill>
              <a:srgbClr val="2C3844"/>
            </a:solidFill>
            <a:prstDash val="solid"/>
          </a:ln>
        </p:spPr>
      </p:sp>
      <p:sp>
        <p:nvSpPr>
          <p:cNvPr id="14" name="Text 11"/>
          <p:cNvSpPr txBox="1"/>
          <p:nvPr/>
        </p:nvSpPr>
        <p:spPr>
          <a:xfrm>
            <a:off x="8397240" y="1920240"/>
            <a:ext cx="27127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JIT</a:t>
            </a:r>
            <a:endParaRPr lang="en-US" sz="2200" dirty="0"/>
          </a:p>
        </p:txBody>
      </p:sp>
      <p:sp>
        <p:nvSpPr>
          <p:cNvPr id="15" name="Text 12"/>
          <p:cNvSpPr txBox="1"/>
          <p:nvPr/>
        </p:nvSpPr>
        <p:spPr>
          <a:xfrm>
            <a:off x="8397240" y="2468880"/>
            <a:ext cx="2712720" cy="822960"/>
          </a:xfrm>
          <a:prstGeom prst="rect">
            <a:avLst/>
          </a:prstGeom>
          <a:noFill/>
          <a:ln/>
        </p:spPr>
        <p:txBody>
          <a:bodyPr wrap="square" lIns="0" tIns="0" rIns="0" bIns="0" rtlCol="0" anchor="t"/>
          <a:lstStyle/>
          <a:p>
            <a:pPr indent="0" marL="0">
              <a:buNone/>
            </a:pPr>
            <a:r>
              <a:rPr lang="en-US" sz="1800" dirty="0">
                <a:solidFill>
                  <a:schemeClr val="bg2"/>
                </a:solidFill>
              </a:rPr>
              <a:t>Cranelift, hot blocks to x86-64 / aarch64</a:t>
            </a:r>
            <a:endParaRPr lang="en-US" sz="1800" dirty="0"/>
          </a:p>
        </p:txBody>
      </p:sp>
      <p:sp>
        <p:nvSpPr>
          <p:cNvPr id="16" name="Text 13"/>
          <p:cNvSpPr txBox="1"/>
          <p:nvPr/>
        </p:nvSpPr>
        <p:spPr>
          <a:xfrm>
            <a:off x="822960" y="3840480"/>
            <a:ext cx="10515600" cy="210312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bg2"/>
                </a:solidFill>
              </a:rPr>
              <a:t>Bytecode cached across processes in rkyv images, read by mmap</a:t>
            </a:r>
            <a:endParaRPr lang="en-US" sz="2200" dirty="0"/>
          </a:p>
          <a:p>
            <a:pPr marL="342900" indent="-342900">
              <a:spcAft>
                <a:spcPts val="1000"/>
              </a:spcAft>
              <a:buSzPct val="100000"/>
              <a:buChar char="•"/>
            </a:pPr>
            <a:r>
              <a:rPr lang="en-US" sz="2200" dirty="0">
                <a:solidFill>
                  <a:schemeClr val="bg2"/>
                </a:solidFill>
              </a:rPr>
              <a:t>Native code persisted across launches in a .fjit disk cache</a:t>
            </a:r>
            <a:endParaRPr lang="en-US" sz="2200" dirty="0"/>
          </a:p>
          <a:p>
            <a:pPr marL="342900" indent="-342900">
              <a:spcAft>
                <a:spcPts val="1000"/>
              </a:spcAft>
              <a:buSzPct val="100000"/>
              <a:buChar char="•"/>
            </a:pPr>
            <a:r>
              <a:rPr lang="en-US" sz="2200" dirty="0">
                <a:solidFill>
                  <a:schemeClr val="bg2"/>
                </a:solidFill>
              </a:rPr>
              <a:t>--tiers reports which tier ran each chunk and why a loop stayed interpreted</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In-process work, no fork</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engine</a:t>
            </a:r>
            <a:endParaRPr lang="en-US" sz="1200" dirty="0"/>
          </a:p>
        </p:txBody>
      </p:sp>
      <p:sp>
        <p:nvSpPr>
          <p:cNvPr id="5" name="Shape 2"/>
          <p:cNvSpPr/>
          <p:nvPr/>
        </p:nvSpPr>
        <p:spPr>
          <a:xfrm>
            <a:off x="822960" y="1737360"/>
            <a:ext cx="3291840" cy="2194560"/>
          </a:xfrm>
          <a:prstGeom prst="roundRect">
            <a:avLst>
              <a:gd name="adj" fmla="val 5000"/>
            </a:avLst>
          </a:prstGeom>
          <a:solidFill>
            <a:schemeClr val="accent4"/>
          </a:solidFill>
          <a:ln w="12700">
            <a:solidFill>
              <a:schemeClr val="accent4"/>
            </a:solidFill>
            <a:prstDash val="solid"/>
          </a:ln>
        </p:spPr>
      </p:sp>
      <p:sp>
        <p:nvSpPr>
          <p:cNvPr id="6" name="Text 3"/>
          <p:cNvSpPr txBox="1"/>
          <p:nvPr/>
        </p:nvSpPr>
        <p:spPr>
          <a:xfrm>
            <a:off x="1097280" y="1920240"/>
            <a:ext cx="274320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2-18</a:t>
            </a:r>
            <a:endParaRPr lang="en-US" sz="4400" dirty="0"/>
          </a:p>
        </p:txBody>
      </p:sp>
      <p:sp>
        <p:nvSpPr>
          <p:cNvPr id="7" name="Text 4"/>
          <p:cNvSpPr txBox="1"/>
          <p:nvPr/>
        </p:nvSpPr>
        <p:spPr>
          <a:xfrm>
            <a:off x="1097280" y="2788920"/>
            <a:ext cx="2743200" cy="1005840"/>
          </a:xfrm>
          <a:prstGeom prst="rect">
            <a:avLst/>
          </a:prstGeom>
          <a:noFill/>
          <a:ln/>
        </p:spPr>
        <p:txBody>
          <a:bodyPr wrap="square" lIns="0" tIns="0" rIns="0" bIns="0" rtlCol="0" anchor="t"/>
          <a:lstStyle/>
          <a:p>
            <a:pPr indent="0" marL="0">
              <a:buNone/>
            </a:pPr>
            <a:r>
              <a:rPr lang="en-US" sz="1800" dirty="0">
                <a:solidFill>
                  <a:schemeClr val="bg2"/>
                </a:solidFill>
              </a:rPr>
              <a:t>worker threads in the persistent pool</a:t>
            </a:r>
            <a:endParaRPr lang="en-US" sz="1800" dirty="0"/>
          </a:p>
        </p:txBody>
      </p:sp>
      <p:sp>
        <p:nvSpPr>
          <p:cNvPr id="8" name="Shape 5"/>
          <p:cNvSpPr/>
          <p:nvPr/>
        </p:nvSpPr>
        <p:spPr>
          <a:xfrm>
            <a:off x="4434840" y="1737360"/>
            <a:ext cx="3291840" cy="2194560"/>
          </a:xfrm>
          <a:prstGeom prst="roundRect">
            <a:avLst>
              <a:gd name="adj" fmla="val 5000"/>
            </a:avLst>
          </a:prstGeom>
          <a:solidFill>
            <a:schemeClr val="accent4"/>
          </a:solidFill>
          <a:ln w="12700">
            <a:solidFill>
              <a:schemeClr val="accent4"/>
            </a:solidFill>
            <a:prstDash val="solid"/>
          </a:ln>
        </p:spPr>
      </p:sp>
      <p:sp>
        <p:nvSpPr>
          <p:cNvPr id="9" name="Text 6"/>
          <p:cNvSpPr txBox="1"/>
          <p:nvPr/>
        </p:nvSpPr>
        <p:spPr>
          <a:xfrm>
            <a:off x="4709160" y="1920240"/>
            <a:ext cx="274320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48</a:t>
            </a:r>
            <a:endParaRPr lang="en-US" sz="4400" dirty="0"/>
          </a:p>
        </p:txBody>
      </p:sp>
      <p:sp>
        <p:nvSpPr>
          <p:cNvPr id="10" name="Text 7"/>
          <p:cNvSpPr txBox="1"/>
          <p:nvPr/>
        </p:nvSpPr>
        <p:spPr>
          <a:xfrm>
            <a:off x="4709160" y="2788920"/>
            <a:ext cx="2743200" cy="1005840"/>
          </a:xfrm>
          <a:prstGeom prst="rect">
            <a:avLst/>
          </a:prstGeom>
          <a:noFill/>
          <a:ln/>
        </p:spPr>
        <p:txBody>
          <a:bodyPr wrap="square" lIns="0" tIns="0" rIns="0" bIns="0" rtlCol="0" anchor="t"/>
          <a:lstStyle/>
          <a:p>
            <a:pPr indent="0" marL="0">
              <a:buNone/>
            </a:pPr>
            <a:r>
              <a:rPr lang="en-US" sz="1800" dirty="0">
                <a:solidFill>
                  <a:schemeClr val="bg2"/>
                </a:solidFill>
              </a:rPr>
              <a:t>coreutils commands run in-process</a:t>
            </a:r>
            <a:endParaRPr lang="en-US" sz="1800" dirty="0"/>
          </a:p>
        </p:txBody>
      </p:sp>
      <p:sp>
        <p:nvSpPr>
          <p:cNvPr id="11" name="Shape 8"/>
          <p:cNvSpPr/>
          <p:nvPr/>
        </p:nvSpPr>
        <p:spPr>
          <a:xfrm>
            <a:off x="8046720" y="1737360"/>
            <a:ext cx="3291840" cy="2194560"/>
          </a:xfrm>
          <a:prstGeom prst="roundRect">
            <a:avLst>
              <a:gd name="adj" fmla="val 5000"/>
            </a:avLst>
          </a:prstGeom>
          <a:solidFill>
            <a:schemeClr val="accent4"/>
          </a:solidFill>
          <a:ln w="12700">
            <a:solidFill>
              <a:schemeClr val="accent4"/>
            </a:solidFill>
            <a:prstDash val="solid"/>
          </a:ln>
        </p:spPr>
      </p:sp>
      <p:sp>
        <p:nvSpPr>
          <p:cNvPr id="12" name="Text 9"/>
          <p:cNvSpPr txBox="1"/>
          <p:nvPr/>
        </p:nvSpPr>
        <p:spPr>
          <a:xfrm>
            <a:off x="8321040" y="1920240"/>
            <a:ext cx="2743200" cy="82296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0</a:t>
            </a:r>
            <a:endParaRPr lang="en-US" sz="4400" dirty="0"/>
          </a:p>
        </p:txBody>
      </p:sp>
      <p:sp>
        <p:nvSpPr>
          <p:cNvPr id="13" name="Text 10"/>
          <p:cNvSpPr txBox="1"/>
          <p:nvPr/>
        </p:nvSpPr>
        <p:spPr>
          <a:xfrm>
            <a:off x="8321040" y="2788920"/>
            <a:ext cx="2743200" cy="1005840"/>
          </a:xfrm>
          <a:prstGeom prst="rect">
            <a:avLst/>
          </a:prstGeom>
          <a:noFill/>
          <a:ln/>
        </p:spPr>
        <p:txBody>
          <a:bodyPr wrap="square" lIns="0" tIns="0" rIns="0" bIns="0" rtlCol="0" anchor="t"/>
          <a:lstStyle/>
          <a:p>
            <a:pPr indent="0" marL="0">
              <a:buNone/>
            </a:pPr>
            <a:r>
              <a:rPr lang="en-US" sz="1800" dirty="0">
                <a:solidFill>
                  <a:schemeClr val="bg2"/>
                </a:solidFill>
              </a:rPr>
              <a:t>forks for command substitution on the pool</a:t>
            </a:r>
            <a:endParaRPr lang="en-US" sz="1800" dirty="0"/>
          </a:p>
        </p:txBody>
      </p:sp>
      <p:sp>
        <p:nvSpPr>
          <p:cNvPr id="14" name="Text 11"/>
          <p:cNvSpPr txBox="1"/>
          <p:nvPr/>
        </p:nvSpPr>
        <p:spPr>
          <a:xfrm>
            <a:off x="822960" y="4297680"/>
            <a:ext cx="10515600" cy="146304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accent4"/>
                </a:solidFill>
              </a:rPr>
              <a:t>Command and process substitution, globbing, completion, autoload run on pooled threads</a:t>
            </a:r>
            <a:endParaRPr lang="en-US" sz="2200" dirty="0"/>
          </a:p>
          <a:p>
            <a:pPr marL="342900" indent="-342900">
              <a:spcAft>
                <a:spcPts val="1000"/>
              </a:spcAft>
              <a:buSzPct val="100000"/>
              <a:buChar char="•"/>
            </a:pPr>
            <a:r>
              <a:rPr lang="en-US" sz="2200" dirty="0">
                <a:solidFill>
                  <a:schemeClr val="accent4"/>
                </a:solidFill>
              </a:rPr>
              <a:t>pmap, pgrep, peach, barrier, async and await are shell builtins, not external tools</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Why it matters to you</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measurements</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15600" cy="914400"/>
        </p:xfrm>
        <a:graphic>
          <a:graphicData uri="http://schemas.openxmlformats.org/drawingml/2006/table">
            <a:tbl>
              <a:tblPr/>
              <a:tblGrid>
                <a:gridCol w="2926080"/>
                <a:gridCol w="3657600"/>
                <a:gridCol w="2011680"/>
                <a:gridCol w="1920240"/>
              </a:tblGrid>
              <a:tr h="566928">
                <a:tc>
                  <a:txBody>
                    <a:bodyPr/>
                    <a:lstStyle/>
                    <a:p>
                      <a:pPr indent="0" marL="0">
                        <a:buNone/>
                      </a:pPr>
                      <a:r>
                        <a:rPr lang="en-US" sz="1800" b="1" dirty="0">
                          <a:solidFill>
                            <a:schemeClr val="accent1"/>
                          </a:solidFill>
                        </a:rPr>
                        <a:t>Measure</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b="1" dirty="0">
                          <a:solidFill>
                            <a:schemeClr val="accent1"/>
                          </a:solidFill>
                        </a:rPr>
                        <a:t>What it is</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b="1" dirty="0">
                          <a:solidFill>
                            <a:schemeClr val="accent1"/>
                          </a:solidFill>
                        </a:rPr>
                        <a:t>Target</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b="1" dirty="0">
                          <a:solidFill>
                            <a:schemeClr val="accent1"/>
                          </a:solidFill>
                        </a:rPr>
                        <a:t>Measured</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1800" dirty="0">
                          <a:solidFill>
                            <a:schemeClr val="bg2"/>
                          </a:solidFill>
                        </a:rPr>
                        <a:t>Prompt appears</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Open terminal to prompt</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50 ms or less</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[measure]</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1800" dirty="0">
                          <a:solidFill>
                            <a:schemeClr val="bg2"/>
                          </a:solidFill>
                        </a:rPr>
                        <a:t>Ready to run</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Until first command runs</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150 ms or less</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[measure]</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1800" dirty="0">
                          <a:solidFill>
                            <a:schemeClr val="bg2"/>
                          </a:solidFill>
                        </a:rPr>
                        <a:t>Enter to next prompt</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Delay after Enter</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10 ms or less</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[measure]</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1800" dirty="0">
                          <a:solidFill>
                            <a:schemeClr val="bg2"/>
                          </a:solidFill>
                        </a:rPr>
                        <a:t>Typing delay</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Key press to screen</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20 ms or less</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[measure]</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r h="566928">
                <a:tc>
                  <a:txBody>
                    <a:bodyPr/>
                    <a:lstStyle/>
                    <a:p>
                      <a:pPr indent="0" marL="0">
                        <a:buNone/>
                      </a:pPr>
                      <a:r>
                        <a:rPr lang="en-US" sz="1800" dirty="0">
                          <a:solidFill>
                            <a:schemeClr val="bg2"/>
                          </a:solidFill>
                        </a:rPr>
                        <a:t>Memory per shell</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latin typeface="Courier New" pitchFamily="34" charset="0"/>
                          <a:ea typeface="Courier New" pitchFamily="34" charset="-122"/>
                          <a:cs typeface="Courier New" pitchFamily="34" charset="-120"/>
                        </a:rPr>
                        <a:t>ps -o rss= -p $$</a:t>
                      </a:r>
                      <a:endParaRPr lang="en-US" sz="1800" dirty="0">
                        <a:latin typeface="Courier New" charset="0"/>
                        <a:ea typeface="Courier New" charset="0"/>
                        <a:cs typeface="Courier New" charset="0"/>
                      </a:endParaRPr>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[target]</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c>
                  <a:txBody>
                    <a:bodyPr/>
                    <a:lstStyle/>
                    <a:p>
                      <a:pPr indent="0" marL="0">
                        <a:buNone/>
                      </a:pPr>
                      <a:r>
                        <a:rPr lang="en-US" sz="1800" dirty="0">
                          <a:solidFill>
                            <a:schemeClr val="bg2"/>
                          </a:solidFill>
                        </a:rPr>
                        <a:t>[measure]</a:t>
                      </a:r>
                      <a:endParaRPr lang="en-US" sz="1800" dirty="0"/>
                    </a:p>
                  </a:txBody>
                  <a:tcPr marL="91440" marR="91440" marT="45720" marB="45720" anchor="ctr">
                    <a:lnL w="12700" cap="flat" cmpd="sng" algn="ctr">
                      <a:solidFill>
                        <a:srgbClr val="2C3844"/>
                      </a:solidFill>
                      <a:prstDash val="solid"/>
                      <a:round/>
                      <a:headEnd type="none" w="med" len="med"/>
                      <a:tailEnd type="none" w="med" len="med"/>
                    </a:lnL>
                    <a:lnR w="12700" cap="flat" cmpd="sng" algn="ctr">
                      <a:solidFill>
                        <a:srgbClr val="2C3844"/>
                      </a:solidFill>
                      <a:prstDash val="solid"/>
                      <a:round/>
                      <a:headEnd type="none" w="med" len="med"/>
                      <a:tailEnd type="none" w="med" len="med"/>
                    </a:lnR>
                    <a:lnT w="12700" cap="flat" cmpd="sng" algn="ctr">
                      <a:solidFill>
                        <a:srgbClr val="2C3844"/>
                      </a:solidFill>
                      <a:prstDash val="solid"/>
                      <a:round/>
                      <a:headEnd type="none" w="med" len="med"/>
                      <a:tailEnd type="none" w="med" len="med"/>
                    </a:lnT>
                    <a:lnB w="12700" cap="flat" cmpd="sng" algn="ctr">
                      <a:solidFill>
                        <a:srgbClr val="2C384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Measure it yourself</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measure it</a:t>
            </a:r>
            <a:endParaRPr lang="en-US" sz="1200" dirty="0"/>
          </a:p>
        </p:txBody>
      </p:sp>
      <p:sp>
        <p:nvSpPr>
          <p:cNvPr id="5" name="Shape 2"/>
          <p:cNvSpPr/>
          <p:nvPr/>
        </p:nvSpPr>
        <p:spPr>
          <a:xfrm>
            <a:off x="822960" y="1737360"/>
            <a:ext cx="10515600" cy="1645920"/>
          </a:xfrm>
          <a:prstGeom prst="roundRect">
            <a:avLst>
              <a:gd name="adj" fmla="val 6667"/>
            </a:avLst>
          </a:prstGeom>
          <a:solidFill>
            <a:schemeClr val="accent4"/>
          </a:solidFill>
          <a:ln w="12700">
            <a:solidFill>
              <a:srgbClr val="2C3844"/>
            </a:solidFill>
            <a:prstDash val="solid"/>
          </a:ln>
        </p:spPr>
      </p:sp>
      <p:sp>
        <p:nvSpPr>
          <p:cNvPr id="6" name="Text 3"/>
          <p:cNvSpPr txBox="1"/>
          <p:nvPr/>
        </p:nvSpPr>
        <p:spPr>
          <a:xfrm>
            <a:off x="1143000" y="1965960"/>
            <a:ext cx="9875520" cy="1188720"/>
          </a:xfrm>
          <a:prstGeom prst="rect">
            <a:avLst/>
          </a:prstGeom>
          <a:noFill/>
          <a:ln/>
        </p:spPr>
        <p:txBody>
          <a:bodyPr wrap="square" lIns="0" tIns="0" rIns="0" bIns="0" rtlCol="0" anchor="t"/>
          <a:lstStyle/>
          <a:p>
            <a:pPr indent="0" marL="0">
              <a:spcAft>
                <a:spcPts val="400"/>
              </a:spcAft>
              <a:buNone/>
            </a:pPr>
            <a:r>
              <a:rPr lang="en-US" sz="2400" dirty="0">
                <a:solidFill>
                  <a:schemeClr val="accent1"/>
                </a:solidFill>
                <a:latin typeface="Courier New" pitchFamily="34" charset="0"/>
                <a:ea typeface="Courier New" pitchFamily="34" charset="-122"/>
                <a:cs typeface="Courier New" pitchFamily="34" charset="-120"/>
              </a:rPr>
              <a:t>zsh-bench</a:t>
            </a:r>
            <a:endParaRPr lang="en-US" sz="2400" dirty="0"/>
          </a:p>
          <a:p>
            <a:pPr indent="0" marL="0">
              <a:spcAft>
                <a:spcPts val="400"/>
              </a:spcAft>
              <a:buNone/>
            </a:pPr>
            <a:r>
              <a:rPr lang="en-US" sz="2400" dirty="0">
                <a:solidFill>
                  <a:schemeClr val="accent1"/>
                </a:solidFill>
                <a:latin typeface="Courier New" pitchFamily="34" charset="0"/>
                <a:ea typeface="Courier New" pitchFamily="34" charset="-122"/>
                <a:cs typeface="Courier New" pitchFamily="34" charset="-120"/>
              </a:rPr>
              <a:t>ps -o rss= -p $$</a:t>
            </a:r>
            <a:endParaRPr lang="en-US" sz="2400" dirty="0"/>
          </a:p>
        </p:txBody>
      </p:sp>
      <p:sp>
        <p:nvSpPr>
          <p:cNvPr id="7" name="Text 4"/>
          <p:cNvSpPr txBox="1"/>
          <p:nvPr/>
        </p:nvSpPr>
        <p:spPr>
          <a:xfrm>
            <a:off x="822960" y="3749040"/>
            <a:ext cx="10515600" cy="201168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accent4"/>
                </a:solidFill>
              </a:rPr>
              <a:t>zsh-bench reports prompt, first command, Enter-to-prompt and typing delay together</a:t>
            </a:r>
            <a:endParaRPr lang="en-US" sz="2200" dirty="0"/>
          </a:p>
          <a:p>
            <a:pPr marL="342900" indent="-342900">
              <a:spcAft>
                <a:spcPts val="1000"/>
              </a:spcAft>
              <a:buSzPct val="100000"/>
              <a:buChar char="•"/>
            </a:pPr>
            <a:r>
              <a:rPr lang="en-US" sz="2200" dirty="0">
                <a:solidFill>
                  <a:schemeClr val="accent4"/>
                </a:solidFill>
              </a:rPr>
              <a:t>RSS in KB for the current shell</a:t>
            </a:r>
            <a:endParaRPr lang="en-US" sz="2200" dirty="0"/>
          </a:p>
          <a:p>
            <a:pPr marL="342900" indent="-342900">
              <a:spcAft>
                <a:spcPts val="1000"/>
              </a:spcAft>
              <a:buSzPct val="100000"/>
              <a:buChar char="•"/>
            </a:pPr>
            <a:r>
              <a:rPr lang="en-US" sz="2200" dirty="0">
                <a:solidFill>
                  <a:schemeClr val="accent4"/>
                </a:solidFill>
              </a:rPr>
              <a:t>Post your numbers as an issue</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The goodies: outline</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outline</a:t>
            </a:r>
            <a:endParaRPr lang="en-US" sz="1200" dirty="0"/>
          </a:p>
        </p:txBody>
      </p:sp>
      <p:sp>
        <p:nvSpPr>
          <p:cNvPr id="5" name="Shape 2"/>
          <p:cNvSpPr/>
          <p:nvPr/>
        </p:nvSpPr>
        <p:spPr>
          <a:xfrm>
            <a:off x="822960" y="1737360"/>
            <a:ext cx="5120640" cy="822960"/>
          </a:xfrm>
          <a:prstGeom prst="roundRect">
            <a:avLst>
              <a:gd name="adj" fmla="val 13333"/>
            </a:avLst>
          </a:prstGeom>
          <a:solidFill>
            <a:srgbClr val="FFFFFF"/>
          </a:solidFill>
          <a:ln w="12700">
            <a:solidFill>
              <a:srgbClr val="D9D5C8"/>
            </a:solidFill>
            <a:prstDash val="solid"/>
          </a:ln>
        </p:spPr>
      </p:sp>
      <p:sp>
        <p:nvSpPr>
          <p:cNvPr id="6" name="Text 3"/>
          <p:cNvSpPr txBox="1"/>
          <p:nvPr/>
        </p:nvSpPr>
        <p:spPr>
          <a:xfrm>
            <a:off x="1097280" y="173736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1</a:t>
            </a:r>
            <a:endParaRPr lang="en-US" sz="2600" dirty="0"/>
          </a:p>
        </p:txBody>
      </p:sp>
      <p:sp>
        <p:nvSpPr>
          <p:cNvPr id="7" name="Text 4"/>
          <p:cNvSpPr txBox="1"/>
          <p:nvPr/>
        </p:nvSpPr>
        <p:spPr>
          <a:xfrm>
            <a:off x="1828800" y="173736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Daemon server</a:t>
            </a:r>
            <a:endParaRPr lang="en-US" sz="2400" dirty="0"/>
          </a:p>
        </p:txBody>
      </p:sp>
      <p:sp>
        <p:nvSpPr>
          <p:cNvPr id="8" name="Shape 5"/>
          <p:cNvSpPr/>
          <p:nvPr/>
        </p:nvSpPr>
        <p:spPr>
          <a:xfrm>
            <a:off x="822960" y="2743200"/>
            <a:ext cx="5120640" cy="822960"/>
          </a:xfrm>
          <a:prstGeom prst="roundRect">
            <a:avLst>
              <a:gd name="adj" fmla="val 13333"/>
            </a:avLst>
          </a:prstGeom>
          <a:solidFill>
            <a:srgbClr val="FFFFFF"/>
          </a:solidFill>
          <a:ln w="12700">
            <a:solidFill>
              <a:srgbClr val="D9D5C8"/>
            </a:solidFill>
            <a:prstDash val="solid"/>
          </a:ln>
        </p:spPr>
      </p:sp>
      <p:sp>
        <p:nvSpPr>
          <p:cNvPr id="9" name="Text 6"/>
          <p:cNvSpPr txBox="1"/>
          <p:nvPr/>
        </p:nvSpPr>
        <p:spPr>
          <a:xfrm>
            <a:off x="1097280" y="274320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2</a:t>
            </a:r>
            <a:endParaRPr lang="en-US" sz="2600" dirty="0"/>
          </a:p>
        </p:txBody>
      </p:sp>
      <p:sp>
        <p:nvSpPr>
          <p:cNvPr id="10" name="Text 7"/>
          <p:cNvSpPr txBox="1"/>
          <p:nvPr/>
        </p:nvSpPr>
        <p:spPr>
          <a:xfrm>
            <a:off x="1828800" y="274320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Recorder</a:t>
            </a:r>
            <a:endParaRPr lang="en-US" sz="2400" dirty="0"/>
          </a:p>
        </p:txBody>
      </p:sp>
      <p:sp>
        <p:nvSpPr>
          <p:cNvPr id="11" name="Shape 8"/>
          <p:cNvSpPr/>
          <p:nvPr/>
        </p:nvSpPr>
        <p:spPr>
          <a:xfrm>
            <a:off x="822960" y="3749040"/>
            <a:ext cx="5120640" cy="822960"/>
          </a:xfrm>
          <a:prstGeom prst="roundRect">
            <a:avLst>
              <a:gd name="adj" fmla="val 13333"/>
            </a:avLst>
          </a:prstGeom>
          <a:solidFill>
            <a:srgbClr val="FFFFFF"/>
          </a:solidFill>
          <a:ln w="12700">
            <a:solidFill>
              <a:srgbClr val="D9D5C8"/>
            </a:solidFill>
            <a:prstDash val="solid"/>
          </a:ln>
        </p:spPr>
      </p:sp>
      <p:sp>
        <p:nvSpPr>
          <p:cNvPr id="12" name="Text 9"/>
          <p:cNvSpPr txBox="1"/>
          <p:nvPr/>
        </p:nvSpPr>
        <p:spPr>
          <a:xfrm>
            <a:off x="1097280" y="374904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3</a:t>
            </a:r>
            <a:endParaRPr lang="en-US" sz="2600" dirty="0"/>
          </a:p>
        </p:txBody>
      </p:sp>
      <p:sp>
        <p:nvSpPr>
          <p:cNvPr id="13" name="Text 10"/>
          <p:cNvSpPr txBox="1"/>
          <p:nvPr/>
        </p:nvSpPr>
        <p:spPr>
          <a:xfrm>
            <a:off x="1828800" y="374904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ZLE config section</a:t>
            </a:r>
            <a:endParaRPr lang="en-US" sz="2400" dirty="0"/>
          </a:p>
        </p:txBody>
      </p:sp>
      <p:sp>
        <p:nvSpPr>
          <p:cNvPr id="14" name="Shape 11"/>
          <p:cNvSpPr/>
          <p:nvPr/>
        </p:nvSpPr>
        <p:spPr>
          <a:xfrm>
            <a:off x="822960" y="4754880"/>
            <a:ext cx="5120640" cy="822960"/>
          </a:xfrm>
          <a:prstGeom prst="roundRect">
            <a:avLst>
              <a:gd name="adj" fmla="val 13333"/>
            </a:avLst>
          </a:prstGeom>
          <a:solidFill>
            <a:srgbClr val="FFFFFF"/>
          </a:solidFill>
          <a:ln w="12700">
            <a:solidFill>
              <a:srgbClr val="D9D5C8"/>
            </a:solidFill>
            <a:prstDash val="solid"/>
          </a:ln>
        </p:spPr>
      </p:sp>
      <p:sp>
        <p:nvSpPr>
          <p:cNvPr id="15" name="Text 12"/>
          <p:cNvSpPr txBox="1"/>
          <p:nvPr/>
        </p:nvSpPr>
        <p:spPr>
          <a:xfrm>
            <a:off x="1097280" y="475488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4</a:t>
            </a:r>
            <a:endParaRPr lang="en-US" sz="2600" dirty="0"/>
          </a:p>
        </p:txBody>
      </p:sp>
      <p:sp>
        <p:nvSpPr>
          <p:cNvPr id="16" name="Text 13"/>
          <p:cNvSpPr txBox="1"/>
          <p:nvPr/>
        </p:nvSpPr>
        <p:spPr>
          <a:xfrm>
            <a:off x="1828800" y="475488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Syntax highlighting</a:t>
            </a:r>
            <a:endParaRPr lang="en-US" sz="2400" dirty="0"/>
          </a:p>
        </p:txBody>
      </p:sp>
      <p:sp>
        <p:nvSpPr>
          <p:cNvPr id="17" name="Shape 14"/>
          <p:cNvSpPr/>
          <p:nvPr/>
        </p:nvSpPr>
        <p:spPr>
          <a:xfrm>
            <a:off x="6217920" y="1737360"/>
            <a:ext cx="5120640" cy="822960"/>
          </a:xfrm>
          <a:prstGeom prst="roundRect">
            <a:avLst>
              <a:gd name="adj" fmla="val 13333"/>
            </a:avLst>
          </a:prstGeom>
          <a:solidFill>
            <a:srgbClr val="FFFFFF"/>
          </a:solidFill>
          <a:ln w="12700">
            <a:solidFill>
              <a:srgbClr val="D9D5C8"/>
            </a:solidFill>
            <a:prstDash val="solid"/>
          </a:ln>
        </p:spPr>
      </p:sp>
      <p:sp>
        <p:nvSpPr>
          <p:cNvPr id="18" name="Text 15"/>
          <p:cNvSpPr txBox="1"/>
          <p:nvPr/>
        </p:nvSpPr>
        <p:spPr>
          <a:xfrm>
            <a:off x="6492240" y="173736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5</a:t>
            </a:r>
            <a:endParaRPr lang="en-US" sz="2600" dirty="0"/>
          </a:p>
        </p:txBody>
      </p:sp>
      <p:sp>
        <p:nvSpPr>
          <p:cNvPr id="19" name="Text 16"/>
          <p:cNvSpPr txBox="1"/>
          <p:nvPr/>
        </p:nvSpPr>
        <p:spPr>
          <a:xfrm>
            <a:off x="7223760" y="173736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Rust prompt engine</a:t>
            </a:r>
            <a:endParaRPr lang="en-US" sz="2400" dirty="0"/>
          </a:p>
        </p:txBody>
      </p:sp>
      <p:sp>
        <p:nvSpPr>
          <p:cNvPr id="20" name="Shape 17"/>
          <p:cNvSpPr/>
          <p:nvPr/>
        </p:nvSpPr>
        <p:spPr>
          <a:xfrm>
            <a:off x="6217920" y="2743200"/>
            <a:ext cx="5120640" cy="822960"/>
          </a:xfrm>
          <a:prstGeom prst="roundRect">
            <a:avLst>
              <a:gd name="adj" fmla="val 13333"/>
            </a:avLst>
          </a:prstGeom>
          <a:solidFill>
            <a:srgbClr val="FFFFFF"/>
          </a:solidFill>
          <a:ln w="12700">
            <a:solidFill>
              <a:srgbClr val="D9D5C8"/>
            </a:solidFill>
            <a:prstDash val="solid"/>
          </a:ln>
        </p:spPr>
      </p:sp>
      <p:sp>
        <p:nvSpPr>
          <p:cNvPr id="21" name="Text 18"/>
          <p:cNvSpPr txBox="1"/>
          <p:nvPr/>
        </p:nvSpPr>
        <p:spPr>
          <a:xfrm>
            <a:off x="6492240" y="274320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6</a:t>
            </a:r>
            <a:endParaRPr lang="en-US" sz="2600" dirty="0"/>
          </a:p>
        </p:txBody>
      </p:sp>
      <p:sp>
        <p:nvSpPr>
          <p:cNvPr id="22" name="Text 19"/>
          <p:cNvSpPr txBox="1"/>
          <p:nvPr/>
        </p:nvSpPr>
        <p:spPr>
          <a:xfrm>
            <a:off x="7223760" y="274320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Plugin ABI</a:t>
            </a:r>
            <a:endParaRPr lang="en-US" sz="2400" dirty="0"/>
          </a:p>
        </p:txBody>
      </p:sp>
      <p:sp>
        <p:nvSpPr>
          <p:cNvPr id="23" name="Shape 20"/>
          <p:cNvSpPr/>
          <p:nvPr/>
        </p:nvSpPr>
        <p:spPr>
          <a:xfrm>
            <a:off x="6217920" y="3749040"/>
            <a:ext cx="5120640" cy="822960"/>
          </a:xfrm>
          <a:prstGeom prst="roundRect">
            <a:avLst>
              <a:gd name="adj" fmla="val 13333"/>
            </a:avLst>
          </a:prstGeom>
          <a:solidFill>
            <a:srgbClr val="FFFFFF"/>
          </a:solidFill>
          <a:ln w="12700">
            <a:solidFill>
              <a:srgbClr val="D9D5C8"/>
            </a:solidFill>
            <a:prstDash val="solid"/>
          </a:ln>
        </p:spPr>
      </p:sp>
      <p:sp>
        <p:nvSpPr>
          <p:cNvPr id="24" name="Text 21"/>
          <p:cNvSpPr txBox="1"/>
          <p:nvPr/>
        </p:nvSpPr>
        <p:spPr>
          <a:xfrm>
            <a:off x="6492240" y="374904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7</a:t>
            </a:r>
            <a:endParaRPr lang="en-US" sz="2600" dirty="0"/>
          </a:p>
        </p:txBody>
      </p:sp>
      <p:sp>
        <p:nvSpPr>
          <p:cNvPr id="25" name="Text 22"/>
          <p:cNvSpPr txBox="1"/>
          <p:nvPr/>
        </p:nvSpPr>
        <p:spPr>
          <a:xfrm>
            <a:off x="7223760" y="374904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Tooling in the binary</a:t>
            </a:r>
            <a:endParaRPr lang="en-US" sz="2400" dirty="0"/>
          </a:p>
        </p:txBody>
      </p:sp>
      <p:sp>
        <p:nvSpPr>
          <p:cNvPr id="26" name="Shape 23"/>
          <p:cNvSpPr/>
          <p:nvPr/>
        </p:nvSpPr>
        <p:spPr>
          <a:xfrm>
            <a:off x="6217920" y="4754880"/>
            <a:ext cx="5120640" cy="822960"/>
          </a:xfrm>
          <a:prstGeom prst="roundRect">
            <a:avLst>
              <a:gd name="adj" fmla="val 13333"/>
            </a:avLst>
          </a:prstGeom>
          <a:solidFill>
            <a:srgbClr val="FFFFFF"/>
          </a:solidFill>
          <a:ln w="12700">
            <a:solidFill>
              <a:srgbClr val="D9D5C8"/>
            </a:solidFill>
            <a:prstDash val="solid"/>
          </a:ln>
        </p:spPr>
      </p:sp>
      <p:sp>
        <p:nvSpPr>
          <p:cNvPr id="27" name="Text 24"/>
          <p:cNvSpPr txBox="1"/>
          <p:nvPr/>
        </p:nvSpPr>
        <p:spPr>
          <a:xfrm>
            <a:off x="6492240" y="475488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8</a:t>
            </a:r>
            <a:endParaRPr lang="en-US" sz="2600" dirty="0"/>
          </a:p>
        </p:txBody>
      </p:sp>
      <p:sp>
        <p:nvSpPr>
          <p:cNvPr id="28" name="Text 25"/>
          <p:cNvSpPr txBox="1"/>
          <p:nvPr/>
        </p:nvSpPr>
        <p:spPr>
          <a:xfrm>
            <a:off x="7223760" y="475488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Absorbed binaries</a:t>
            </a:r>
            <a:endParaRPr lang="en-US" sz="24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1 · Daemon server</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goodies</a:t>
            </a:r>
            <a:endParaRPr lang="en-US" sz="1200" dirty="0"/>
          </a:p>
        </p:txBody>
      </p:sp>
      <p:sp>
        <p:nvSpPr>
          <p:cNvPr id="5" name="Shape 2"/>
          <p:cNvSpPr/>
          <p:nvPr/>
        </p:nvSpPr>
        <p:spPr>
          <a:xfrm>
            <a:off x="822960" y="1737360"/>
            <a:ext cx="5120640" cy="3566160"/>
          </a:xfrm>
          <a:prstGeom prst="roundRect">
            <a:avLst>
              <a:gd name="adj" fmla="val 3077"/>
            </a:avLst>
          </a:prstGeom>
          <a:solidFill>
            <a:schemeClr val="tx2"/>
          </a:solidFill>
          <a:ln w="12700">
            <a:solidFill>
              <a:srgbClr val="2C3844"/>
            </a:solidFill>
            <a:prstDash val="solid"/>
          </a:ln>
        </p:spPr>
      </p:sp>
      <p:sp>
        <p:nvSpPr>
          <p:cNvPr id="6" name="Text 3"/>
          <p:cNvSpPr txBox="1"/>
          <p:nvPr/>
        </p:nvSpPr>
        <p:spPr>
          <a:xfrm>
            <a:off x="1097280" y="1965960"/>
            <a:ext cx="45720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What it owns</a:t>
            </a:r>
            <a:endParaRPr lang="en-US" sz="2200" dirty="0"/>
          </a:p>
        </p:txBody>
      </p:sp>
      <p:sp>
        <p:nvSpPr>
          <p:cNvPr id="7" name="Text 4"/>
          <p:cNvSpPr txBox="1"/>
          <p:nvPr/>
        </p:nvSpPr>
        <p:spPr>
          <a:xfrm>
            <a:off x="1097280" y="2560320"/>
            <a:ext cx="4572000" cy="256032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bg2"/>
                </a:solidFill>
              </a:rPr>
              <a:t>Canonical state and cache</a:t>
            </a:r>
            <a:endParaRPr lang="en-US" sz="2200" dirty="0"/>
          </a:p>
          <a:p>
            <a:pPr marL="342900" indent="-342900">
              <a:spcAft>
                <a:spcPts val="1000"/>
              </a:spcAft>
              <a:buSzPct val="100000"/>
              <a:buChar char="•"/>
            </a:pPr>
            <a:r>
              <a:rPr lang="en-US" sz="2200" dirty="0">
                <a:solidFill>
                  <a:schemeClr val="bg2"/>
                </a:solidFill>
              </a:rPr>
              <a:t>fsnotify, scheduling, jobs, locks</a:t>
            </a:r>
            <a:endParaRPr lang="en-US" sz="2200" dirty="0"/>
          </a:p>
          <a:p>
            <a:pPr marL="342900" indent="-342900">
              <a:spcAft>
                <a:spcPts val="1000"/>
              </a:spcAft>
              <a:buSzPct val="100000"/>
              <a:buChar char="•"/>
            </a:pPr>
            <a:r>
              <a:rPr lang="en-US" sz="2200" dirty="0">
                <a:solidFill>
                  <a:schemeClr val="bg2"/>
                </a:solidFill>
              </a:rPr>
              <a:t>History</a:t>
            </a:r>
            <a:endParaRPr lang="en-US" sz="2200" dirty="0"/>
          </a:p>
          <a:p>
            <a:pPr marL="342900" indent="-342900">
              <a:spcAft>
                <a:spcPts val="1000"/>
              </a:spcAft>
              <a:buSzPct val="100000"/>
              <a:buChar char="•"/>
            </a:pPr>
            <a:r>
              <a:rPr lang="en-US" sz="2200" dirty="0">
                <a:solidFill>
                  <a:schemeClr val="bg2"/>
                </a:solidFill>
              </a:rPr>
              <a:t>One writer, no shared mutation</a:t>
            </a:r>
            <a:endParaRPr lang="en-US" sz="2200" dirty="0"/>
          </a:p>
        </p:txBody>
      </p:sp>
      <p:sp>
        <p:nvSpPr>
          <p:cNvPr id="8" name="Shape 5"/>
          <p:cNvSpPr/>
          <p:nvPr/>
        </p:nvSpPr>
        <p:spPr>
          <a:xfrm>
            <a:off x="6217920" y="1737360"/>
            <a:ext cx="5120640" cy="3566160"/>
          </a:xfrm>
          <a:prstGeom prst="roundRect">
            <a:avLst>
              <a:gd name="adj" fmla="val 3077"/>
            </a:avLst>
          </a:prstGeom>
          <a:solidFill>
            <a:schemeClr val="tx2"/>
          </a:solidFill>
          <a:ln w="12700">
            <a:solidFill>
              <a:srgbClr val="2C3844"/>
            </a:solidFill>
            <a:prstDash val="solid"/>
          </a:ln>
        </p:spPr>
      </p:sp>
      <p:sp>
        <p:nvSpPr>
          <p:cNvPr id="9" name="Text 6"/>
          <p:cNvSpPr txBox="1"/>
          <p:nvPr/>
        </p:nvSpPr>
        <p:spPr>
          <a:xfrm>
            <a:off x="6492240" y="1965960"/>
            <a:ext cx="45720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How shells use it</a:t>
            </a:r>
            <a:endParaRPr lang="en-US" sz="2200" dirty="0"/>
          </a:p>
        </p:txBody>
      </p:sp>
      <p:sp>
        <p:nvSpPr>
          <p:cNvPr id="10" name="Text 7"/>
          <p:cNvSpPr txBox="1"/>
          <p:nvPr/>
        </p:nvSpPr>
        <p:spPr>
          <a:xfrm>
            <a:off x="6492240" y="2560320"/>
            <a:ext cx="4572000" cy="256032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bg2"/>
                </a:solidFill>
              </a:rPr>
              <a:t>Stateless clients, forkable</a:t>
            </a:r>
            <a:endParaRPr lang="en-US" sz="2200" dirty="0"/>
          </a:p>
          <a:p>
            <a:pPr marL="342900" indent="-342900">
              <a:spcAft>
                <a:spcPts val="1000"/>
              </a:spcAft>
              <a:buSzPct val="100000"/>
              <a:buChar char="•"/>
            </a:pPr>
            <a:r>
              <a:rPr lang="en-US" sz="2200" dirty="0">
                <a:solidFill>
                  <a:schemeClr val="bg2"/>
                </a:solidFill>
              </a:rPr>
              <a:t>Read caches by mmap (rkyv)</a:t>
            </a:r>
            <a:endParaRPr lang="en-US" sz="2200" dirty="0"/>
          </a:p>
          <a:p>
            <a:pPr marL="342900" indent="-342900">
              <a:spcAft>
                <a:spcPts val="1000"/>
              </a:spcAft>
              <a:buSzPct val="100000"/>
              <a:buChar char="•"/>
            </a:pPr>
            <a:r>
              <a:rPr lang="en-US" sz="2200" dirty="0">
                <a:solidFill>
                  <a:schemeClr val="bg2"/>
                </a:solidFill>
              </a:rPr>
              <a:t>No auto-spawn: you start it</a:t>
            </a:r>
            <a:endParaRPr lang="en-US" sz="2200" dirty="0"/>
          </a:p>
          <a:p>
            <a:pPr marL="342900" indent="-342900">
              <a:spcAft>
                <a:spcPts val="1000"/>
              </a:spcAft>
              <a:buSzPct val="100000"/>
              <a:buChar char="•"/>
            </a:pPr>
            <a:r>
              <a:rPr lang="en-US" sz="2200" dirty="0">
                <a:solidFill>
                  <a:schemeClr val="bg2"/>
                </a:solidFill>
              </a:rPr>
              <a:t>Shells still run if it is down</a:t>
            </a:r>
            <a:endParaRPr lang="en-US" sz="2200" dirty="0"/>
          </a:p>
        </p:txBody>
      </p:sp>
      <p:sp>
        <p:nvSpPr>
          <p:cNvPr id="11" name="Text 8"/>
          <p:cNvSpPr txBox="1"/>
          <p:nvPr/>
        </p:nvSpPr>
        <p:spPr>
          <a:xfrm>
            <a:off x="822960" y="5669280"/>
            <a:ext cx="10515600" cy="365760"/>
          </a:xfrm>
          <a:prstGeom prst="rect">
            <a:avLst/>
          </a:prstGeom>
          <a:noFill/>
          <a:ln/>
        </p:spPr>
        <p:txBody>
          <a:bodyPr wrap="square" lIns="0" tIns="0" rIns="0" bIns="0" rtlCol="0" anchor="t"/>
          <a:lstStyle/>
          <a:p>
            <a:pPr indent="0" marL="0">
              <a:buNone/>
            </a:pPr>
            <a:r>
              <a:rPr lang="en-US" sz="1400" dirty="0">
                <a:solidFill>
                  <a:schemeClr val="accent5"/>
                </a:solidFill>
              </a:rPr>
              <a:t>Last point is the design target in docs/ROADMAP.md.</a:t>
            </a:r>
            <a:endParaRPr lang="en-US" sz="14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Daemon: what you can type</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goodies</a:t>
            </a:r>
            <a:endParaRPr lang="en-US" sz="1200" dirty="0"/>
          </a:p>
        </p:txBody>
      </p:sp>
      <p:sp>
        <p:nvSpPr>
          <p:cNvPr id="5" name="Shape 2"/>
          <p:cNvSpPr/>
          <p:nvPr/>
        </p:nvSpPr>
        <p:spPr>
          <a:xfrm>
            <a:off x="822960" y="1737360"/>
            <a:ext cx="5120640" cy="2468880"/>
          </a:xfrm>
          <a:prstGeom prst="roundRect">
            <a:avLst>
              <a:gd name="adj" fmla="val 4444"/>
            </a:avLst>
          </a:prstGeom>
          <a:solidFill>
            <a:schemeClr val="accent4"/>
          </a:solidFill>
          <a:ln w="12700">
            <a:solidFill>
              <a:srgbClr val="2C3844"/>
            </a:solidFill>
            <a:prstDash val="solid"/>
          </a:ln>
        </p:spPr>
      </p:sp>
      <p:sp>
        <p:nvSpPr>
          <p:cNvPr id="6" name="Text 3"/>
          <p:cNvSpPr txBox="1"/>
          <p:nvPr/>
        </p:nvSpPr>
        <p:spPr>
          <a:xfrm>
            <a:off x="1143000" y="1965960"/>
            <a:ext cx="4480560" cy="2011680"/>
          </a:xfrm>
          <a:prstGeom prst="rect">
            <a:avLst/>
          </a:prstGeom>
          <a:noFill/>
          <a:ln/>
        </p:spPr>
        <p:txBody>
          <a:bodyPr wrap="square" lIns="0" tIns="0" rIns="0" bIns="0" rtlCol="0" anchor="t"/>
          <a:lstStyle/>
          <a:p>
            <a:pPr indent="0" marL="0">
              <a:spcAft>
                <a:spcPts val="400"/>
              </a:spcAft>
              <a:buNone/>
            </a:pPr>
            <a:r>
              <a:rPr lang="en-US" sz="2000" dirty="0">
                <a:solidFill>
                  <a:schemeClr val="accent1"/>
                </a:solidFill>
                <a:latin typeface="Courier New" pitchFamily="34" charset="0"/>
                <a:ea typeface="Courier New" pitchFamily="34" charset="-122"/>
                <a:cs typeface="Courier New" pitchFamily="34" charset="-120"/>
              </a:rPr>
              <a:t>zd daemon status</a:t>
            </a:r>
            <a:endParaRPr lang="en-US" sz="2000" dirty="0"/>
          </a:p>
          <a:p>
            <a:pPr indent="0" marL="0">
              <a:spcAft>
                <a:spcPts val="400"/>
              </a:spcAft>
              <a:buNone/>
            </a:pPr>
            <a:r>
              <a:rPr lang="en-US" sz="2000" dirty="0">
                <a:solidFill>
                  <a:schemeClr val="accent1"/>
                </a:solidFill>
                <a:latin typeface="Courier New" pitchFamily="34" charset="0"/>
                <a:ea typeface="Courier New" pitchFamily="34" charset="-122"/>
                <a:cs typeface="Courier New" pitchFamily="34" charset="-120"/>
              </a:rPr>
              <a:t>zd daemon start</a:t>
            </a:r>
            <a:endParaRPr lang="en-US" sz="2000" dirty="0"/>
          </a:p>
          <a:p>
            <a:pPr indent="0" marL="0">
              <a:spcAft>
                <a:spcPts val="400"/>
              </a:spcAft>
              <a:buNone/>
            </a:pPr>
            <a:r>
              <a:rPr lang="en-US" sz="2000" dirty="0">
                <a:solidFill>
                  <a:schemeClr val="accent1"/>
                </a:solidFill>
                <a:latin typeface="Courier New" pitchFamily="34" charset="0"/>
                <a:ea typeface="Courier New" pitchFamily="34" charset="-122"/>
                <a:cs typeface="Courier New" pitchFamily="34" charset="-120"/>
              </a:rPr>
              <a:t>zd daemon stop</a:t>
            </a:r>
            <a:endParaRPr lang="en-US" sz="2000" dirty="0"/>
          </a:p>
          <a:p>
            <a:pPr indent="0" marL="0">
              <a:spcAft>
                <a:spcPts val="400"/>
              </a:spcAft>
              <a:buNone/>
            </a:pPr>
            <a:r>
              <a:rPr lang="en-US" sz="2000" dirty="0">
                <a:solidFill>
                  <a:schemeClr val="accent1"/>
                </a:solidFill>
                <a:latin typeface="Courier New" pitchFamily="34" charset="0"/>
                <a:ea typeface="Courier New" pitchFamily="34" charset="-122"/>
                <a:cs typeface="Courier New" pitchFamily="34" charset="-120"/>
              </a:rPr>
              <a:t>zd daemon restart</a:t>
            </a:r>
            <a:endParaRPr lang="en-US" sz="2000" dirty="0"/>
          </a:p>
        </p:txBody>
      </p:sp>
      <p:sp>
        <p:nvSpPr>
          <p:cNvPr id="7" name="Shape 4"/>
          <p:cNvSpPr/>
          <p:nvPr/>
        </p:nvSpPr>
        <p:spPr>
          <a:xfrm>
            <a:off x="6217920" y="1737360"/>
            <a:ext cx="5120640" cy="3657600"/>
          </a:xfrm>
          <a:prstGeom prst="roundRect">
            <a:avLst>
              <a:gd name="adj" fmla="val 3000"/>
            </a:avLst>
          </a:prstGeom>
          <a:solidFill>
            <a:srgbClr val="FFFFFF"/>
          </a:solidFill>
          <a:ln w="12700">
            <a:solidFill>
              <a:srgbClr val="D9D5C8"/>
            </a:solidFill>
            <a:prstDash val="solid"/>
          </a:ln>
        </p:spPr>
      </p:sp>
      <p:sp>
        <p:nvSpPr>
          <p:cNvPr id="8" name="Text 5"/>
          <p:cNvSpPr txBox="1"/>
          <p:nvPr/>
        </p:nvSpPr>
        <p:spPr>
          <a:xfrm>
            <a:off x="6492240" y="1965960"/>
            <a:ext cx="457200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Built on the daemon</a:t>
            </a:r>
            <a:endParaRPr lang="en-US" sz="2200" dirty="0"/>
          </a:p>
        </p:txBody>
      </p:sp>
      <p:sp>
        <p:nvSpPr>
          <p:cNvPr id="9" name="Text 6"/>
          <p:cNvSpPr txBox="1"/>
          <p:nvPr/>
        </p:nvSpPr>
        <p:spPr>
          <a:xfrm>
            <a:off x="6492240" y="2560320"/>
            <a:ext cx="4572000" cy="265176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accent4"/>
                </a:solidFill>
              </a:rPr>
              <a:t>zjob submit --pty: supervised jobs, attach later</a:t>
            </a:r>
            <a:endParaRPr lang="en-US" sz="2200" dirty="0"/>
          </a:p>
          <a:p>
            <a:pPr marL="342900" indent="-342900">
              <a:spcAft>
                <a:spcPts val="1000"/>
              </a:spcAft>
              <a:buSzPct val="100000"/>
              <a:buChar char="•"/>
            </a:pPr>
            <a:r>
              <a:rPr lang="en-US" sz="2200" dirty="0">
                <a:solidFill>
                  <a:schemeClr val="accent4"/>
                </a:solidFill>
              </a:rPr>
              <a:t>zsubscribe / zpublish: cross-shell pub/sub</a:t>
            </a:r>
            <a:endParaRPr lang="en-US" sz="2200" dirty="0"/>
          </a:p>
          <a:p>
            <a:pPr marL="342900" indent="-342900">
              <a:spcAft>
                <a:spcPts val="1000"/>
              </a:spcAft>
              <a:buSzPct val="100000"/>
              <a:buChar char="•"/>
            </a:pPr>
            <a:r>
              <a:rPr lang="en-US" sz="2200" dirty="0">
                <a:solidFill>
                  <a:schemeClr val="accent4"/>
                </a:solidFill>
              </a:rPr>
              <a:t>zlock: named locks, token-issued release</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Daemon: shape of the system</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goodies</a:t>
            </a:r>
            <a:endParaRPr lang="en-US" sz="1200" dirty="0"/>
          </a:p>
        </p:txBody>
      </p:sp>
      <p:sp>
        <p:nvSpPr>
          <p:cNvPr id="5" name="Shape 2"/>
          <p:cNvSpPr/>
          <p:nvPr/>
        </p:nvSpPr>
        <p:spPr>
          <a:xfrm>
            <a:off x="822960" y="2011680"/>
            <a:ext cx="2251710" cy="1828800"/>
          </a:xfrm>
          <a:prstGeom prst="roundRect">
            <a:avLst>
              <a:gd name="adj" fmla="val 6000"/>
            </a:avLst>
          </a:prstGeom>
          <a:solidFill>
            <a:schemeClr val="tx2"/>
          </a:solidFill>
          <a:ln w="12700">
            <a:solidFill>
              <a:srgbClr val="2C3844"/>
            </a:solidFill>
            <a:prstDash val="solid"/>
          </a:ln>
        </p:spPr>
      </p:sp>
      <p:sp>
        <p:nvSpPr>
          <p:cNvPr id="6" name="Text 3"/>
          <p:cNvSpPr txBox="1"/>
          <p:nvPr/>
        </p:nvSpPr>
        <p:spPr>
          <a:xfrm>
            <a:off x="1051560" y="2194560"/>
            <a:ext cx="179451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Shells</a:t>
            </a:r>
            <a:endParaRPr lang="en-US" sz="1800" dirty="0"/>
          </a:p>
        </p:txBody>
      </p:sp>
      <p:sp>
        <p:nvSpPr>
          <p:cNvPr id="7" name="Text 4"/>
          <p:cNvSpPr txBox="1"/>
          <p:nvPr/>
        </p:nvSpPr>
        <p:spPr>
          <a:xfrm>
            <a:off x="1051560" y="2743200"/>
            <a:ext cx="1794510" cy="1005840"/>
          </a:xfrm>
          <a:prstGeom prst="rect">
            <a:avLst/>
          </a:prstGeom>
          <a:noFill/>
          <a:ln/>
        </p:spPr>
        <p:txBody>
          <a:bodyPr wrap="square" lIns="0" tIns="0" rIns="0" bIns="0" rtlCol="0" anchor="t"/>
          <a:lstStyle/>
          <a:p>
            <a:pPr indent="0" marL="0">
              <a:buNone/>
            </a:pPr>
            <a:r>
              <a:rPr lang="en-US" sz="1600" dirty="0">
                <a:solidFill>
                  <a:schemeClr val="bg2"/>
                </a:solidFill>
              </a:rPr>
              <a:t>stateless clients, any number</a:t>
            </a:r>
            <a:endParaRPr lang="en-US" sz="1600" dirty="0"/>
          </a:p>
        </p:txBody>
      </p:sp>
      <p:sp>
        <p:nvSpPr>
          <p:cNvPr id="8" name="Shape 5"/>
          <p:cNvSpPr/>
          <p:nvPr/>
        </p:nvSpPr>
        <p:spPr>
          <a:xfrm>
            <a:off x="3138678" y="2743200"/>
            <a:ext cx="384048" cy="365760"/>
          </a:xfrm>
          <a:prstGeom prst="rightArrow">
            <a:avLst/>
          </a:prstGeom>
          <a:solidFill>
            <a:schemeClr val="accent3"/>
          </a:solidFill>
          <a:ln w="12700">
            <a:solidFill>
              <a:schemeClr val="accent3"/>
            </a:solidFill>
            <a:prstDash val="solid"/>
          </a:ln>
        </p:spPr>
      </p:sp>
      <p:sp>
        <p:nvSpPr>
          <p:cNvPr id="9" name="Shape 6"/>
          <p:cNvSpPr/>
          <p:nvPr/>
        </p:nvSpPr>
        <p:spPr>
          <a:xfrm>
            <a:off x="3577590" y="2011680"/>
            <a:ext cx="2251710" cy="1828800"/>
          </a:xfrm>
          <a:prstGeom prst="roundRect">
            <a:avLst>
              <a:gd name="adj" fmla="val 6000"/>
            </a:avLst>
          </a:prstGeom>
          <a:solidFill>
            <a:schemeClr val="tx2"/>
          </a:solidFill>
          <a:ln w="12700">
            <a:solidFill>
              <a:srgbClr val="2C3844"/>
            </a:solidFill>
            <a:prstDash val="solid"/>
          </a:ln>
        </p:spPr>
      </p:sp>
      <p:sp>
        <p:nvSpPr>
          <p:cNvPr id="10" name="Text 7"/>
          <p:cNvSpPr txBox="1"/>
          <p:nvPr/>
        </p:nvSpPr>
        <p:spPr>
          <a:xfrm>
            <a:off x="3806190" y="2194560"/>
            <a:ext cx="179451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Unix socket</a:t>
            </a:r>
            <a:endParaRPr lang="en-US" sz="1800" dirty="0"/>
          </a:p>
        </p:txBody>
      </p:sp>
      <p:sp>
        <p:nvSpPr>
          <p:cNvPr id="11" name="Text 8"/>
          <p:cNvSpPr txBox="1"/>
          <p:nvPr/>
        </p:nvSpPr>
        <p:spPr>
          <a:xfrm>
            <a:off x="3806190" y="2743200"/>
            <a:ext cx="1794510" cy="1005840"/>
          </a:xfrm>
          <a:prstGeom prst="rect">
            <a:avLst/>
          </a:prstGeom>
          <a:noFill/>
          <a:ln/>
        </p:spPr>
        <p:txBody>
          <a:bodyPr wrap="square" lIns="0" tIns="0" rIns="0" bIns="0" rtlCol="0" anchor="t"/>
          <a:lstStyle/>
          <a:p>
            <a:pPr indent="0" marL="0">
              <a:buNone/>
            </a:pPr>
            <a:r>
              <a:rPr lang="en-US" sz="1600" dirty="0">
                <a:solidFill>
                  <a:schemeClr val="bg2"/>
                </a:solidFill>
              </a:rPr>
              <a:t>requests and subscriptions</a:t>
            </a:r>
            <a:endParaRPr lang="en-US" sz="1600" dirty="0"/>
          </a:p>
        </p:txBody>
      </p:sp>
      <p:sp>
        <p:nvSpPr>
          <p:cNvPr id="12" name="Shape 9"/>
          <p:cNvSpPr/>
          <p:nvPr/>
        </p:nvSpPr>
        <p:spPr>
          <a:xfrm>
            <a:off x="5893308" y="2743200"/>
            <a:ext cx="384048" cy="365760"/>
          </a:xfrm>
          <a:prstGeom prst="rightArrow">
            <a:avLst/>
          </a:prstGeom>
          <a:solidFill>
            <a:schemeClr val="accent3"/>
          </a:solidFill>
          <a:ln w="12700">
            <a:solidFill>
              <a:schemeClr val="accent3"/>
            </a:solidFill>
            <a:prstDash val="solid"/>
          </a:ln>
        </p:spPr>
      </p:sp>
      <p:sp>
        <p:nvSpPr>
          <p:cNvPr id="13" name="Shape 10"/>
          <p:cNvSpPr/>
          <p:nvPr/>
        </p:nvSpPr>
        <p:spPr>
          <a:xfrm>
            <a:off x="6332220" y="2011680"/>
            <a:ext cx="2251710" cy="1828800"/>
          </a:xfrm>
          <a:prstGeom prst="roundRect">
            <a:avLst>
              <a:gd name="adj" fmla="val 6000"/>
            </a:avLst>
          </a:prstGeom>
          <a:solidFill>
            <a:schemeClr val="tx2"/>
          </a:solidFill>
          <a:ln w="12700">
            <a:solidFill>
              <a:srgbClr val="2C3844"/>
            </a:solidFill>
            <a:prstDash val="solid"/>
          </a:ln>
        </p:spPr>
      </p:sp>
      <p:sp>
        <p:nvSpPr>
          <p:cNvPr id="14" name="Text 11"/>
          <p:cNvSpPr txBox="1"/>
          <p:nvPr/>
        </p:nvSpPr>
        <p:spPr>
          <a:xfrm>
            <a:off x="6560820" y="2194560"/>
            <a:ext cx="179451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zshrs-daemon</a:t>
            </a:r>
            <a:endParaRPr lang="en-US" sz="1800" dirty="0"/>
          </a:p>
        </p:txBody>
      </p:sp>
      <p:sp>
        <p:nvSpPr>
          <p:cNvPr id="15" name="Text 12"/>
          <p:cNvSpPr txBox="1"/>
          <p:nvPr/>
        </p:nvSpPr>
        <p:spPr>
          <a:xfrm>
            <a:off x="6560820" y="2743200"/>
            <a:ext cx="1794510" cy="1005840"/>
          </a:xfrm>
          <a:prstGeom prst="rect">
            <a:avLst/>
          </a:prstGeom>
          <a:noFill/>
          <a:ln/>
        </p:spPr>
        <p:txBody>
          <a:bodyPr wrap="square" lIns="0" tIns="0" rIns="0" bIns="0" rtlCol="0" anchor="t"/>
          <a:lstStyle/>
          <a:p>
            <a:pPr indent="0" marL="0">
              <a:buNone/>
            </a:pPr>
            <a:r>
              <a:rPr lang="en-US" sz="1600" dirty="0">
                <a:solidFill>
                  <a:schemeClr val="bg2"/>
                </a:solidFill>
              </a:rPr>
              <a:t>single writer, owns state</a:t>
            </a:r>
            <a:endParaRPr lang="en-US" sz="1600" dirty="0"/>
          </a:p>
        </p:txBody>
      </p:sp>
      <p:sp>
        <p:nvSpPr>
          <p:cNvPr id="16" name="Shape 13"/>
          <p:cNvSpPr/>
          <p:nvPr/>
        </p:nvSpPr>
        <p:spPr>
          <a:xfrm>
            <a:off x="8647938" y="2743200"/>
            <a:ext cx="384048" cy="365760"/>
          </a:xfrm>
          <a:prstGeom prst="rightArrow">
            <a:avLst/>
          </a:prstGeom>
          <a:solidFill>
            <a:schemeClr val="accent3"/>
          </a:solidFill>
          <a:ln w="12700">
            <a:solidFill>
              <a:schemeClr val="accent3"/>
            </a:solidFill>
            <a:prstDash val="solid"/>
          </a:ln>
        </p:spPr>
      </p:sp>
      <p:sp>
        <p:nvSpPr>
          <p:cNvPr id="17" name="Shape 14"/>
          <p:cNvSpPr/>
          <p:nvPr/>
        </p:nvSpPr>
        <p:spPr>
          <a:xfrm>
            <a:off x="9086850" y="2011680"/>
            <a:ext cx="2251710" cy="1828800"/>
          </a:xfrm>
          <a:prstGeom prst="roundRect">
            <a:avLst>
              <a:gd name="adj" fmla="val 6000"/>
            </a:avLst>
          </a:prstGeom>
          <a:solidFill>
            <a:schemeClr val="tx2"/>
          </a:solidFill>
          <a:ln w="12700">
            <a:solidFill>
              <a:srgbClr val="2C3844"/>
            </a:solidFill>
            <a:prstDash val="solid"/>
          </a:ln>
        </p:spPr>
      </p:sp>
      <p:sp>
        <p:nvSpPr>
          <p:cNvPr id="18" name="Text 15"/>
          <p:cNvSpPr txBox="1"/>
          <p:nvPr/>
        </p:nvSpPr>
        <p:spPr>
          <a:xfrm>
            <a:off x="9315450" y="2194560"/>
            <a:ext cx="179451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rkyv shards</a:t>
            </a:r>
            <a:endParaRPr lang="en-US" sz="1800" dirty="0"/>
          </a:p>
        </p:txBody>
      </p:sp>
      <p:sp>
        <p:nvSpPr>
          <p:cNvPr id="19" name="Text 16"/>
          <p:cNvSpPr txBox="1"/>
          <p:nvPr/>
        </p:nvSpPr>
        <p:spPr>
          <a:xfrm>
            <a:off x="9315450" y="2743200"/>
            <a:ext cx="1794510" cy="1005840"/>
          </a:xfrm>
          <a:prstGeom prst="rect">
            <a:avLst/>
          </a:prstGeom>
          <a:noFill/>
          <a:ln/>
        </p:spPr>
        <p:txBody>
          <a:bodyPr wrap="square" lIns="0" tIns="0" rIns="0" bIns="0" rtlCol="0" anchor="t"/>
          <a:lstStyle/>
          <a:p>
            <a:pPr indent="0" marL="0">
              <a:buNone/>
            </a:pPr>
            <a:r>
              <a:rPr lang="en-US" sz="1600" dirty="0">
                <a:solidFill>
                  <a:schemeClr val="bg2"/>
                </a:solidFill>
              </a:rPr>
              <a:t>mmap, zero-copy reads</a:t>
            </a:r>
            <a:endParaRPr lang="en-US" sz="1600" dirty="0"/>
          </a:p>
        </p:txBody>
      </p:sp>
      <p:sp>
        <p:nvSpPr>
          <p:cNvPr id="20" name="Text 17"/>
          <p:cNvSpPr txBox="1"/>
          <p:nvPr/>
        </p:nvSpPr>
        <p:spPr>
          <a:xfrm>
            <a:off x="822960" y="4389120"/>
            <a:ext cx="10515600" cy="548640"/>
          </a:xfrm>
          <a:prstGeom prst="rect">
            <a:avLst/>
          </a:prstGeom>
          <a:noFill/>
          <a:ln/>
        </p:spPr>
        <p:txBody>
          <a:bodyPr wrap="square" lIns="0" tIns="0" rIns="0" bIns="0" rtlCol="0" anchor="t"/>
          <a:lstStyle/>
          <a:p>
            <a:pPr indent="0" marL="0">
              <a:buNone/>
            </a:pPr>
            <a:r>
              <a:rPr lang="en-US" sz="2400" b="1" dirty="0">
                <a:solidFill>
                  <a:schemeClr val="accent3"/>
                </a:solidFill>
              </a:rPr>
              <a:t>Shells read; the daemon writes.</a:t>
            </a:r>
            <a:endParaRPr lang="en-US" sz="24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2 · Recorder</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goodies</a:t>
            </a:r>
            <a:endParaRPr lang="en-US" sz="1200" dirty="0"/>
          </a:p>
        </p:txBody>
      </p:sp>
      <p:sp>
        <p:nvSpPr>
          <p:cNvPr id="5" name="Shape 2"/>
          <p:cNvSpPr/>
          <p:nvPr/>
        </p:nvSpPr>
        <p:spPr>
          <a:xfrm>
            <a:off x="822960" y="1737360"/>
            <a:ext cx="3169920" cy="1645920"/>
          </a:xfrm>
          <a:prstGeom prst="roundRect">
            <a:avLst>
              <a:gd name="adj" fmla="val 6667"/>
            </a:avLst>
          </a:prstGeom>
          <a:solidFill>
            <a:schemeClr val="accent4"/>
          </a:solidFill>
          <a:ln w="12700">
            <a:solidFill>
              <a:schemeClr val="accent4"/>
            </a:solidFill>
            <a:prstDash val="solid"/>
          </a:ln>
        </p:spPr>
      </p:sp>
      <p:sp>
        <p:nvSpPr>
          <p:cNvPr id="6" name="Text 3"/>
          <p:cNvSpPr txBox="1"/>
          <p:nvPr/>
        </p:nvSpPr>
        <p:spPr>
          <a:xfrm>
            <a:off x="1051560" y="1920240"/>
            <a:ext cx="27127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Record</a:t>
            </a:r>
            <a:endParaRPr lang="en-US" sz="2200" dirty="0"/>
          </a:p>
        </p:txBody>
      </p:sp>
      <p:sp>
        <p:nvSpPr>
          <p:cNvPr id="7" name="Text 4"/>
          <p:cNvSpPr txBox="1"/>
          <p:nvPr/>
        </p:nvSpPr>
        <p:spPr>
          <a:xfrm>
            <a:off x="1051560" y="2468880"/>
            <a:ext cx="2712720" cy="822960"/>
          </a:xfrm>
          <a:prstGeom prst="rect">
            <a:avLst/>
          </a:prstGeom>
          <a:noFill/>
          <a:ln/>
        </p:spPr>
        <p:txBody>
          <a:bodyPr wrap="square" lIns="0" tIns="0" rIns="0" bIns="0" rtlCol="0" anchor="t"/>
          <a:lstStyle/>
          <a:p>
            <a:pPr indent="0" marL="0">
              <a:buNone/>
            </a:pPr>
            <a:r>
              <a:rPr lang="en-US" sz="1800" dirty="0">
                <a:solidFill>
                  <a:schemeClr val="bg2"/>
                </a:solidFill>
              </a:rPr>
              <a:t>source the real login chain under AOP intercepts</a:t>
            </a:r>
            <a:endParaRPr lang="en-US" sz="1800" dirty="0"/>
          </a:p>
        </p:txBody>
      </p:sp>
      <p:sp>
        <p:nvSpPr>
          <p:cNvPr id="8" name="Shape 5"/>
          <p:cNvSpPr/>
          <p:nvPr/>
        </p:nvSpPr>
        <p:spPr>
          <a:xfrm>
            <a:off x="4056888" y="2377440"/>
            <a:ext cx="384048" cy="365760"/>
          </a:xfrm>
          <a:prstGeom prst="rightArrow">
            <a:avLst/>
          </a:prstGeom>
          <a:solidFill>
            <a:schemeClr val="accent3"/>
          </a:solidFill>
          <a:ln w="12700">
            <a:solidFill>
              <a:schemeClr val="accent3"/>
            </a:solidFill>
            <a:prstDash val="solid"/>
          </a:ln>
        </p:spPr>
      </p:sp>
      <p:sp>
        <p:nvSpPr>
          <p:cNvPr id="9" name="Shape 6"/>
          <p:cNvSpPr/>
          <p:nvPr/>
        </p:nvSpPr>
        <p:spPr>
          <a:xfrm>
            <a:off x="4495800" y="1737360"/>
            <a:ext cx="3169920" cy="1645920"/>
          </a:xfrm>
          <a:prstGeom prst="roundRect">
            <a:avLst>
              <a:gd name="adj" fmla="val 6667"/>
            </a:avLst>
          </a:prstGeom>
          <a:solidFill>
            <a:schemeClr val="accent4"/>
          </a:solidFill>
          <a:ln w="12700">
            <a:solidFill>
              <a:schemeClr val="accent4"/>
            </a:solidFill>
            <a:prstDash val="solid"/>
          </a:ln>
        </p:spPr>
      </p:sp>
      <p:sp>
        <p:nvSpPr>
          <p:cNvPr id="10" name="Text 7"/>
          <p:cNvSpPr txBox="1"/>
          <p:nvPr/>
        </p:nvSpPr>
        <p:spPr>
          <a:xfrm>
            <a:off x="4724400" y="1920240"/>
            <a:ext cx="27127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Classify</a:t>
            </a:r>
            <a:endParaRPr lang="en-US" sz="2200" dirty="0"/>
          </a:p>
        </p:txBody>
      </p:sp>
      <p:sp>
        <p:nvSpPr>
          <p:cNvPr id="11" name="Text 8"/>
          <p:cNvSpPr txBox="1"/>
          <p:nvPr/>
        </p:nvSpPr>
        <p:spPr>
          <a:xfrm>
            <a:off x="4724400" y="2468880"/>
            <a:ext cx="2712720" cy="822960"/>
          </a:xfrm>
          <a:prstGeom prst="rect">
            <a:avLst/>
          </a:prstGeom>
          <a:noFill/>
          <a:ln/>
        </p:spPr>
        <p:txBody>
          <a:bodyPr wrap="square" lIns="0" tIns="0" rIns="0" bIns="0" rtlCol="0" anchor="t"/>
          <a:lstStyle/>
          <a:p>
            <a:pPr indent="0" marL="0">
              <a:buNone/>
            </a:pPr>
            <a:r>
              <a:rPr lang="en-US" sz="1800" dirty="0">
                <a:solidFill>
                  <a:schemeClr val="bg2"/>
                </a:solidFill>
              </a:rPr>
              <a:t>pure function of dotfiles, or must replay</a:t>
            </a:r>
            <a:endParaRPr lang="en-US" sz="1800" dirty="0"/>
          </a:p>
        </p:txBody>
      </p:sp>
      <p:sp>
        <p:nvSpPr>
          <p:cNvPr id="12" name="Shape 9"/>
          <p:cNvSpPr/>
          <p:nvPr/>
        </p:nvSpPr>
        <p:spPr>
          <a:xfrm>
            <a:off x="7729728" y="2377440"/>
            <a:ext cx="384048" cy="365760"/>
          </a:xfrm>
          <a:prstGeom prst="rightArrow">
            <a:avLst/>
          </a:prstGeom>
          <a:solidFill>
            <a:schemeClr val="accent3"/>
          </a:solidFill>
          <a:ln w="12700">
            <a:solidFill>
              <a:schemeClr val="accent3"/>
            </a:solidFill>
            <a:prstDash val="solid"/>
          </a:ln>
        </p:spPr>
      </p:sp>
      <p:sp>
        <p:nvSpPr>
          <p:cNvPr id="13" name="Shape 10"/>
          <p:cNvSpPr/>
          <p:nvPr/>
        </p:nvSpPr>
        <p:spPr>
          <a:xfrm>
            <a:off x="8168640" y="1737360"/>
            <a:ext cx="3169920" cy="1645920"/>
          </a:xfrm>
          <a:prstGeom prst="roundRect">
            <a:avLst>
              <a:gd name="adj" fmla="val 6667"/>
            </a:avLst>
          </a:prstGeom>
          <a:solidFill>
            <a:schemeClr val="accent4"/>
          </a:solidFill>
          <a:ln w="12700">
            <a:solidFill>
              <a:schemeClr val="accent4"/>
            </a:solidFill>
            <a:prstDash val="solid"/>
          </a:ln>
        </p:spPr>
      </p:sp>
      <p:sp>
        <p:nvSpPr>
          <p:cNvPr id="14" name="Text 11"/>
          <p:cNvSpPr txBox="1"/>
          <p:nvPr/>
        </p:nvSpPr>
        <p:spPr>
          <a:xfrm>
            <a:off x="8397240" y="1920240"/>
            <a:ext cx="27127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Cache</a:t>
            </a:r>
            <a:endParaRPr lang="en-US" sz="2200" dirty="0"/>
          </a:p>
        </p:txBody>
      </p:sp>
      <p:sp>
        <p:nvSpPr>
          <p:cNvPr id="15" name="Text 12"/>
          <p:cNvSpPr txBox="1"/>
          <p:nvPr/>
        </p:nvSpPr>
        <p:spPr>
          <a:xfrm>
            <a:off x="8397240" y="2468880"/>
            <a:ext cx="2712720" cy="822960"/>
          </a:xfrm>
          <a:prstGeom prst="rect">
            <a:avLst/>
          </a:prstGeom>
          <a:noFill/>
          <a:ln/>
        </p:spPr>
        <p:txBody>
          <a:bodyPr wrap="square" lIns="0" tIns="0" rIns="0" bIns="0" rtlCol="0" anchor="t"/>
          <a:lstStyle/>
          <a:p>
            <a:pPr indent="0" marL="0">
              <a:buNone/>
            </a:pPr>
            <a:r>
              <a:rPr lang="en-US" sz="1800" dirty="0">
                <a:solidFill>
                  <a:schemeClr val="bg2"/>
                </a:solidFill>
              </a:rPr>
              <a:t>pure part folds into the canonical shard</a:t>
            </a:r>
            <a:endParaRPr lang="en-US" sz="1800" dirty="0"/>
          </a:p>
        </p:txBody>
      </p:sp>
      <p:sp>
        <p:nvSpPr>
          <p:cNvPr id="16" name="Text 13"/>
          <p:cNvSpPr txBox="1"/>
          <p:nvPr/>
        </p:nvSpPr>
        <p:spPr>
          <a:xfrm>
            <a:off x="822960" y="3840480"/>
            <a:ext cx="10515600" cy="219456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accent4"/>
                </a:solidFill>
              </a:rPr>
              <a:t>Records alias, function, export, fpath, zstyle, bindkey, compdef, setopt, trap, source and more</a:t>
            </a:r>
            <a:endParaRPr lang="en-US" sz="2200" dirty="0"/>
          </a:p>
          <a:p>
            <a:pPr marL="342900" indent="-342900">
              <a:spcAft>
                <a:spcPts val="1000"/>
              </a:spcAft>
              <a:buSzPct val="100000"/>
              <a:buChar char="•"/>
            </a:pPr>
            <a:r>
              <a:rPr lang="en-US" sz="2200" dirty="0">
                <a:solidFill>
                  <a:schemeClr val="accent4"/>
                </a:solidFill>
              </a:rPr>
              <a:t>Non-deterministic fragments live in replay/ and are replayed</a:t>
            </a:r>
            <a:endParaRPr lang="en-US" sz="2200" dirty="0"/>
          </a:p>
          <a:p>
            <a:pPr marL="342900" indent="-342900">
              <a:spcAft>
                <a:spcPts val="1000"/>
              </a:spcAft>
              <a:buSzPct val="100000"/>
              <a:buChar char="•"/>
            </a:pPr>
            <a:r>
              <a:rPr lang="en-US" sz="2200" dirty="0">
                <a:solidFill>
                  <a:schemeClr val="accent4"/>
                </a:solidFill>
              </a:rPr>
              <a:t>zwhere names the file and line behind any alias</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ZLE and highlighting next</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outline</a:t>
            </a:r>
            <a:endParaRPr lang="en-US" sz="1200" dirty="0"/>
          </a:p>
        </p:txBody>
      </p:sp>
      <p:sp>
        <p:nvSpPr>
          <p:cNvPr id="5" name="Shape 2"/>
          <p:cNvSpPr/>
          <p:nvPr/>
        </p:nvSpPr>
        <p:spPr>
          <a:xfrm>
            <a:off x="822960" y="1737360"/>
            <a:ext cx="5120640" cy="822960"/>
          </a:xfrm>
          <a:prstGeom prst="roundRect">
            <a:avLst>
              <a:gd name="adj" fmla="val 13333"/>
            </a:avLst>
          </a:prstGeom>
          <a:solidFill>
            <a:schemeClr val="tx2"/>
          </a:solidFill>
          <a:ln w="12700">
            <a:solidFill>
              <a:srgbClr val="2C3844"/>
            </a:solidFill>
            <a:prstDash val="solid"/>
          </a:ln>
        </p:spPr>
      </p:sp>
      <p:sp>
        <p:nvSpPr>
          <p:cNvPr id="6" name="Text 3"/>
          <p:cNvSpPr txBox="1"/>
          <p:nvPr/>
        </p:nvSpPr>
        <p:spPr>
          <a:xfrm>
            <a:off x="1097280" y="1737360"/>
            <a:ext cx="548640" cy="822960"/>
          </a:xfrm>
          <a:prstGeom prst="rect">
            <a:avLst/>
          </a:prstGeom>
          <a:noFill/>
          <a:ln/>
        </p:spPr>
        <p:txBody>
          <a:bodyPr wrap="square" lIns="0" tIns="0" rIns="0" bIns="0" rtlCol="0" anchor="ctr"/>
          <a:lstStyle/>
          <a:p>
            <a:pPr indent="0" marL="0">
              <a:buNone/>
            </a:pPr>
            <a:r>
              <a:rPr lang="en-US" sz="2600" b="1" dirty="0">
                <a:solidFill>
                  <a:schemeClr val="accent5"/>
                </a:solidFill>
              </a:rPr>
              <a:t>1</a:t>
            </a:r>
            <a:endParaRPr lang="en-US" sz="2600" dirty="0"/>
          </a:p>
        </p:txBody>
      </p:sp>
      <p:sp>
        <p:nvSpPr>
          <p:cNvPr id="7" name="Text 4"/>
          <p:cNvSpPr txBox="1"/>
          <p:nvPr/>
        </p:nvSpPr>
        <p:spPr>
          <a:xfrm>
            <a:off x="1828800" y="1737360"/>
            <a:ext cx="3931920" cy="822960"/>
          </a:xfrm>
          <a:prstGeom prst="rect">
            <a:avLst/>
          </a:prstGeom>
          <a:noFill/>
          <a:ln/>
        </p:spPr>
        <p:txBody>
          <a:bodyPr wrap="square" lIns="0" tIns="0" rIns="0" bIns="0" rtlCol="0" anchor="ctr"/>
          <a:lstStyle/>
          <a:p>
            <a:pPr indent="0" marL="0">
              <a:buNone/>
            </a:pPr>
            <a:r>
              <a:rPr lang="en-US" sz="2400" dirty="0">
                <a:solidFill>
                  <a:schemeClr val="bg2"/>
                </a:solidFill>
              </a:rPr>
              <a:t>Daemon server</a:t>
            </a:r>
            <a:endParaRPr lang="en-US" sz="2400" dirty="0"/>
          </a:p>
        </p:txBody>
      </p:sp>
      <p:sp>
        <p:nvSpPr>
          <p:cNvPr id="8" name="Shape 5"/>
          <p:cNvSpPr/>
          <p:nvPr/>
        </p:nvSpPr>
        <p:spPr>
          <a:xfrm>
            <a:off x="822960" y="2743200"/>
            <a:ext cx="5120640" cy="822960"/>
          </a:xfrm>
          <a:prstGeom prst="roundRect">
            <a:avLst>
              <a:gd name="adj" fmla="val 13333"/>
            </a:avLst>
          </a:prstGeom>
          <a:solidFill>
            <a:schemeClr val="tx2"/>
          </a:solidFill>
          <a:ln w="12700">
            <a:solidFill>
              <a:srgbClr val="2C3844"/>
            </a:solidFill>
            <a:prstDash val="solid"/>
          </a:ln>
        </p:spPr>
      </p:sp>
      <p:sp>
        <p:nvSpPr>
          <p:cNvPr id="9" name="Text 6"/>
          <p:cNvSpPr txBox="1"/>
          <p:nvPr/>
        </p:nvSpPr>
        <p:spPr>
          <a:xfrm>
            <a:off x="1097280" y="2743200"/>
            <a:ext cx="548640" cy="822960"/>
          </a:xfrm>
          <a:prstGeom prst="rect">
            <a:avLst/>
          </a:prstGeom>
          <a:noFill/>
          <a:ln/>
        </p:spPr>
        <p:txBody>
          <a:bodyPr wrap="square" lIns="0" tIns="0" rIns="0" bIns="0" rtlCol="0" anchor="ctr"/>
          <a:lstStyle/>
          <a:p>
            <a:pPr indent="0" marL="0">
              <a:buNone/>
            </a:pPr>
            <a:r>
              <a:rPr lang="en-US" sz="2600" b="1" dirty="0">
                <a:solidFill>
                  <a:schemeClr val="accent5"/>
                </a:solidFill>
              </a:rPr>
              <a:t>2</a:t>
            </a:r>
            <a:endParaRPr lang="en-US" sz="2600" dirty="0"/>
          </a:p>
        </p:txBody>
      </p:sp>
      <p:sp>
        <p:nvSpPr>
          <p:cNvPr id="10" name="Text 7"/>
          <p:cNvSpPr txBox="1"/>
          <p:nvPr/>
        </p:nvSpPr>
        <p:spPr>
          <a:xfrm>
            <a:off x="1828800" y="2743200"/>
            <a:ext cx="3931920" cy="822960"/>
          </a:xfrm>
          <a:prstGeom prst="rect">
            <a:avLst/>
          </a:prstGeom>
          <a:noFill/>
          <a:ln/>
        </p:spPr>
        <p:txBody>
          <a:bodyPr wrap="square" lIns="0" tIns="0" rIns="0" bIns="0" rtlCol="0" anchor="ctr"/>
          <a:lstStyle/>
          <a:p>
            <a:pPr indent="0" marL="0">
              <a:buNone/>
            </a:pPr>
            <a:r>
              <a:rPr lang="en-US" sz="2400" dirty="0">
                <a:solidFill>
                  <a:schemeClr val="bg2"/>
                </a:solidFill>
              </a:rPr>
              <a:t>Recorder</a:t>
            </a:r>
            <a:endParaRPr lang="en-US" sz="2400" dirty="0"/>
          </a:p>
        </p:txBody>
      </p:sp>
      <p:sp>
        <p:nvSpPr>
          <p:cNvPr id="11" name="Shape 8"/>
          <p:cNvSpPr/>
          <p:nvPr/>
        </p:nvSpPr>
        <p:spPr>
          <a:xfrm>
            <a:off x="822960" y="3749040"/>
            <a:ext cx="5120640" cy="822960"/>
          </a:xfrm>
          <a:prstGeom prst="roundRect">
            <a:avLst>
              <a:gd name="adj" fmla="val 13333"/>
            </a:avLst>
          </a:prstGeom>
          <a:solidFill>
            <a:schemeClr val="tx2"/>
          </a:solidFill>
          <a:ln w="12700">
            <a:solidFill>
              <a:srgbClr val="2C3844"/>
            </a:solidFill>
            <a:prstDash val="solid"/>
          </a:ln>
        </p:spPr>
      </p:sp>
      <p:sp>
        <p:nvSpPr>
          <p:cNvPr id="12" name="Text 9"/>
          <p:cNvSpPr txBox="1"/>
          <p:nvPr/>
        </p:nvSpPr>
        <p:spPr>
          <a:xfrm>
            <a:off x="1097280" y="3749040"/>
            <a:ext cx="548640" cy="822960"/>
          </a:xfrm>
          <a:prstGeom prst="rect">
            <a:avLst/>
          </a:prstGeom>
          <a:noFill/>
          <a:ln/>
        </p:spPr>
        <p:txBody>
          <a:bodyPr wrap="square" lIns="0" tIns="0" rIns="0" bIns="0" rtlCol="0" anchor="ctr"/>
          <a:lstStyle/>
          <a:p>
            <a:pPr indent="0" marL="0">
              <a:buNone/>
            </a:pPr>
            <a:r>
              <a:rPr lang="en-US" sz="2600" b="1" dirty="0">
                <a:solidFill>
                  <a:schemeClr val="accent3"/>
                </a:solidFill>
              </a:rPr>
              <a:t>3</a:t>
            </a:r>
            <a:endParaRPr lang="en-US" sz="2600" dirty="0"/>
          </a:p>
        </p:txBody>
      </p:sp>
      <p:sp>
        <p:nvSpPr>
          <p:cNvPr id="13" name="Text 10"/>
          <p:cNvSpPr txBox="1"/>
          <p:nvPr/>
        </p:nvSpPr>
        <p:spPr>
          <a:xfrm>
            <a:off x="1828800" y="3749040"/>
            <a:ext cx="3931920" cy="822960"/>
          </a:xfrm>
          <a:prstGeom prst="rect">
            <a:avLst/>
          </a:prstGeom>
          <a:noFill/>
          <a:ln/>
        </p:spPr>
        <p:txBody>
          <a:bodyPr wrap="square" lIns="0" tIns="0" rIns="0" bIns="0" rtlCol="0" anchor="ctr"/>
          <a:lstStyle/>
          <a:p>
            <a:pPr indent="0" marL="0">
              <a:buNone/>
            </a:pPr>
            <a:r>
              <a:rPr lang="en-US" sz="2400" b="1" dirty="0">
                <a:solidFill>
                  <a:schemeClr val="accent1"/>
                </a:solidFill>
              </a:rPr>
              <a:t>ZLE config section</a:t>
            </a:r>
            <a:endParaRPr lang="en-US" sz="2400" dirty="0"/>
          </a:p>
        </p:txBody>
      </p:sp>
      <p:sp>
        <p:nvSpPr>
          <p:cNvPr id="14" name="Shape 11"/>
          <p:cNvSpPr/>
          <p:nvPr/>
        </p:nvSpPr>
        <p:spPr>
          <a:xfrm>
            <a:off x="822960" y="4754880"/>
            <a:ext cx="5120640" cy="822960"/>
          </a:xfrm>
          <a:prstGeom prst="roundRect">
            <a:avLst>
              <a:gd name="adj" fmla="val 13333"/>
            </a:avLst>
          </a:prstGeom>
          <a:solidFill>
            <a:schemeClr val="tx2"/>
          </a:solidFill>
          <a:ln w="12700">
            <a:solidFill>
              <a:srgbClr val="2C3844"/>
            </a:solidFill>
            <a:prstDash val="solid"/>
          </a:ln>
        </p:spPr>
      </p:sp>
      <p:sp>
        <p:nvSpPr>
          <p:cNvPr id="15" name="Text 12"/>
          <p:cNvSpPr txBox="1"/>
          <p:nvPr/>
        </p:nvSpPr>
        <p:spPr>
          <a:xfrm>
            <a:off x="1097280" y="4754880"/>
            <a:ext cx="548640" cy="822960"/>
          </a:xfrm>
          <a:prstGeom prst="rect">
            <a:avLst/>
          </a:prstGeom>
          <a:noFill/>
          <a:ln/>
        </p:spPr>
        <p:txBody>
          <a:bodyPr wrap="square" lIns="0" tIns="0" rIns="0" bIns="0" rtlCol="0" anchor="ctr"/>
          <a:lstStyle/>
          <a:p>
            <a:pPr indent="0" marL="0">
              <a:buNone/>
            </a:pPr>
            <a:r>
              <a:rPr lang="en-US" sz="2600" b="1" dirty="0">
                <a:solidFill>
                  <a:schemeClr val="accent3"/>
                </a:solidFill>
              </a:rPr>
              <a:t>4</a:t>
            </a:r>
            <a:endParaRPr lang="en-US" sz="2600" dirty="0"/>
          </a:p>
        </p:txBody>
      </p:sp>
      <p:sp>
        <p:nvSpPr>
          <p:cNvPr id="16" name="Text 13"/>
          <p:cNvSpPr txBox="1"/>
          <p:nvPr/>
        </p:nvSpPr>
        <p:spPr>
          <a:xfrm>
            <a:off x="1828800" y="4754880"/>
            <a:ext cx="3931920" cy="822960"/>
          </a:xfrm>
          <a:prstGeom prst="rect">
            <a:avLst/>
          </a:prstGeom>
          <a:noFill/>
          <a:ln/>
        </p:spPr>
        <p:txBody>
          <a:bodyPr wrap="square" lIns="0" tIns="0" rIns="0" bIns="0" rtlCol="0" anchor="ctr"/>
          <a:lstStyle/>
          <a:p>
            <a:pPr indent="0" marL="0">
              <a:buNone/>
            </a:pPr>
            <a:r>
              <a:rPr lang="en-US" sz="2400" b="1" dirty="0">
                <a:solidFill>
                  <a:schemeClr val="accent1"/>
                </a:solidFill>
              </a:rPr>
              <a:t>Syntax highlighting</a:t>
            </a:r>
            <a:endParaRPr lang="en-US" sz="2400" dirty="0"/>
          </a:p>
        </p:txBody>
      </p:sp>
      <p:sp>
        <p:nvSpPr>
          <p:cNvPr id="17" name="Shape 14"/>
          <p:cNvSpPr/>
          <p:nvPr/>
        </p:nvSpPr>
        <p:spPr>
          <a:xfrm>
            <a:off x="6217920" y="1737360"/>
            <a:ext cx="5120640" cy="822960"/>
          </a:xfrm>
          <a:prstGeom prst="roundRect">
            <a:avLst>
              <a:gd name="adj" fmla="val 13333"/>
            </a:avLst>
          </a:prstGeom>
          <a:solidFill>
            <a:schemeClr val="tx2"/>
          </a:solidFill>
          <a:ln w="12700">
            <a:solidFill>
              <a:srgbClr val="2C3844"/>
            </a:solidFill>
            <a:prstDash val="solid"/>
          </a:ln>
        </p:spPr>
      </p:sp>
      <p:sp>
        <p:nvSpPr>
          <p:cNvPr id="18" name="Text 15"/>
          <p:cNvSpPr txBox="1"/>
          <p:nvPr/>
        </p:nvSpPr>
        <p:spPr>
          <a:xfrm>
            <a:off x="6492240" y="1737360"/>
            <a:ext cx="548640" cy="822960"/>
          </a:xfrm>
          <a:prstGeom prst="rect">
            <a:avLst/>
          </a:prstGeom>
          <a:noFill/>
          <a:ln/>
        </p:spPr>
        <p:txBody>
          <a:bodyPr wrap="square" lIns="0" tIns="0" rIns="0" bIns="0" rtlCol="0" anchor="ctr"/>
          <a:lstStyle/>
          <a:p>
            <a:pPr indent="0" marL="0">
              <a:buNone/>
            </a:pPr>
            <a:r>
              <a:rPr lang="en-US" sz="2600" b="1" dirty="0">
                <a:solidFill>
                  <a:schemeClr val="accent5"/>
                </a:solidFill>
              </a:rPr>
              <a:t>5</a:t>
            </a:r>
            <a:endParaRPr lang="en-US" sz="2600" dirty="0"/>
          </a:p>
        </p:txBody>
      </p:sp>
      <p:sp>
        <p:nvSpPr>
          <p:cNvPr id="19" name="Text 16"/>
          <p:cNvSpPr txBox="1"/>
          <p:nvPr/>
        </p:nvSpPr>
        <p:spPr>
          <a:xfrm>
            <a:off x="7223760" y="1737360"/>
            <a:ext cx="3931920" cy="822960"/>
          </a:xfrm>
          <a:prstGeom prst="rect">
            <a:avLst/>
          </a:prstGeom>
          <a:noFill/>
          <a:ln/>
        </p:spPr>
        <p:txBody>
          <a:bodyPr wrap="square" lIns="0" tIns="0" rIns="0" bIns="0" rtlCol="0" anchor="ctr"/>
          <a:lstStyle/>
          <a:p>
            <a:pPr indent="0" marL="0">
              <a:buNone/>
            </a:pPr>
            <a:r>
              <a:rPr lang="en-US" sz="2400" dirty="0">
                <a:solidFill>
                  <a:schemeClr val="bg2"/>
                </a:solidFill>
              </a:rPr>
              <a:t>Rust prompt engine</a:t>
            </a:r>
            <a:endParaRPr lang="en-US" sz="2400" dirty="0"/>
          </a:p>
        </p:txBody>
      </p:sp>
      <p:sp>
        <p:nvSpPr>
          <p:cNvPr id="20" name="Shape 17"/>
          <p:cNvSpPr/>
          <p:nvPr/>
        </p:nvSpPr>
        <p:spPr>
          <a:xfrm>
            <a:off x="6217920" y="2743200"/>
            <a:ext cx="5120640" cy="822960"/>
          </a:xfrm>
          <a:prstGeom prst="roundRect">
            <a:avLst>
              <a:gd name="adj" fmla="val 13333"/>
            </a:avLst>
          </a:prstGeom>
          <a:solidFill>
            <a:schemeClr val="tx2"/>
          </a:solidFill>
          <a:ln w="12700">
            <a:solidFill>
              <a:srgbClr val="2C3844"/>
            </a:solidFill>
            <a:prstDash val="solid"/>
          </a:ln>
        </p:spPr>
      </p:sp>
      <p:sp>
        <p:nvSpPr>
          <p:cNvPr id="21" name="Text 18"/>
          <p:cNvSpPr txBox="1"/>
          <p:nvPr/>
        </p:nvSpPr>
        <p:spPr>
          <a:xfrm>
            <a:off x="6492240" y="2743200"/>
            <a:ext cx="548640" cy="822960"/>
          </a:xfrm>
          <a:prstGeom prst="rect">
            <a:avLst/>
          </a:prstGeom>
          <a:noFill/>
          <a:ln/>
        </p:spPr>
        <p:txBody>
          <a:bodyPr wrap="square" lIns="0" tIns="0" rIns="0" bIns="0" rtlCol="0" anchor="ctr"/>
          <a:lstStyle/>
          <a:p>
            <a:pPr indent="0" marL="0">
              <a:buNone/>
            </a:pPr>
            <a:r>
              <a:rPr lang="en-US" sz="2600" b="1" dirty="0">
                <a:solidFill>
                  <a:schemeClr val="accent5"/>
                </a:solidFill>
              </a:rPr>
              <a:t>6</a:t>
            </a:r>
            <a:endParaRPr lang="en-US" sz="2600" dirty="0"/>
          </a:p>
        </p:txBody>
      </p:sp>
      <p:sp>
        <p:nvSpPr>
          <p:cNvPr id="22" name="Text 19"/>
          <p:cNvSpPr txBox="1"/>
          <p:nvPr/>
        </p:nvSpPr>
        <p:spPr>
          <a:xfrm>
            <a:off x="7223760" y="2743200"/>
            <a:ext cx="3931920" cy="822960"/>
          </a:xfrm>
          <a:prstGeom prst="rect">
            <a:avLst/>
          </a:prstGeom>
          <a:noFill/>
          <a:ln/>
        </p:spPr>
        <p:txBody>
          <a:bodyPr wrap="square" lIns="0" tIns="0" rIns="0" bIns="0" rtlCol="0" anchor="ctr"/>
          <a:lstStyle/>
          <a:p>
            <a:pPr indent="0" marL="0">
              <a:buNone/>
            </a:pPr>
            <a:r>
              <a:rPr lang="en-US" sz="2400" dirty="0">
                <a:solidFill>
                  <a:schemeClr val="bg2"/>
                </a:solidFill>
              </a:rPr>
              <a:t>Plugin ABI</a:t>
            </a:r>
            <a:endParaRPr lang="en-US" sz="2400" dirty="0"/>
          </a:p>
        </p:txBody>
      </p:sp>
      <p:sp>
        <p:nvSpPr>
          <p:cNvPr id="23" name="Shape 20"/>
          <p:cNvSpPr/>
          <p:nvPr/>
        </p:nvSpPr>
        <p:spPr>
          <a:xfrm>
            <a:off x="6217920" y="3749040"/>
            <a:ext cx="5120640" cy="822960"/>
          </a:xfrm>
          <a:prstGeom prst="roundRect">
            <a:avLst>
              <a:gd name="adj" fmla="val 13333"/>
            </a:avLst>
          </a:prstGeom>
          <a:solidFill>
            <a:schemeClr val="tx2"/>
          </a:solidFill>
          <a:ln w="12700">
            <a:solidFill>
              <a:srgbClr val="2C3844"/>
            </a:solidFill>
            <a:prstDash val="solid"/>
          </a:ln>
        </p:spPr>
      </p:sp>
      <p:sp>
        <p:nvSpPr>
          <p:cNvPr id="24" name="Text 21"/>
          <p:cNvSpPr txBox="1"/>
          <p:nvPr/>
        </p:nvSpPr>
        <p:spPr>
          <a:xfrm>
            <a:off x="6492240" y="3749040"/>
            <a:ext cx="548640" cy="822960"/>
          </a:xfrm>
          <a:prstGeom prst="rect">
            <a:avLst/>
          </a:prstGeom>
          <a:noFill/>
          <a:ln/>
        </p:spPr>
        <p:txBody>
          <a:bodyPr wrap="square" lIns="0" tIns="0" rIns="0" bIns="0" rtlCol="0" anchor="ctr"/>
          <a:lstStyle/>
          <a:p>
            <a:pPr indent="0" marL="0">
              <a:buNone/>
            </a:pPr>
            <a:r>
              <a:rPr lang="en-US" sz="2600" b="1" dirty="0">
                <a:solidFill>
                  <a:schemeClr val="accent5"/>
                </a:solidFill>
              </a:rPr>
              <a:t>7</a:t>
            </a:r>
            <a:endParaRPr lang="en-US" sz="2600" dirty="0"/>
          </a:p>
        </p:txBody>
      </p:sp>
      <p:sp>
        <p:nvSpPr>
          <p:cNvPr id="25" name="Text 22"/>
          <p:cNvSpPr txBox="1"/>
          <p:nvPr/>
        </p:nvSpPr>
        <p:spPr>
          <a:xfrm>
            <a:off x="7223760" y="3749040"/>
            <a:ext cx="3931920" cy="822960"/>
          </a:xfrm>
          <a:prstGeom prst="rect">
            <a:avLst/>
          </a:prstGeom>
          <a:noFill/>
          <a:ln/>
        </p:spPr>
        <p:txBody>
          <a:bodyPr wrap="square" lIns="0" tIns="0" rIns="0" bIns="0" rtlCol="0" anchor="ctr"/>
          <a:lstStyle/>
          <a:p>
            <a:pPr indent="0" marL="0">
              <a:buNone/>
            </a:pPr>
            <a:r>
              <a:rPr lang="en-US" sz="2400" dirty="0">
                <a:solidFill>
                  <a:schemeClr val="bg2"/>
                </a:solidFill>
              </a:rPr>
              <a:t>Tooling in the binary</a:t>
            </a:r>
            <a:endParaRPr lang="en-US" sz="2400" dirty="0"/>
          </a:p>
        </p:txBody>
      </p:sp>
      <p:sp>
        <p:nvSpPr>
          <p:cNvPr id="26" name="Shape 23"/>
          <p:cNvSpPr/>
          <p:nvPr/>
        </p:nvSpPr>
        <p:spPr>
          <a:xfrm>
            <a:off x="6217920" y="4754880"/>
            <a:ext cx="5120640" cy="822960"/>
          </a:xfrm>
          <a:prstGeom prst="roundRect">
            <a:avLst>
              <a:gd name="adj" fmla="val 13333"/>
            </a:avLst>
          </a:prstGeom>
          <a:solidFill>
            <a:schemeClr val="tx2"/>
          </a:solidFill>
          <a:ln w="12700">
            <a:solidFill>
              <a:srgbClr val="2C3844"/>
            </a:solidFill>
            <a:prstDash val="solid"/>
          </a:ln>
        </p:spPr>
      </p:sp>
      <p:sp>
        <p:nvSpPr>
          <p:cNvPr id="27" name="Text 24"/>
          <p:cNvSpPr txBox="1"/>
          <p:nvPr/>
        </p:nvSpPr>
        <p:spPr>
          <a:xfrm>
            <a:off x="6492240" y="4754880"/>
            <a:ext cx="548640" cy="822960"/>
          </a:xfrm>
          <a:prstGeom prst="rect">
            <a:avLst/>
          </a:prstGeom>
          <a:noFill/>
          <a:ln/>
        </p:spPr>
        <p:txBody>
          <a:bodyPr wrap="square" lIns="0" tIns="0" rIns="0" bIns="0" rtlCol="0" anchor="ctr"/>
          <a:lstStyle/>
          <a:p>
            <a:pPr indent="0" marL="0">
              <a:buNone/>
            </a:pPr>
            <a:r>
              <a:rPr lang="en-US" sz="2600" b="1" dirty="0">
                <a:solidFill>
                  <a:schemeClr val="accent5"/>
                </a:solidFill>
              </a:rPr>
              <a:t>8</a:t>
            </a:r>
            <a:endParaRPr lang="en-US" sz="2600" dirty="0"/>
          </a:p>
        </p:txBody>
      </p:sp>
      <p:sp>
        <p:nvSpPr>
          <p:cNvPr id="28" name="Text 25"/>
          <p:cNvSpPr txBox="1"/>
          <p:nvPr/>
        </p:nvSpPr>
        <p:spPr>
          <a:xfrm>
            <a:off x="7223760" y="4754880"/>
            <a:ext cx="3931920" cy="822960"/>
          </a:xfrm>
          <a:prstGeom prst="rect">
            <a:avLst/>
          </a:prstGeom>
          <a:noFill/>
          <a:ln/>
        </p:spPr>
        <p:txBody>
          <a:bodyPr wrap="square" lIns="0" tIns="0" rIns="0" bIns="0" rtlCol="0" anchor="ctr"/>
          <a:lstStyle/>
          <a:p>
            <a:pPr indent="0" marL="0">
              <a:buNone/>
            </a:pPr>
            <a:r>
              <a:rPr lang="en-US" sz="2400" dirty="0">
                <a:solidFill>
                  <a:schemeClr val="bg2"/>
                </a:solidFill>
              </a:rPr>
              <a:t>Absorbed binaries</a:t>
            </a:r>
            <a:endParaRPr lang="en-US" sz="24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3 · ZLE config section</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goodies</a:t>
            </a:r>
            <a:endParaRPr lang="en-US" sz="1200" dirty="0"/>
          </a:p>
        </p:txBody>
      </p:sp>
      <p:sp>
        <p:nvSpPr>
          <p:cNvPr id="5" name="Shape 2"/>
          <p:cNvSpPr/>
          <p:nvPr/>
        </p:nvSpPr>
        <p:spPr>
          <a:xfrm>
            <a:off x="822960" y="1737360"/>
            <a:ext cx="5303520" cy="3474720"/>
          </a:xfrm>
          <a:prstGeom prst="roundRect">
            <a:avLst>
              <a:gd name="adj" fmla="val 3158"/>
            </a:avLst>
          </a:prstGeom>
          <a:solidFill>
            <a:schemeClr val="accent4"/>
          </a:solidFill>
          <a:ln w="12700">
            <a:solidFill>
              <a:srgbClr val="2C3844"/>
            </a:solidFill>
            <a:prstDash val="solid"/>
          </a:ln>
        </p:spPr>
      </p:sp>
      <p:sp>
        <p:nvSpPr>
          <p:cNvPr id="6" name="Text 3"/>
          <p:cNvSpPr txBox="1"/>
          <p:nvPr/>
        </p:nvSpPr>
        <p:spPr>
          <a:xfrm>
            <a:off x="1143000" y="1965960"/>
            <a:ext cx="4663440" cy="3017520"/>
          </a:xfrm>
          <a:prstGeom prst="rect">
            <a:avLst/>
          </a:prstGeom>
          <a:noFill/>
          <a:ln/>
        </p:spPr>
        <p:txBody>
          <a:bodyPr wrap="square" lIns="0" tIns="0" rIns="0" bIns="0" rtlCol="0" anchor="t"/>
          <a:lstStyle/>
          <a:p>
            <a:pPr indent="0" marL="0">
              <a:spcAft>
                <a:spcPts val="400"/>
              </a:spcAft>
              <a:buNone/>
            </a:pPr>
            <a:r>
              <a:rPr lang="en-US" sz="2000" dirty="0">
                <a:solidFill>
                  <a:schemeClr val="accent5"/>
                </a:solidFill>
                <a:latin typeface="Courier New" pitchFamily="34" charset="0"/>
                <a:ea typeface="Courier New" pitchFamily="34" charset="-122"/>
                <a:cs typeface="Courier New" pitchFamily="34" charset="-120"/>
              </a:rPr>
              <a:t># ~/.zshrs/zshrs.toml</a:t>
            </a:r>
            <a:endParaRPr lang="en-US" sz="2000" dirty="0"/>
          </a:p>
          <a:p>
            <a:pPr indent="0" marL="0">
              <a:spcAft>
                <a:spcPts val="400"/>
              </a:spcAft>
              <a:buNone/>
            </a:pPr>
            <a:r>
              <a:rPr lang="en-US" sz="2000" dirty="0">
                <a:solidFill>
                  <a:schemeClr val="accent3"/>
                </a:solidFill>
                <a:latin typeface="Courier New" pitchFamily="34" charset="0"/>
                <a:ea typeface="Courier New" pitchFamily="34" charset="-122"/>
                <a:cs typeface="Courier New" pitchFamily="34" charset="-120"/>
              </a:rPr>
              <a:t>[zle]</a:t>
            </a:r>
            <a:endParaRPr lang="en-US" sz="2000" dirty="0"/>
          </a:p>
          <a:p>
            <a:pPr indent="0" marL="0">
              <a:spcAft>
                <a:spcPts val="400"/>
              </a:spcAft>
              <a:buNone/>
            </a:pPr>
            <a:r>
              <a:rPr lang="en-US" sz="2000" dirty="0">
                <a:solidFill>
                  <a:schemeClr val="accent1"/>
                </a:solidFill>
                <a:latin typeface="Courier New" pitchFamily="34" charset="0"/>
                <a:ea typeface="Courier New" pitchFamily="34" charset="-122"/>
                <a:cs typeface="Courier New" pitchFamily="34" charset="-120"/>
              </a:rPr>
              <a:t>autosuggest = true</a:t>
            </a:r>
            <a:endParaRPr lang="en-US" sz="2000" dirty="0"/>
          </a:p>
          <a:p>
            <a:pPr indent="0" marL="0">
              <a:spcAft>
                <a:spcPts val="400"/>
              </a:spcAft>
              <a:buNone/>
            </a:pPr>
            <a:r>
              <a:rPr lang="en-US" sz="2000" dirty="0">
                <a:solidFill>
                  <a:schemeClr val="accent1"/>
                </a:solidFill>
                <a:latin typeface="Courier New" pitchFamily="34" charset="0"/>
                <a:ea typeface="Courier New" pitchFamily="34" charset="-122"/>
                <a:cs typeface="Courier New" pitchFamily="34" charset="-120"/>
              </a:rPr>
              <a:t>syntax_highlight = true</a:t>
            </a:r>
            <a:endParaRPr lang="en-US" sz="2000" dirty="0"/>
          </a:p>
          <a:p>
            <a:pPr indent="0" marL="0">
              <a:spcAft>
                <a:spcPts val="400"/>
              </a:spcAft>
              <a:buNone/>
            </a:pPr>
            <a:r>
              <a:rPr lang="en-US" sz="2000" dirty="0">
                <a:solidFill>
                  <a:schemeClr val="accent1"/>
                </a:solidFill>
                <a:latin typeface="Courier New" pitchFamily="34" charset="0"/>
                <a:ea typeface="Courier New" pitchFamily="34" charset="-122"/>
                <a:cs typeface="Courier New" pitchFamily="34" charset="-120"/>
              </a:rPr>
              <a:t>history_search = true</a:t>
            </a:r>
            <a:endParaRPr lang="en-US" sz="2000" dirty="0"/>
          </a:p>
          <a:p>
            <a:pPr indent="0" marL="0">
              <a:spcAft>
                <a:spcPts val="400"/>
              </a:spcAft>
              <a:buNone/>
            </a:pPr>
            <a:r>
              <a:rPr lang="en-US" sz="2000" dirty="0">
                <a:solidFill>
                  <a:schemeClr val="accent1"/>
                </a:solidFill>
                <a:latin typeface="Courier New" pitchFamily="34" charset="0"/>
                <a:ea typeface="Courier New" pitchFamily="34" charset="-122"/>
                <a:cs typeface="Courier New" pitchFamily="34" charset="-120"/>
              </a:rPr>
              <a:t>autopair = true</a:t>
            </a:r>
            <a:endParaRPr lang="en-US" sz="2000" dirty="0"/>
          </a:p>
        </p:txBody>
      </p:sp>
      <p:sp>
        <p:nvSpPr>
          <p:cNvPr id="7" name="Shape 4"/>
          <p:cNvSpPr/>
          <p:nvPr/>
        </p:nvSpPr>
        <p:spPr>
          <a:xfrm>
            <a:off x="6400800" y="1737360"/>
            <a:ext cx="4937760" cy="3657600"/>
          </a:xfrm>
          <a:prstGeom prst="roundRect">
            <a:avLst>
              <a:gd name="adj" fmla="val 3000"/>
            </a:avLst>
          </a:prstGeom>
          <a:solidFill>
            <a:srgbClr val="FFFFFF"/>
          </a:solidFill>
          <a:ln w="12700">
            <a:solidFill>
              <a:srgbClr val="D9D5C8"/>
            </a:solidFill>
            <a:prstDash val="solid"/>
          </a:ln>
        </p:spPr>
      </p:sp>
      <p:sp>
        <p:nvSpPr>
          <p:cNvPr id="8" name="Text 5"/>
          <p:cNvSpPr txBox="1"/>
          <p:nvPr/>
        </p:nvSpPr>
        <p:spPr>
          <a:xfrm>
            <a:off x="6675120" y="1965960"/>
            <a:ext cx="438912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Switches</a:t>
            </a:r>
            <a:endParaRPr lang="en-US" sz="2200" dirty="0"/>
          </a:p>
        </p:txBody>
      </p:sp>
      <p:sp>
        <p:nvSpPr>
          <p:cNvPr id="9" name="Text 6"/>
          <p:cNvSpPr txBox="1"/>
          <p:nvPr/>
        </p:nvSpPr>
        <p:spPr>
          <a:xfrm>
            <a:off x="6675120" y="2560320"/>
            <a:ext cx="4389120" cy="265176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accent4"/>
                </a:solidFill>
              </a:rPr>
              <a:t>Per feature: set false to opt out</a:t>
            </a:r>
            <a:endParaRPr lang="en-US" sz="2200" dirty="0"/>
          </a:p>
          <a:p>
            <a:pPr marL="342900" indent="-342900">
              <a:spcAft>
                <a:spcPts val="1000"/>
              </a:spcAft>
              <a:buSzPct val="100000"/>
              <a:buChar char="•"/>
            </a:pPr>
            <a:r>
              <a:rPr lang="en-US" sz="2200" dirty="0">
                <a:solidFill>
                  <a:schemeClr val="accent4"/>
                </a:solidFill>
              </a:rPr>
              <a:t>ZSHRS_NATIVE_ZLE_FX=0 disables all</a:t>
            </a:r>
            <a:endParaRPr lang="en-US" sz="2200" dirty="0"/>
          </a:p>
          <a:p>
            <a:pPr marL="342900" indent="-342900">
              <a:spcAft>
                <a:spcPts val="1000"/>
              </a:spcAft>
              <a:buSzPct val="100000"/>
              <a:buChar char="•"/>
            </a:pPr>
            <a:r>
              <a:rPr lang="en-US" sz="2200" dirty="0">
                <a:solidFill>
                  <a:schemeClr val="accent4"/>
                </a:solidFill>
              </a:rPr>
              <a:t>Bare zshrs -f stays identical to zsh -f</a:t>
            </a:r>
            <a:endParaRPr lang="en-US" sz="2200" dirty="0"/>
          </a:p>
          <a:p>
            <a:pPr marL="342900" indent="-342900">
              <a:spcAft>
                <a:spcPts val="1000"/>
              </a:spcAft>
              <a:buSzPct val="100000"/>
              <a:buChar char="•"/>
            </a:pPr>
            <a:r>
              <a:rPr lang="en-US" sz="2200" dirty="0">
                <a:solidFill>
                  <a:schemeClr val="accent4"/>
                </a:solidFill>
              </a:rPr>
              <a:t>193 ZLE widgets registered</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ZLE: the four engines</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goodies</a:t>
            </a:r>
            <a:endParaRPr lang="en-US" sz="1200" dirty="0"/>
          </a:p>
        </p:txBody>
      </p:sp>
      <p:sp>
        <p:nvSpPr>
          <p:cNvPr id="5" name="Shape 2"/>
          <p:cNvSpPr/>
          <p:nvPr/>
        </p:nvSpPr>
        <p:spPr>
          <a:xfrm>
            <a:off x="822960" y="1737360"/>
            <a:ext cx="2514600" cy="3566160"/>
          </a:xfrm>
          <a:prstGeom prst="roundRect">
            <a:avLst>
              <a:gd name="adj" fmla="val 4364"/>
            </a:avLst>
          </a:prstGeom>
          <a:solidFill>
            <a:schemeClr val="tx2"/>
          </a:solidFill>
          <a:ln w="12700">
            <a:solidFill>
              <a:srgbClr val="2C3844"/>
            </a:solidFill>
            <a:prstDash val="solid"/>
          </a:ln>
        </p:spPr>
      </p:sp>
      <p:sp>
        <p:nvSpPr>
          <p:cNvPr id="6" name="Text 3"/>
          <p:cNvSpPr txBox="1"/>
          <p:nvPr/>
        </p:nvSpPr>
        <p:spPr>
          <a:xfrm>
            <a:off x="109728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highlight</a:t>
            </a:r>
            <a:endParaRPr lang="en-US" sz="2200" dirty="0"/>
          </a:p>
        </p:txBody>
      </p:sp>
      <p:sp>
        <p:nvSpPr>
          <p:cNvPr id="7" name="Text 4"/>
          <p:cNvSpPr txBox="1"/>
          <p:nvPr/>
        </p:nvSpPr>
        <p:spPr>
          <a:xfrm>
            <a:off x="1097280" y="2560320"/>
            <a:ext cx="1965960" cy="2560320"/>
          </a:xfrm>
          <a:prstGeom prst="rect">
            <a:avLst/>
          </a:prstGeom>
          <a:noFill/>
          <a:ln/>
        </p:spPr>
        <p:txBody>
          <a:bodyPr wrap="square" lIns="0" tIns="0" rIns="0" bIns="0" rtlCol="0" anchor="t"/>
          <a:lstStyle/>
          <a:p>
            <a:pPr indent="0" marL="0">
              <a:buNone/>
            </a:pPr>
            <a:r>
              <a:rPr lang="en-US" sz="1800" dirty="0">
                <a:solidFill>
                  <a:schemeClr val="accent5"/>
                </a:solidFill>
              </a:rPr>
              <a:t>Lexer-driven command, keyword, quote, redirection and path colouring</a:t>
            </a:r>
            <a:endParaRPr lang="en-US" sz="1800" dirty="0"/>
          </a:p>
        </p:txBody>
      </p:sp>
      <p:sp>
        <p:nvSpPr>
          <p:cNvPr id="8" name="Shape 5"/>
          <p:cNvSpPr/>
          <p:nvPr/>
        </p:nvSpPr>
        <p:spPr>
          <a:xfrm>
            <a:off x="3520440" y="1737360"/>
            <a:ext cx="2514600" cy="3566160"/>
          </a:xfrm>
          <a:prstGeom prst="roundRect">
            <a:avLst>
              <a:gd name="adj" fmla="val 4364"/>
            </a:avLst>
          </a:prstGeom>
          <a:solidFill>
            <a:schemeClr val="tx2"/>
          </a:solidFill>
          <a:ln w="12700">
            <a:solidFill>
              <a:srgbClr val="2C3844"/>
            </a:solidFill>
            <a:prstDash val="solid"/>
          </a:ln>
        </p:spPr>
      </p:sp>
      <p:sp>
        <p:nvSpPr>
          <p:cNvPr id="9" name="Text 6"/>
          <p:cNvSpPr txBox="1"/>
          <p:nvPr/>
        </p:nvSpPr>
        <p:spPr>
          <a:xfrm>
            <a:off x="379476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autosuggest</a:t>
            </a:r>
            <a:endParaRPr lang="en-US" sz="2200" dirty="0"/>
          </a:p>
        </p:txBody>
      </p:sp>
      <p:sp>
        <p:nvSpPr>
          <p:cNvPr id="10" name="Text 7"/>
          <p:cNvSpPr txBox="1"/>
          <p:nvPr/>
        </p:nvSpPr>
        <p:spPr>
          <a:xfrm>
            <a:off x="3794760" y="2560320"/>
            <a:ext cx="1965960" cy="2560320"/>
          </a:xfrm>
          <a:prstGeom prst="rect">
            <a:avLst/>
          </a:prstGeom>
          <a:noFill/>
          <a:ln/>
        </p:spPr>
        <p:txBody>
          <a:bodyPr wrap="square" lIns="0" tIns="0" rIns="0" bIns="0" rtlCol="0" anchor="t"/>
          <a:lstStyle/>
          <a:p>
            <a:pPr indent="0" marL="0">
              <a:buNone/>
            </a:pPr>
            <a:r>
              <a:rPr lang="en-US" sz="1800" dirty="0">
                <a:solidFill>
                  <a:schemeClr val="accent5"/>
                </a:solidFill>
              </a:rPr>
              <a:t>Ghost text from history; accept with right arrow or End, word-wise with forward-word</a:t>
            </a:r>
            <a:endParaRPr lang="en-US" sz="1800" dirty="0"/>
          </a:p>
        </p:txBody>
      </p:sp>
      <p:sp>
        <p:nvSpPr>
          <p:cNvPr id="11" name="Shape 8"/>
          <p:cNvSpPr/>
          <p:nvPr/>
        </p:nvSpPr>
        <p:spPr>
          <a:xfrm>
            <a:off x="6217920" y="1737360"/>
            <a:ext cx="2514600" cy="3566160"/>
          </a:xfrm>
          <a:prstGeom prst="roundRect">
            <a:avLst>
              <a:gd name="adj" fmla="val 4364"/>
            </a:avLst>
          </a:prstGeom>
          <a:solidFill>
            <a:schemeClr val="tx2"/>
          </a:solidFill>
          <a:ln w="12700">
            <a:solidFill>
              <a:srgbClr val="2C3844"/>
            </a:solidFill>
            <a:prstDash val="solid"/>
          </a:ln>
        </p:spPr>
      </p:sp>
      <p:sp>
        <p:nvSpPr>
          <p:cNvPr id="12" name="Text 9"/>
          <p:cNvSpPr txBox="1"/>
          <p:nvPr/>
        </p:nvSpPr>
        <p:spPr>
          <a:xfrm>
            <a:off x="649224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history_search</a:t>
            </a:r>
            <a:endParaRPr lang="en-US" sz="2200" dirty="0"/>
          </a:p>
        </p:txBody>
      </p:sp>
      <p:sp>
        <p:nvSpPr>
          <p:cNvPr id="13" name="Text 10"/>
          <p:cNvSpPr txBox="1"/>
          <p:nvPr/>
        </p:nvSpPr>
        <p:spPr>
          <a:xfrm>
            <a:off x="6492240" y="2560320"/>
            <a:ext cx="1965960" cy="2560320"/>
          </a:xfrm>
          <a:prstGeom prst="rect">
            <a:avLst/>
          </a:prstGeom>
          <a:noFill/>
          <a:ln/>
        </p:spPr>
        <p:txBody>
          <a:bodyPr wrap="square" lIns="0" tIns="0" rIns="0" bIns="0" rtlCol="0" anchor="t"/>
          <a:lstStyle/>
          <a:p>
            <a:pPr indent="0" marL="0">
              <a:buNone/>
            </a:pPr>
            <a:r>
              <a:rPr lang="en-US" sz="1800" dirty="0">
                <a:solidFill>
                  <a:schemeClr val="accent5"/>
                </a:solidFill>
              </a:rPr>
              <a:t>Prefix and substring up-arrow search</a:t>
            </a:r>
            <a:endParaRPr lang="en-US" sz="1800" dirty="0"/>
          </a:p>
        </p:txBody>
      </p:sp>
      <p:sp>
        <p:nvSpPr>
          <p:cNvPr id="14" name="Shape 11"/>
          <p:cNvSpPr/>
          <p:nvPr/>
        </p:nvSpPr>
        <p:spPr>
          <a:xfrm>
            <a:off x="8915400" y="1737360"/>
            <a:ext cx="2514600" cy="3566160"/>
          </a:xfrm>
          <a:prstGeom prst="roundRect">
            <a:avLst>
              <a:gd name="adj" fmla="val 4364"/>
            </a:avLst>
          </a:prstGeom>
          <a:solidFill>
            <a:schemeClr val="tx2"/>
          </a:solidFill>
          <a:ln w="12700">
            <a:solidFill>
              <a:srgbClr val="2C3844"/>
            </a:solidFill>
            <a:prstDash val="solid"/>
          </a:ln>
        </p:spPr>
      </p:sp>
      <p:sp>
        <p:nvSpPr>
          <p:cNvPr id="15" name="Text 12"/>
          <p:cNvSpPr txBox="1"/>
          <p:nvPr/>
        </p:nvSpPr>
        <p:spPr>
          <a:xfrm>
            <a:off x="918972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autopair</a:t>
            </a:r>
            <a:endParaRPr lang="en-US" sz="2200" dirty="0"/>
          </a:p>
        </p:txBody>
      </p:sp>
      <p:sp>
        <p:nvSpPr>
          <p:cNvPr id="16" name="Text 13"/>
          <p:cNvSpPr txBox="1"/>
          <p:nvPr/>
        </p:nvSpPr>
        <p:spPr>
          <a:xfrm>
            <a:off x="9189720" y="2560320"/>
            <a:ext cx="1965960" cy="2560320"/>
          </a:xfrm>
          <a:prstGeom prst="rect">
            <a:avLst/>
          </a:prstGeom>
          <a:noFill/>
          <a:ln/>
        </p:spPr>
        <p:txBody>
          <a:bodyPr wrap="square" lIns="0" tIns="0" rIns="0" bIns="0" rtlCol="0" anchor="t"/>
          <a:lstStyle/>
          <a:p>
            <a:pPr indent="0" marL="0">
              <a:buNone/>
            </a:pPr>
            <a:r>
              <a:rPr lang="en-US" sz="1800" dirty="0">
                <a:solidFill>
                  <a:schemeClr val="accent5"/>
                </a:solidFill>
              </a:rPr>
              <a:t>Bracket and quote auto-pairing</a:t>
            </a:r>
            <a:endParaRPr lang="en-US" sz="1800" dirty="0"/>
          </a:p>
        </p:txBody>
      </p:sp>
      <p:sp>
        <p:nvSpPr>
          <p:cNvPr id="17" name="Text 14"/>
          <p:cNvSpPr txBox="1"/>
          <p:nvPr/>
        </p:nvSpPr>
        <p:spPr>
          <a:xfrm>
            <a:off x="822960" y="5623560"/>
            <a:ext cx="10515600" cy="365760"/>
          </a:xfrm>
          <a:prstGeom prst="rect">
            <a:avLst/>
          </a:prstGeom>
          <a:noFill/>
          <a:ln/>
        </p:spPr>
        <p:txBody>
          <a:bodyPr wrap="square" lIns="0" tIns="0" rIns="0" bIns="0" rtlCol="0" anchor="t"/>
          <a:lstStyle/>
          <a:p>
            <a:pPr indent="0" marL="0">
              <a:buNone/>
            </a:pPr>
            <a:r>
              <a:rPr lang="en-US" sz="1600" dirty="0">
                <a:solidFill>
                  <a:schemeClr val="accent5"/>
                </a:solidFill>
              </a:rPr>
              <a:t>Existing plugin config still applies.</a:t>
            </a:r>
            <a:endParaRPr lang="en-US" sz="1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4 · Syntax highlighting</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goodies</a:t>
            </a:r>
            <a:endParaRPr lang="en-US" sz="1200" dirty="0"/>
          </a:p>
        </p:txBody>
      </p:sp>
      <p:sp>
        <p:nvSpPr>
          <p:cNvPr id="5" name="Shape 2"/>
          <p:cNvSpPr/>
          <p:nvPr/>
        </p:nvSpPr>
        <p:spPr>
          <a:xfrm>
            <a:off x="822960" y="1737360"/>
            <a:ext cx="3383280" cy="3566160"/>
          </a:xfrm>
          <a:prstGeom prst="roundRect">
            <a:avLst>
              <a:gd name="adj" fmla="val 3243"/>
            </a:avLst>
          </a:prstGeom>
          <a:solidFill>
            <a:srgbClr val="FFFFFF"/>
          </a:solidFill>
          <a:ln w="12700">
            <a:solidFill>
              <a:srgbClr val="D9D5C8"/>
            </a:solidFill>
            <a:prstDash val="solid"/>
          </a:ln>
        </p:spPr>
      </p:sp>
      <p:sp>
        <p:nvSpPr>
          <p:cNvPr id="6" name="Text 3"/>
          <p:cNvSpPr txBox="1"/>
          <p:nvPr/>
        </p:nvSpPr>
        <p:spPr>
          <a:xfrm>
            <a:off x="1097280" y="1965960"/>
            <a:ext cx="283464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What it checks</a:t>
            </a:r>
            <a:endParaRPr lang="en-US" sz="2200" dirty="0"/>
          </a:p>
        </p:txBody>
      </p:sp>
      <p:sp>
        <p:nvSpPr>
          <p:cNvPr id="7" name="Text 4"/>
          <p:cNvSpPr txBox="1"/>
          <p:nvPr/>
        </p:nvSpPr>
        <p:spPr>
          <a:xfrm>
            <a:off x="1097280" y="2560320"/>
            <a:ext cx="2834640" cy="256032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accent4"/>
                </a:solidFill>
              </a:rPr>
              <a:t>Command validity</a:t>
            </a:r>
            <a:endParaRPr lang="en-US" sz="2000" dirty="0"/>
          </a:p>
          <a:p>
            <a:pPr marL="342900" indent="-342900">
              <a:spcAft>
                <a:spcPts val="1000"/>
              </a:spcAft>
              <a:buSzPct val="100000"/>
              <a:buChar char="•"/>
            </a:pPr>
            <a:r>
              <a:rPr lang="en-US" sz="2000" dirty="0">
                <a:solidFill>
                  <a:schemeClr val="accent4"/>
                </a:solidFill>
              </a:rPr>
              <a:t>File existence for paths</a:t>
            </a:r>
            <a:endParaRPr lang="en-US" sz="2000" dirty="0"/>
          </a:p>
          <a:p>
            <a:pPr marL="342900" indent="-342900">
              <a:spcAft>
                <a:spcPts val="1000"/>
              </a:spcAft>
              <a:buSzPct val="100000"/>
              <a:buChar char="•"/>
            </a:pPr>
            <a:r>
              <a:rPr lang="en-US" sz="2000" dirty="0">
                <a:solidFill>
                  <a:schemeClr val="accent4"/>
                </a:solidFill>
              </a:rPr>
              <a:t>Quotes, redirections, keywords</a:t>
            </a:r>
            <a:endParaRPr lang="en-US" sz="2000" dirty="0"/>
          </a:p>
        </p:txBody>
      </p:sp>
      <p:sp>
        <p:nvSpPr>
          <p:cNvPr id="8" name="Shape 5"/>
          <p:cNvSpPr/>
          <p:nvPr/>
        </p:nvSpPr>
        <p:spPr>
          <a:xfrm>
            <a:off x="4389120" y="1737360"/>
            <a:ext cx="3383280" cy="3566160"/>
          </a:xfrm>
          <a:prstGeom prst="roundRect">
            <a:avLst>
              <a:gd name="adj" fmla="val 3243"/>
            </a:avLst>
          </a:prstGeom>
          <a:solidFill>
            <a:srgbClr val="FFFFFF"/>
          </a:solidFill>
          <a:ln w="12700">
            <a:solidFill>
              <a:srgbClr val="D9D5C8"/>
            </a:solidFill>
            <a:prstDash val="solid"/>
          </a:ln>
        </p:spPr>
      </p:sp>
      <p:sp>
        <p:nvSpPr>
          <p:cNvPr id="9" name="Text 6"/>
          <p:cNvSpPr txBox="1"/>
          <p:nvPr/>
        </p:nvSpPr>
        <p:spPr>
          <a:xfrm>
            <a:off x="4663440" y="1965960"/>
            <a:ext cx="283464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How it colours</a:t>
            </a:r>
            <a:endParaRPr lang="en-US" sz="2200" dirty="0"/>
          </a:p>
        </p:txBody>
      </p:sp>
      <p:sp>
        <p:nvSpPr>
          <p:cNvPr id="10" name="Text 7"/>
          <p:cNvSpPr txBox="1"/>
          <p:nvPr/>
        </p:nvSpPr>
        <p:spPr>
          <a:xfrm>
            <a:off x="4663440" y="2560320"/>
            <a:ext cx="2834640" cy="256032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accent4"/>
                </a:solidFill>
              </a:rPr>
              <a:t>Command-type ladder</a:t>
            </a:r>
            <a:endParaRPr lang="en-US" sz="2000" dirty="0"/>
          </a:p>
          <a:p>
            <a:pPr marL="342900" indent="-342900">
              <a:spcAft>
                <a:spcPts val="1000"/>
              </a:spcAft>
              <a:buSzPct val="100000"/>
              <a:buChar char="•"/>
            </a:pPr>
            <a:r>
              <a:rPr lang="en-US" sz="2000" dirty="0">
                <a:solidFill>
                  <a:schemeClr val="accent4"/>
                </a:solidFill>
              </a:rPr>
              <a:t>Brackets by nesting level</a:t>
            </a:r>
            <a:endParaRPr lang="en-US" sz="2000" dirty="0"/>
          </a:p>
          <a:p>
            <a:pPr marL="342900" indent="-342900">
              <a:spcAft>
                <a:spcPts val="1000"/>
              </a:spcAft>
              <a:buSzPct val="100000"/>
              <a:buChar char="•"/>
            </a:pPr>
            <a:r>
              <a:rPr lang="en-US" sz="2000" dirty="0">
                <a:solidFill>
                  <a:schemeClr val="accent4"/>
                </a:solidFill>
              </a:rPr>
              <a:t>Glob, variable, option, math</a:t>
            </a:r>
            <a:endParaRPr lang="en-US" sz="2000" dirty="0"/>
          </a:p>
          <a:p>
            <a:pPr marL="342900" indent="-342900">
              <a:spcAft>
                <a:spcPts val="1000"/>
              </a:spcAft>
              <a:buSzPct val="100000"/>
              <a:buChar char="•"/>
            </a:pPr>
            <a:r>
              <a:rPr lang="en-US" sz="2000" dirty="0">
                <a:solidFill>
                  <a:schemeClr val="accent4"/>
                </a:solidFill>
              </a:rPr>
              <a:t>Secondary theme inside $(...)</a:t>
            </a:r>
            <a:endParaRPr lang="en-US" sz="2000" dirty="0"/>
          </a:p>
        </p:txBody>
      </p:sp>
      <p:sp>
        <p:nvSpPr>
          <p:cNvPr id="11" name="Shape 8"/>
          <p:cNvSpPr/>
          <p:nvPr/>
        </p:nvSpPr>
        <p:spPr>
          <a:xfrm>
            <a:off x="7955280" y="1737360"/>
            <a:ext cx="3383280" cy="3566160"/>
          </a:xfrm>
          <a:prstGeom prst="roundRect">
            <a:avLst>
              <a:gd name="adj" fmla="val 3243"/>
            </a:avLst>
          </a:prstGeom>
          <a:solidFill>
            <a:srgbClr val="FFFFFF"/>
          </a:solidFill>
          <a:ln w="12700">
            <a:solidFill>
              <a:srgbClr val="D9D5C8"/>
            </a:solidFill>
            <a:prstDash val="solid"/>
          </a:ln>
        </p:spPr>
      </p:sp>
      <p:sp>
        <p:nvSpPr>
          <p:cNvPr id="12" name="Text 9"/>
          <p:cNvSpPr txBox="1"/>
          <p:nvPr/>
        </p:nvSpPr>
        <p:spPr>
          <a:xfrm>
            <a:off x="8229600" y="1965960"/>
            <a:ext cx="283464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Same as the plugin</a:t>
            </a:r>
            <a:endParaRPr lang="en-US" sz="2200" dirty="0"/>
          </a:p>
        </p:txBody>
      </p:sp>
      <p:sp>
        <p:nvSpPr>
          <p:cNvPr id="13" name="Text 10"/>
          <p:cNvSpPr txBox="1"/>
          <p:nvPr/>
        </p:nvSpPr>
        <p:spPr>
          <a:xfrm>
            <a:off x="8229600" y="2560320"/>
            <a:ext cx="2834640" cy="256032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accent4"/>
                </a:solidFill>
              </a:rPr>
              <a:t>fast-syntax-highlighting palette</a:t>
            </a:r>
            <a:endParaRPr lang="en-US" sz="2000" dirty="0"/>
          </a:p>
          <a:p>
            <a:pPr marL="342900" indent="-342900">
              <a:spcAft>
                <a:spcPts val="1000"/>
              </a:spcAft>
              <a:buSzPct val="100000"/>
              <a:buChar char="•"/>
            </a:pPr>
            <a:r>
              <a:rPr lang="en-US" sz="2000" dirty="0">
                <a:solidFill>
                  <a:schemeClr val="accent4"/>
                </a:solidFill>
              </a:rPr>
              <a:t>ZSH_HIGHLIGHT_STYLES honored</a:t>
            </a:r>
            <a:endParaRPr lang="en-US" sz="2000" dirty="0"/>
          </a:p>
          <a:p>
            <a:pPr marL="342900" indent="-342900">
              <a:spcAft>
                <a:spcPts val="1000"/>
              </a:spcAft>
              <a:buSzPct val="100000"/>
              <a:buChar char="•"/>
            </a:pPr>
            <a:r>
              <a:rPr lang="en-US" sz="2000" dirty="0">
                <a:solidFill>
                  <a:schemeClr val="accent4"/>
                </a:solidFill>
              </a:rPr>
              <a:t>No plugin to install</a:t>
            </a:r>
            <a:endParaRPr lang="en-US" sz="20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Typing never waits on highlighting</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goodies</a:t>
            </a:r>
            <a:endParaRPr lang="en-US" sz="1200" dirty="0"/>
          </a:p>
        </p:txBody>
      </p:sp>
      <p:sp>
        <p:nvSpPr>
          <p:cNvPr id="5" name="Shape 2"/>
          <p:cNvSpPr/>
          <p:nvPr/>
        </p:nvSpPr>
        <p:spPr>
          <a:xfrm>
            <a:off x="822960" y="1737360"/>
            <a:ext cx="3291840" cy="2377440"/>
          </a:xfrm>
          <a:prstGeom prst="roundRect">
            <a:avLst>
              <a:gd name="adj" fmla="val 4615"/>
            </a:avLst>
          </a:prstGeom>
          <a:solidFill>
            <a:schemeClr val="tx2"/>
          </a:solidFill>
          <a:ln w="12700">
            <a:solidFill>
              <a:srgbClr val="2C3844"/>
            </a:solidFill>
            <a:prstDash val="solid"/>
          </a:ln>
        </p:spPr>
      </p:sp>
      <p:sp>
        <p:nvSpPr>
          <p:cNvPr id="6" name="Text 3"/>
          <p:cNvSpPr txBox="1"/>
          <p:nvPr/>
        </p:nvSpPr>
        <p:spPr>
          <a:xfrm>
            <a:off x="1097280" y="1920240"/>
            <a:ext cx="274320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8 ms</a:t>
            </a:r>
            <a:endParaRPr lang="en-US" sz="4400" dirty="0"/>
          </a:p>
        </p:txBody>
      </p:sp>
      <p:sp>
        <p:nvSpPr>
          <p:cNvPr id="7" name="Text 4"/>
          <p:cNvSpPr txBox="1"/>
          <p:nvPr/>
        </p:nvSpPr>
        <p:spPr>
          <a:xfrm>
            <a:off x="1097280" y="2788920"/>
            <a:ext cx="2743200" cy="1188720"/>
          </a:xfrm>
          <a:prstGeom prst="rect">
            <a:avLst/>
          </a:prstGeom>
          <a:noFill/>
          <a:ln/>
        </p:spPr>
        <p:txBody>
          <a:bodyPr wrap="square" lIns="0" tIns="0" rIns="0" bIns="0" rtlCol="0" anchor="t"/>
          <a:lstStyle/>
          <a:p>
            <a:pPr indent="0" marL="0">
              <a:buNone/>
            </a:pPr>
            <a:r>
              <a:rPr lang="en-US" sz="1800" dirty="0">
                <a:solidFill>
                  <a:schemeClr val="bg2"/>
                </a:solidFill>
              </a:rPr>
              <a:t>default wall-clock budget per keystroke pass</a:t>
            </a:r>
            <a:endParaRPr lang="en-US" sz="1800" dirty="0"/>
          </a:p>
        </p:txBody>
      </p:sp>
      <p:sp>
        <p:nvSpPr>
          <p:cNvPr id="8" name="Shape 5"/>
          <p:cNvSpPr/>
          <p:nvPr/>
        </p:nvSpPr>
        <p:spPr>
          <a:xfrm>
            <a:off x="4434840" y="1737360"/>
            <a:ext cx="6903720" cy="2377440"/>
          </a:xfrm>
          <a:prstGeom prst="roundRect">
            <a:avLst>
              <a:gd name="adj" fmla="val 4615"/>
            </a:avLst>
          </a:prstGeom>
          <a:solidFill>
            <a:schemeClr val="tx2"/>
          </a:solidFill>
          <a:ln w="12700">
            <a:solidFill>
              <a:srgbClr val="2C3844"/>
            </a:solidFill>
            <a:prstDash val="solid"/>
          </a:ln>
        </p:spPr>
      </p:sp>
      <p:sp>
        <p:nvSpPr>
          <p:cNvPr id="9" name="Text 6"/>
          <p:cNvSpPr txBox="1"/>
          <p:nvPr/>
        </p:nvSpPr>
        <p:spPr>
          <a:xfrm>
            <a:off x="4709160" y="1965960"/>
            <a:ext cx="635508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Overrides</a:t>
            </a:r>
            <a:endParaRPr lang="en-US" sz="2200" dirty="0"/>
          </a:p>
        </p:txBody>
      </p:sp>
      <p:sp>
        <p:nvSpPr>
          <p:cNvPr id="10" name="Text 7"/>
          <p:cNvSpPr txBox="1"/>
          <p:nvPr/>
        </p:nvSpPr>
        <p:spPr>
          <a:xfrm>
            <a:off x="4709160" y="2560320"/>
            <a:ext cx="6355080" cy="137160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bg2"/>
                </a:solidFill>
              </a:rPr>
              <a:t>ZSHRS_ZLE_HIGHLIGHT_BUDGET_MS</a:t>
            </a:r>
            <a:endParaRPr lang="en-US" sz="2200" dirty="0"/>
          </a:p>
          <a:p>
            <a:pPr marL="342900" indent="-342900">
              <a:spcAft>
                <a:spcPts val="1000"/>
              </a:spcAft>
              <a:buSzPct val="100000"/>
              <a:buChar char="•"/>
            </a:pPr>
            <a:r>
              <a:rPr lang="en-US" sz="2200" dirty="0">
                <a:solidFill>
                  <a:schemeClr val="bg2"/>
                </a:solidFill>
              </a:rPr>
              <a:t>ZSHRS_ZLE_AUTOSUGGEST_BUDGET_MS</a:t>
            </a:r>
            <a:endParaRPr lang="en-US" sz="2200" dirty="0"/>
          </a:p>
        </p:txBody>
      </p:sp>
      <p:sp>
        <p:nvSpPr>
          <p:cNvPr id="11" name="Text 8"/>
          <p:cNvSpPr txBox="1"/>
          <p:nvPr/>
        </p:nvSpPr>
        <p:spPr>
          <a:xfrm>
            <a:off x="822960" y="4572000"/>
            <a:ext cx="10515600" cy="548640"/>
          </a:xfrm>
          <a:prstGeom prst="rect">
            <a:avLst/>
          </a:prstGeom>
          <a:noFill/>
          <a:ln/>
        </p:spPr>
        <p:txBody>
          <a:bodyPr wrap="square" lIns="0" tIns="0" rIns="0" bIns="0" rtlCol="0" anchor="t"/>
          <a:lstStyle/>
          <a:p>
            <a:pPr indent="0" marL="0">
              <a:buNone/>
            </a:pPr>
            <a:r>
              <a:rPr lang="en-US" sz="2400" b="1" dirty="0">
                <a:solidFill>
                  <a:schemeClr val="accent3"/>
                </a:solidFill>
              </a:rPr>
              <a:t>A slow directory or a huge PATH cannot lag typing.</a:t>
            </a:r>
            <a:endParaRPr lang="en-US" sz="24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Prompt and plugins next</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outline</a:t>
            </a:r>
            <a:endParaRPr lang="en-US" sz="1200" dirty="0"/>
          </a:p>
        </p:txBody>
      </p:sp>
      <p:sp>
        <p:nvSpPr>
          <p:cNvPr id="5" name="Shape 2"/>
          <p:cNvSpPr/>
          <p:nvPr/>
        </p:nvSpPr>
        <p:spPr>
          <a:xfrm>
            <a:off x="822960" y="1737360"/>
            <a:ext cx="5120640" cy="822960"/>
          </a:xfrm>
          <a:prstGeom prst="roundRect">
            <a:avLst>
              <a:gd name="adj" fmla="val 13333"/>
            </a:avLst>
          </a:prstGeom>
          <a:solidFill>
            <a:srgbClr val="FFFFFF"/>
          </a:solidFill>
          <a:ln w="12700">
            <a:solidFill>
              <a:srgbClr val="D9D5C8"/>
            </a:solidFill>
            <a:prstDash val="solid"/>
          </a:ln>
        </p:spPr>
      </p:sp>
      <p:sp>
        <p:nvSpPr>
          <p:cNvPr id="6" name="Text 3"/>
          <p:cNvSpPr txBox="1"/>
          <p:nvPr/>
        </p:nvSpPr>
        <p:spPr>
          <a:xfrm>
            <a:off x="1097280" y="173736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1</a:t>
            </a:r>
            <a:endParaRPr lang="en-US" sz="2600" dirty="0"/>
          </a:p>
        </p:txBody>
      </p:sp>
      <p:sp>
        <p:nvSpPr>
          <p:cNvPr id="7" name="Text 4"/>
          <p:cNvSpPr txBox="1"/>
          <p:nvPr/>
        </p:nvSpPr>
        <p:spPr>
          <a:xfrm>
            <a:off x="1828800" y="173736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Daemon server</a:t>
            </a:r>
            <a:endParaRPr lang="en-US" sz="2400" dirty="0"/>
          </a:p>
        </p:txBody>
      </p:sp>
      <p:sp>
        <p:nvSpPr>
          <p:cNvPr id="8" name="Shape 5"/>
          <p:cNvSpPr/>
          <p:nvPr/>
        </p:nvSpPr>
        <p:spPr>
          <a:xfrm>
            <a:off x="822960" y="2743200"/>
            <a:ext cx="5120640" cy="822960"/>
          </a:xfrm>
          <a:prstGeom prst="roundRect">
            <a:avLst>
              <a:gd name="adj" fmla="val 13333"/>
            </a:avLst>
          </a:prstGeom>
          <a:solidFill>
            <a:srgbClr val="FFFFFF"/>
          </a:solidFill>
          <a:ln w="12700">
            <a:solidFill>
              <a:srgbClr val="D9D5C8"/>
            </a:solidFill>
            <a:prstDash val="solid"/>
          </a:ln>
        </p:spPr>
      </p:sp>
      <p:sp>
        <p:nvSpPr>
          <p:cNvPr id="9" name="Text 6"/>
          <p:cNvSpPr txBox="1"/>
          <p:nvPr/>
        </p:nvSpPr>
        <p:spPr>
          <a:xfrm>
            <a:off x="1097280" y="274320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2</a:t>
            </a:r>
            <a:endParaRPr lang="en-US" sz="2600" dirty="0"/>
          </a:p>
        </p:txBody>
      </p:sp>
      <p:sp>
        <p:nvSpPr>
          <p:cNvPr id="10" name="Text 7"/>
          <p:cNvSpPr txBox="1"/>
          <p:nvPr/>
        </p:nvSpPr>
        <p:spPr>
          <a:xfrm>
            <a:off x="1828800" y="274320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Recorder</a:t>
            </a:r>
            <a:endParaRPr lang="en-US" sz="2400" dirty="0"/>
          </a:p>
        </p:txBody>
      </p:sp>
      <p:sp>
        <p:nvSpPr>
          <p:cNvPr id="11" name="Shape 8"/>
          <p:cNvSpPr/>
          <p:nvPr/>
        </p:nvSpPr>
        <p:spPr>
          <a:xfrm>
            <a:off x="822960" y="3749040"/>
            <a:ext cx="5120640" cy="822960"/>
          </a:xfrm>
          <a:prstGeom prst="roundRect">
            <a:avLst>
              <a:gd name="adj" fmla="val 13333"/>
            </a:avLst>
          </a:prstGeom>
          <a:solidFill>
            <a:srgbClr val="FFFFFF"/>
          </a:solidFill>
          <a:ln w="12700">
            <a:solidFill>
              <a:srgbClr val="D9D5C8"/>
            </a:solidFill>
            <a:prstDash val="solid"/>
          </a:ln>
        </p:spPr>
      </p:sp>
      <p:sp>
        <p:nvSpPr>
          <p:cNvPr id="12" name="Text 9"/>
          <p:cNvSpPr txBox="1"/>
          <p:nvPr/>
        </p:nvSpPr>
        <p:spPr>
          <a:xfrm>
            <a:off x="1097280" y="374904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3</a:t>
            </a:r>
            <a:endParaRPr lang="en-US" sz="2600" dirty="0"/>
          </a:p>
        </p:txBody>
      </p:sp>
      <p:sp>
        <p:nvSpPr>
          <p:cNvPr id="13" name="Text 10"/>
          <p:cNvSpPr txBox="1"/>
          <p:nvPr/>
        </p:nvSpPr>
        <p:spPr>
          <a:xfrm>
            <a:off x="1828800" y="374904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ZLE config section</a:t>
            </a:r>
            <a:endParaRPr lang="en-US" sz="2400" dirty="0"/>
          </a:p>
        </p:txBody>
      </p:sp>
      <p:sp>
        <p:nvSpPr>
          <p:cNvPr id="14" name="Shape 11"/>
          <p:cNvSpPr/>
          <p:nvPr/>
        </p:nvSpPr>
        <p:spPr>
          <a:xfrm>
            <a:off x="822960" y="4754880"/>
            <a:ext cx="5120640" cy="822960"/>
          </a:xfrm>
          <a:prstGeom prst="roundRect">
            <a:avLst>
              <a:gd name="adj" fmla="val 13333"/>
            </a:avLst>
          </a:prstGeom>
          <a:solidFill>
            <a:srgbClr val="FFFFFF"/>
          </a:solidFill>
          <a:ln w="12700">
            <a:solidFill>
              <a:srgbClr val="D9D5C8"/>
            </a:solidFill>
            <a:prstDash val="solid"/>
          </a:ln>
        </p:spPr>
      </p:sp>
      <p:sp>
        <p:nvSpPr>
          <p:cNvPr id="15" name="Text 12"/>
          <p:cNvSpPr txBox="1"/>
          <p:nvPr/>
        </p:nvSpPr>
        <p:spPr>
          <a:xfrm>
            <a:off x="1097280" y="475488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4</a:t>
            </a:r>
            <a:endParaRPr lang="en-US" sz="2600" dirty="0"/>
          </a:p>
        </p:txBody>
      </p:sp>
      <p:sp>
        <p:nvSpPr>
          <p:cNvPr id="16" name="Text 13"/>
          <p:cNvSpPr txBox="1"/>
          <p:nvPr/>
        </p:nvSpPr>
        <p:spPr>
          <a:xfrm>
            <a:off x="1828800" y="475488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Syntax highlighting</a:t>
            </a:r>
            <a:endParaRPr lang="en-US" sz="2400" dirty="0"/>
          </a:p>
        </p:txBody>
      </p:sp>
      <p:sp>
        <p:nvSpPr>
          <p:cNvPr id="17" name="Shape 14"/>
          <p:cNvSpPr/>
          <p:nvPr/>
        </p:nvSpPr>
        <p:spPr>
          <a:xfrm>
            <a:off x="6217920" y="1737360"/>
            <a:ext cx="5120640" cy="822960"/>
          </a:xfrm>
          <a:prstGeom prst="roundRect">
            <a:avLst>
              <a:gd name="adj" fmla="val 13333"/>
            </a:avLst>
          </a:prstGeom>
          <a:solidFill>
            <a:srgbClr val="FFFFFF"/>
          </a:solidFill>
          <a:ln w="12700">
            <a:solidFill>
              <a:srgbClr val="D9D5C8"/>
            </a:solidFill>
            <a:prstDash val="solid"/>
          </a:ln>
        </p:spPr>
      </p:sp>
      <p:sp>
        <p:nvSpPr>
          <p:cNvPr id="18" name="Text 15"/>
          <p:cNvSpPr txBox="1"/>
          <p:nvPr/>
        </p:nvSpPr>
        <p:spPr>
          <a:xfrm>
            <a:off x="6492240" y="1737360"/>
            <a:ext cx="548640" cy="822960"/>
          </a:xfrm>
          <a:prstGeom prst="rect">
            <a:avLst/>
          </a:prstGeom>
          <a:noFill/>
          <a:ln/>
        </p:spPr>
        <p:txBody>
          <a:bodyPr wrap="square" lIns="0" tIns="0" rIns="0" bIns="0" rtlCol="0" anchor="ctr"/>
          <a:lstStyle/>
          <a:p>
            <a:pPr indent="0" marL="0">
              <a:buNone/>
            </a:pPr>
            <a:r>
              <a:rPr lang="en-US" sz="2600" b="1" dirty="0">
                <a:solidFill>
                  <a:schemeClr val="accent3"/>
                </a:solidFill>
              </a:rPr>
              <a:t>5</a:t>
            </a:r>
            <a:endParaRPr lang="en-US" sz="2600" dirty="0"/>
          </a:p>
        </p:txBody>
      </p:sp>
      <p:sp>
        <p:nvSpPr>
          <p:cNvPr id="19" name="Text 16"/>
          <p:cNvSpPr txBox="1"/>
          <p:nvPr/>
        </p:nvSpPr>
        <p:spPr>
          <a:xfrm>
            <a:off x="7223760" y="1737360"/>
            <a:ext cx="3931920" cy="822960"/>
          </a:xfrm>
          <a:prstGeom prst="rect">
            <a:avLst/>
          </a:prstGeom>
          <a:noFill/>
          <a:ln/>
        </p:spPr>
        <p:txBody>
          <a:bodyPr wrap="square" lIns="0" tIns="0" rIns="0" bIns="0" rtlCol="0" anchor="ctr"/>
          <a:lstStyle/>
          <a:p>
            <a:pPr indent="0" marL="0">
              <a:buNone/>
            </a:pPr>
            <a:r>
              <a:rPr lang="en-US" sz="2400" b="1" dirty="0">
                <a:solidFill>
                  <a:schemeClr val="accent2"/>
                </a:solidFill>
              </a:rPr>
              <a:t>Rust prompt engine</a:t>
            </a:r>
            <a:endParaRPr lang="en-US" sz="2400" dirty="0"/>
          </a:p>
        </p:txBody>
      </p:sp>
      <p:sp>
        <p:nvSpPr>
          <p:cNvPr id="20" name="Shape 17"/>
          <p:cNvSpPr/>
          <p:nvPr/>
        </p:nvSpPr>
        <p:spPr>
          <a:xfrm>
            <a:off x="6217920" y="2743200"/>
            <a:ext cx="5120640" cy="822960"/>
          </a:xfrm>
          <a:prstGeom prst="roundRect">
            <a:avLst>
              <a:gd name="adj" fmla="val 13333"/>
            </a:avLst>
          </a:prstGeom>
          <a:solidFill>
            <a:srgbClr val="FFFFFF"/>
          </a:solidFill>
          <a:ln w="12700">
            <a:solidFill>
              <a:srgbClr val="D9D5C8"/>
            </a:solidFill>
            <a:prstDash val="solid"/>
          </a:ln>
        </p:spPr>
      </p:sp>
      <p:sp>
        <p:nvSpPr>
          <p:cNvPr id="21" name="Text 18"/>
          <p:cNvSpPr txBox="1"/>
          <p:nvPr/>
        </p:nvSpPr>
        <p:spPr>
          <a:xfrm>
            <a:off x="6492240" y="2743200"/>
            <a:ext cx="548640" cy="822960"/>
          </a:xfrm>
          <a:prstGeom prst="rect">
            <a:avLst/>
          </a:prstGeom>
          <a:noFill/>
          <a:ln/>
        </p:spPr>
        <p:txBody>
          <a:bodyPr wrap="square" lIns="0" tIns="0" rIns="0" bIns="0" rtlCol="0" anchor="ctr"/>
          <a:lstStyle/>
          <a:p>
            <a:pPr indent="0" marL="0">
              <a:buNone/>
            </a:pPr>
            <a:r>
              <a:rPr lang="en-US" sz="2600" b="1" dirty="0">
                <a:solidFill>
                  <a:schemeClr val="accent3"/>
                </a:solidFill>
              </a:rPr>
              <a:t>6</a:t>
            </a:r>
            <a:endParaRPr lang="en-US" sz="2600" dirty="0"/>
          </a:p>
        </p:txBody>
      </p:sp>
      <p:sp>
        <p:nvSpPr>
          <p:cNvPr id="22" name="Text 19"/>
          <p:cNvSpPr txBox="1"/>
          <p:nvPr/>
        </p:nvSpPr>
        <p:spPr>
          <a:xfrm>
            <a:off x="7223760" y="2743200"/>
            <a:ext cx="3931920" cy="822960"/>
          </a:xfrm>
          <a:prstGeom prst="rect">
            <a:avLst/>
          </a:prstGeom>
          <a:noFill/>
          <a:ln/>
        </p:spPr>
        <p:txBody>
          <a:bodyPr wrap="square" lIns="0" tIns="0" rIns="0" bIns="0" rtlCol="0" anchor="ctr"/>
          <a:lstStyle/>
          <a:p>
            <a:pPr indent="0" marL="0">
              <a:buNone/>
            </a:pPr>
            <a:r>
              <a:rPr lang="en-US" sz="2400" b="1" dirty="0">
                <a:solidFill>
                  <a:schemeClr val="accent2"/>
                </a:solidFill>
              </a:rPr>
              <a:t>Plugin ABI</a:t>
            </a:r>
            <a:endParaRPr lang="en-US" sz="2400" dirty="0"/>
          </a:p>
        </p:txBody>
      </p:sp>
      <p:sp>
        <p:nvSpPr>
          <p:cNvPr id="23" name="Shape 20"/>
          <p:cNvSpPr/>
          <p:nvPr/>
        </p:nvSpPr>
        <p:spPr>
          <a:xfrm>
            <a:off x="6217920" y="3749040"/>
            <a:ext cx="5120640" cy="822960"/>
          </a:xfrm>
          <a:prstGeom prst="roundRect">
            <a:avLst>
              <a:gd name="adj" fmla="val 13333"/>
            </a:avLst>
          </a:prstGeom>
          <a:solidFill>
            <a:srgbClr val="FFFFFF"/>
          </a:solidFill>
          <a:ln w="12700">
            <a:solidFill>
              <a:srgbClr val="D9D5C8"/>
            </a:solidFill>
            <a:prstDash val="solid"/>
          </a:ln>
        </p:spPr>
      </p:sp>
      <p:sp>
        <p:nvSpPr>
          <p:cNvPr id="24" name="Text 21"/>
          <p:cNvSpPr txBox="1"/>
          <p:nvPr/>
        </p:nvSpPr>
        <p:spPr>
          <a:xfrm>
            <a:off x="6492240" y="374904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7</a:t>
            </a:r>
            <a:endParaRPr lang="en-US" sz="2600" dirty="0"/>
          </a:p>
        </p:txBody>
      </p:sp>
      <p:sp>
        <p:nvSpPr>
          <p:cNvPr id="25" name="Text 22"/>
          <p:cNvSpPr txBox="1"/>
          <p:nvPr/>
        </p:nvSpPr>
        <p:spPr>
          <a:xfrm>
            <a:off x="7223760" y="374904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Tooling in the binary</a:t>
            </a:r>
            <a:endParaRPr lang="en-US" sz="2400" dirty="0"/>
          </a:p>
        </p:txBody>
      </p:sp>
      <p:sp>
        <p:nvSpPr>
          <p:cNvPr id="26" name="Shape 23"/>
          <p:cNvSpPr/>
          <p:nvPr/>
        </p:nvSpPr>
        <p:spPr>
          <a:xfrm>
            <a:off x="6217920" y="4754880"/>
            <a:ext cx="5120640" cy="822960"/>
          </a:xfrm>
          <a:prstGeom prst="roundRect">
            <a:avLst>
              <a:gd name="adj" fmla="val 13333"/>
            </a:avLst>
          </a:prstGeom>
          <a:solidFill>
            <a:srgbClr val="FFFFFF"/>
          </a:solidFill>
          <a:ln w="12700">
            <a:solidFill>
              <a:srgbClr val="D9D5C8"/>
            </a:solidFill>
            <a:prstDash val="solid"/>
          </a:ln>
        </p:spPr>
      </p:sp>
      <p:sp>
        <p:nvSpPr>
          <p:cNvPr id="27" name="Text 24"/>
          <p:cNvSpPr txBox="1"/>
          <p:nvPr/>
        </p:nvSpPr>
        <p:spPr>
          <a:xfrm>
            <a:off x="6492240" y="4754880"/>
            <a:ext cx="548640" cy="822960"/>
          </a:xfrm>
          <a:prstGeom prst="rect">
            <a:avLst/>
          </a:prstGeom>
          <a:noFill/>
          <a:ln/>
        </p:spPr>
        <p:txBody>
          <a:bodyPr wrap="square" lIns="0" tIns="0" rIns="0" bIns="0" rtlCol="0" anchor="ctr"/>
          <a:lstStyle/>
          <a:p>
            <a:pPr indent="0" marL="0">
              <a:buNone/>
            </a:pPr>
            <a:r>
              <a:rPr lang="en-US" sz="2600" b="1" dirty="0">
                <a:solidFill>
                  <a:schemeClr val="accent6"/>
                </a:solidFill>
              </a:rPr>
              <a:t>8</a:t>
            </a:r>
            <a:endParaRPr lang="en-US" sz="2600" dirty="0"/>
          </a:p>
        </p:txBody>
      </p:sp>
      <p:sp>
        <p:nvSpPr>
          <p:cNvPr id="28" name="Text 25"/>
          <p:cNvSpPr txBox="1"/>
          <p:nvPr/>
        </p:nvSpPr>
        <p:spPr>
          <a:xfrm>
            <a:off x="7223760" y="4754880"/>
            <a:ext cx="3931920" cy="822960"/>
          </a:xfrm>
          <a:prstGeom prst="rect">
            <a:avLst/>
          </a:prstGeom>
          <a:noFill/>
          <a:ln/>
        </p:spPr>
        <p:txBody>
          <a:bodyPr wrap="square" lIns="0" tIns="0" rIns="0" bIns="0" rtlCol="0" anchor="ctr"/>
          <a:lstStyle/>
          <a:p>
            <a:pPr indent="0" marL="0">
              <a:buNone/>
            </a:pPr>
            <a:r>
              <a:rPr lang="en-US" sz="2400" dirty="0">
                <a:solidFill>
                  <a:schemeClr val="accent4"/>
                </a:solidFill>
              </a:rPr>
              <a:t>Absorbed binaries</a:t>
            </a:r>
            <a:endParaRPr lang="en-US" sz="24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5 · Rust prompt engine</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goodies</a:t>
            </a:r>
            <a:endParaRPr lang="en-US" sz="1200" dirty="0"/>
          </a:p>
        </p:txBody>
      </p:sp>
      <p:sp>
        <p:nvSpPr>
          <p:cNvPr id="5" name="Shape 2"/>
          <p:cNvSpPr/>
          <p:nvPr/>
        </p:nvSpPr>
        <p:spPr>
          <a:xfrm>
            <a:off x="822960" y="1737360"/>
            <a:ext cx="3291840" cy="2377440"/>
          </a:xfrm>
          <a:prstGeom prst="roundRect">
            <a:avLst>
              <a:gd name="adj" fmla="val 4615"/>
            </a:avLst>
          </a:prstGeom>
          <a:solidFill>
            <a:schemeClr val="tx2"/>
          </a:solidFill>
          <a:ln w="12700">
            <a:solidFill>
              <a:srgbClr val="2C3844"/>
            </a:solidFill>
            <a:prstDash val="solid"/>
          </a:ln>
        </p:spPr>
      </p:sp>
      <p:sp>
        <p:nvSpPr>
          <p:cNvPr id="6" name="Text 3"/>
          <p:cNvSpPr txBox="1"/>
          <p:nvPr/>
        </p:nvSpPr>
        <p:spPr>
          <a:xfrm>
            <a:off x="1097280" y="1920240"/>
            <a:ext cx="274320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21k</a:t>
            </a:r>
            <a:endParaRPr lang="en-US" sz="4400" dirty="0"/>
          </a:p>
        </p:txBody>
      </p:sp>
      <p:sp>
        <p:nvSpPr>
          <p:cNvPr id="7" name="Text 4"/>
          <p:cNvSpPr txBox="1"/>
          <p:nvPr/>
        </p:nvSpPr>
        <p:spPr>
          <a:xfrm>
            <a:off x="1097280" y="2788920"/>
            <a:ext cx="2743200" cy="1188720"/>
          </a:xfrm>
          <a:prstGeom prst="rect">
            <a:avLst/>
          </a:prstGeom>
          <a:noFill/>
          <a:ln/>
        </p:spPr>
        <p:txBody>
          <a:bodyPr wrap="square" lIns="0" tIns="0" rIns="0" bIns="0" rtlCol="0" anchor="t"/>
          <a:lstStyle/>
          <a:p>
            <a:pPr indent="0" marL="0">
              <a:buNone/>
            </a:pPr>
            <a:r>
              <a:rPr lang="en-US" sz="1800" dirty="0">
                <a:solidFill>
                  <a:schemeClr val="bg2"/>
                </a:solidFill>
              </a:rPr>
              <a:t>lines of Rust in src/extensions/p10k</a:t>
            </a:r>
            <a:endParaRPr lang="en-US" sz="1800" dirty="0"/>
          </a:p>
        </p:txBody>
      </p:sp>
      <p:sp>
        <p:nvSpPr>
          <p:cNvPr id="8" name="Shape 5"/>
          <p:cNvSpPr/>
          <p:nvPr/>
        </p:nvSpPr>
        <p:spPr>
          <a:xfrm>
            <a:off x="4434840" y="1737360"/>
            <a:ext cx="6903720" cy="2377440"/>
          </a:xfrm>
          <a:prstGeom prst="roundRect">
            <a:avLst>
              <a:gd name="adj" fmla="val 4615"/>
            </a:avLst>
          </a:prstGeom>
          <a:solidFill>
            <a:schemeClr val="tx2"/>
          </a:solidFill>
          <a:ln w="12700">
            <a:solidFill>
              <a:srgbClr val="2C3844"/>
            </a:solidFill>
            <a:prstDash val="solid"/>
          </a:ln>
        </p:spPr>
      </p:sp>
      <p:sp>
        <p:nvSpPr>
          <p:cNvPr id="9" name="Text 6"/>
          <p:cNvSpPr txBox="1"/>
          <p:nvPr/>
        </p:nvSpPr>
        <p:spPr>
          <a:xfrm>
            <a:off x="4709160" y="1965960"/>
            <a:ext cx="635508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What it does</a:t>
            </a:r>
            <a:endParaRPr lang="en-US" sz="2200" dirty="0"/>
          </a:p>
        </p:txBody>
      </p:sp>
      <p:sp>
        <p:nvSpPr>
          <p:cNvPr id="10" name="Text 7"/>
          <p:cNvSpPr txBox="1"/>
          <p:nvPr/>
        </p:nvSpPr>
        <p:spPr>
          <a:xfrm>
            <a:off x="4709160" y="2560320"/>
            <a:ext cx="6355080" cy="137160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bg2"/>
                </a:solidFill>
              </a:rPr>
              <a:t>Renders your existing .p10k.zsh unchanged</a:t>
            </a:r>
            <a:endParaRPr lang="en-US" sz="2200" dirty="0"/>
          </a:p>
          <a:p>
            <a:pPr marL="342900" indent="-342900">
              <a:spcAft>
                <a:spcPts val="1000"/>
              </a:spcAft>
              <a:buSzPct val="100000"/>
              <a:buChar char="•"/>
            </a:pPr>
            <a:r>
              <a:rPr lang="en-US" sz="2200" dirty="0">
                <a:solidFill>
                  <a:schemeClr val="bg2"/>
                </a:solidFill>
              </a:rPr>
              <a:t>Native .git reader instead of gitstatusd</a:t>
            </a:r>
            <a:endParaRPr lang="en-US" sz="2200" dirty="0"/>
          </a:p>
          <a:p>
            <a:pPr marL="342900" indent="-342900">
              <a:spcAft>
                <a:spcPts val="1000"/>
              </a:spcAft>
              <a:buSzPct val="100000"/>
              <a:buChar char="•"/>
            </a:pPr>
            <a:r>
              <a:rPr lang="en-US" sz="2200" dirty="0">
                <a:solidFill>
                  <a:schemeClr val="bg2"/>
                </a:solidFill>
              </a:rPr>
              <a:t>In process: no instant-prompt workaround</a:t>
            </a:r>
            <a:endParaRPr lang="en-US" sz="2200" dirty="0"/>
          </a:p>
        </p:txBody>
      </p:sp>
      <p:sp>
        <p:nvSpPr>
          <p:cNvPr id="11" name="Text 8"/>
          <p:cNvSpPr txBox="1"/>
          <p:nvPr/>
        </p:nvSpPr>
        <p:spPr>
          <a:xfrm>
            <a:off x="822960" y="4572000"/>
            <a:ext cx="10515600" cy="548640"/>
          </a:xfrm>
          <a:prstGeom prst="rect">
            <a:avLst/>
          </a:prstGeom>
          <a:noFill/>
          <a:ln/>
        </p:spPr>
        <p:txBody>
          <a:bodyPr wrap="square" lIns="0" tIns="0" rIns="0" bIns="0" rtlCol="0" anchor="t"/>
          <a:lstStyle/>
          <a:p>
            <a:pPr indent="0" marL="0">
              <a:buNone/>
            </a:pPr>
            <a:r>
              <a:rPr lang="en-US" sz="2400" b="1" dirty="0">
                <a:solidFill>
                  <a:schemeClr val="accent3"/>
                </a:solidFill>
              </a:rPr>
              <a:t>First paint is the full prompt.</a:t>
            </a:r>
            <a:endParaRPr lang="en-US" sz="24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6 · Plugin ABI</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goodies</a:t>
            </a:r>
            <a:endParaRPr lang="en-US" sz="1200" dirty="0"/>
          </a:p>
        </p:txBody>
      </p:sp>
      <p:sp>
        <p:nvSpPr>
          <p:cNvPr id="5" name="Shape 2"/>
          <p:cNvSpPr/>
          <p:nvPr/>
        </p:nvSpPr>
        <p:spPr>
          <a:xfrm>
            <a:off x="822960" y="1737360"/>
            <a:ext cx="10515600" cy="1965960"/>
          </a:xfrm>
          <a:prstGeom prst="roundRect">
            <a:avLst>
              <a:gd name="adj" fmla="val 5581"/>
            </a:avLst>
          </a:prstGeom>
          <a:solidFill>
            <a:schemeClr val="accent4"/>
          </a:solidFill>
          <a:ln w="12700">
            <a:solidFill>
              <a:srgbClr val="2C3844"/>
            </a:solidFill>
            <a:prstDash val="solid"/>
          </a:ln>
        </p:spPr>
      </p:sp>
      <p:sp>
        <p:nvSpPr>
          <p:cNvPr id="6" name="Text 3"/>
          <p:cNvSpPr txBox="1"/>
          <p:nvPr/>
        </p:nvSpPr>
        <p:spPr>
          <a:xfrm>
            <a:off x="1143000" y="1965960"/>
            <a:ext cx="9875520" cy="1508760"/>
          </a:xfrm>
          <a:prstGeom prst="rect">
            <a:avLst/>
          </a:prstGeom>
          <a:noFill/>
          <a:ln/>
        </p:spPr>
        <p:txBody>
          <a:bodyPr wrap="square" lIns="0" tIns="0" rIns="0" bIns="0" rtlCol="0" anchor="t"/>
          <a:lstStyle/>
          <a:p>
            <a:pPr indent="0" marL="0">
              <a:spcAft>
                <a:spcPts val="400"/>
              </a:spcAft>
              <a:buNone/>
            </a:pPr>
            <a:r>
              <a:rPr lang="en-US" sz="1800" dirty="0">
                <a:solidFill>
                  <a:schemeClr val="accent1"/>
                </a:solidFill>
                <a:latin typeface="Courier New" pitchFamily="34" charset="0"/>
                <a:ea typeface="Courier New" pitchFamily="34" charset="-122"/>
                <a:cs typeface="Courier New" pitchFamily="34" charset="-120"/>
              </a:rPr>
              <a:t>zmodload -R ./libfoo.dylib        # load a native plugin</a:t>
            </a:r>
            <a:endParaRPr lang="en-US" sz="1800" dirty="0"/>
          </a:p>
          <a:p>
            <a:pPr indent="0" marL="0">
              <a:spcAft>
                <a:spcPts val="400"/>
              </a:spcAft>
              <a:buNone/>
            </a:pPr>
            <a:r>
              <a:rPr lang="en-US" sz="1800" dirty="0">
                <a:solidFill>
                  <a:schemeClr val="accent1"/>
                </a:solidFill>
                <a:latin typeface="Courier New" pitchFamily="34" charset="0"/>
                <a:ea typeface="Courier New" pitchFamily="34" charset="-122"/>
                <a:cs typeface="Courier New" pitchFamily="34" charset="-120"/>
              </a:rPr>
              <a:t>znative load MenkeTechnologies/zshrs-forgit</a:t>
            </a:r>
            <a:endParaRPr lang="en-US" sz="1800" dirty="0"/>
          </a:p>
          <a:p>
            <a:pPr indent="0" marL="0">
              <a:spcAft>
                <a:spcPts val="400"/>
              </a:spcAft>
              <a:buNone/>
            </a:pPr>
            <a:r>
              <a:rPr lang="en-US" sz="1800" dirty="0">
                <a:solidFill>
                  <a:schemeClr val="accent1"/>
                </a:solidFill>
                <a:latin typeface="Courier New" pitchFamily="34" charset="0"/>
                <a:ea typeface="Courier New" pitchFamily="34" charset="-122"/>
                <a:cs typeface="Courier New" pitchFamily="34" charset="-120"/>
              </a:rPr>
              <a:t>znative load zsh-users/zsh-autosuggestions</a:t>
            </a:r>
            <a:endParaRPr lang="en-US" sz="1800" dirty="0"/>
          </a:p>
        </p:txBody>
      </p:sp>
      <p:sp>
        <p:nvSpPr>
          <p:cNvPr id="7" name="Text 4"/>
          <p:cNvSpPr txBox="1"/>
          <p:nvPr/>
        </p:nvSpPr>
        <p:spPr>
          <a:xfrm>
            <a:off x="822960" y="3840480"/>
            <a:ext cx="10515600" cy="219456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accent4"/>
                </a:solidFill>
              </a:rPr>
              <a:t>Stable, versioned ABI: mismatches are refused</a:t>
            </a:r>
            <a:endParaRPr lang="en-US" sz="2200" dirty="0"/>
          </a:p>
          <a:p>
            <a:pPr marL="342900" indent="-342900">
              <a:spcAft>
                <a:spcPts val="1000"/>
              </a:spcAft>
              <a:buSzPct val="100000"/>
              <a:buChar char="•"/>
            </a:pPr>
            <a:r>
              <a:rPr lang="en-US" sz="2200" dirty="0">
                <a:solidFill>
                  <a:schemeClr val="accent4"/>
                </a:solidFill>
              </a:rPr>
              <a:t>Plugins register builtins and completion generators</a:t>
            </a:r>
            <a:endParaRPr lang="en-US" sz="2200" dirty="0"/>
          </a:p>
          <a:p>
            <a:pPr marL="342900" indent="-342900">
              <a:spcAft>
                <a:spcPts val="1000"/>
              </a:spcAft>
              <a:buSzPct val="100000"/>
              <a:buChar char="•"/>
            </a:pPr>
            <a:r>
              <a:rPr lang="en-US" sz="2200" dirty="0">
                <a:solidFill>
                  <a:schemeClr val="accent4"/>
                </a:solidFill>
              </a:rPr>
              <a:t>znative installs on first start, then loads from a content-addressed store</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7 · Tooling in the binary</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goodies</a:t>
            </a:r>
            <a:endParaRPr lang="en-US" sz="1200" dirty="0"/>
          </a:p>
        </p:txBody>
      </p:sp>
      <p:sp>
        <p:nvSpPr>
          <p:cNvPr id="5" name="Shape 2"/>
          <p:cNvSpPr/>
          <p:nvPr/>
        </p:nvSpPr>
        <p:spPr>
          <a:xfrm>
            <a:off x="822960" y="1737360"/>
            <a:ext cx="2514600" cy="3566160"/>
          </a:xfrm>
          <a:prstGeom prst="roundRect">
            <a:avLst>
              <a:gd name="adj" fmla="val 4364"/>
            </a:avLst>
          </a:prstGeom>
          <a:solidFill>
            <a:schemeClr val="tx2"/>
          </a:solidFill>
          <a:ln w="12700">
            <a:solidFill>
              <a:srgbClr val="2C3844"/>
            </a:solidFill>
            <a:prstDash val="solid"/>
          </a:ln>
        </p:spPr>
      </p:sp>
      <p:sp>
        <p:nvSpPr>
          <p:cNvPr id="6" name="Text 3"/>
          <p:cNvSpPr txBox="1"/>
          <p:nvPr/>
        </p:nvSpPr>
        <p:spPr>
          <a:xfrm>
            <a:off x="109728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--lsp</a:t>
            </a:r>
            <a:endParaRPr lang="en-US" sz="2200" dirty="0"/>
          </a:p>
        </p:txBody>
      </p:sp>
      <p:sp>
        <p:nvSpPr>
          <p:cNvPr id="7" name="Text 4"/>
          <p:cNvSpPr txBox="1"/>
          <p:nvPr/>
        </p:nvSpPr>
        <p:spPr>
          <a:xfrm>
            <a:off x="1097280" y="2560320"/>
            <a:ext cx="1965960" cy="2560320"/>
          </a:xfrm>
          <a:prstGeom prst="rect">
            <a:avLst/>
          </a:prstGeom>
          <a:noFill/>
          <a:ln/>
        </p:spPr>
        <p:txBody>
          <a:bodyPr wrap="square" lIns="0" tIns="0" rIns="0" bIns="0" rtlCol="0" anchor="t"/>
          <a:lstStyle/>
          <a:p>
            <a:pPr indent="0" marL="0">
              <a:buNone/>
            </a:pPr>
            <a:r>
              <a:rPr lang="en-US" sz="1800" dirty="0">
                <a:solidFill>
                  <a:schemeClr val="accent5"/>
                </a:solidFill>
              </a:rPr>
              <a:t>Language server answering from the shell's own parser and live compsys completers</a:t>
            </a:r>
            <a:endParaRPr lang="en-US" sz="1800" dirty="0"/>
          </a:p>
        </p:txBody>
      </p:sp>
      <p:sp>
        <p:nvSpPr>
          <p:cNvPr id="8" name="Shape 5"/>
          <p:cNvSpPr/>
          <p:nvPr/>
        </p:nvSpPr>
        <p:spPr>
          <a:xfrm>
            <a:off x="3520440" y="1737360"/>
            <a:ext cx="2514600" cy="3566160"/>
          </a:xfrm>
          <a:prstGeom prst="roundRect">
            <a:avLst>
              <a:gd name="adj" fmla="val 4364"/>
            </a:avLst>
          </a:prstGeom>
          <a:solidFill>
            <a:schemeClr val="tx2"/>
          </a:solidFill>
          <a:ln w="12700">
            <a:solidFill>
              <a:srgbClr val="2C3844"/>
            </a:solidFill>
            <a:prstDash val="solid"/>
          </a:ln>
        </p:spPr>
      </p:sp>
      <p:sp>
        <p:nvSpPr>
          <p:cNvPr id="9" name="Text 6"/>
          <p:cNvSpPr txBox="1"/>
          <p:nvPr/>
        </p:nvSpPr>
        <p:spPr>
          <a:xfrm>
            <a:off x="379476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--dap</a:t>
            </a:r>
            <a:endParaRPr lang="en-US" sz="2200" dirty="0"/>
          </a:p>
        </p:txBody>
      </p:sp>
      <p:sp>
        <p:nvSpPr>
          <p:cNvPr id="10" name="Text 7"/>
          <p:cNvSpPr txBox="1"/>
          <p:nvPr/>
        </p:nvSpPr>
        <p:spPr>
          <a:xfrm>
            <a:off x="3794760" y="2560320"/>
            <a:ext cx="1965960" cy="2560320"/>
          </a:xfrm>
          <a:prstGeom prst="rect">
            <a:avLst/>
          </a:prstGeom>
          <a:noFill/>
          <a:ln/>
        </p:spPr>
        <p:txBody>
          <a:bodyPr wrap="square" lIns="0" tIns="0" rIns="0" bIns="0" rtlCol="0" anchor="t"/>
          <a:lstStyle/>
          <a:p>
            <a:pPr indent="0" marL="0">
              <a:buNone/>
            </a:pPr>
            <a:r>
              <a:rPr lang="en-US" sz="1800" dirty="0">
                <a:solidFill>
                  <a:schemeClr val="accent5"/>
                </a:solidFill>
              </a:rPr>
              <a:t>Debug adapter in the same binary</a:t>
            </a:r>
            <a:endParaRPr lang="en-US" sz="1800" dirty="0"/>
          </a:p>
        </p:txBody>
      </p:sp>
      <p:sp>
        <p:nvSpPr>
          <p:cNvPr id="11" name="Shape 8"/>
          <p:cNvSpPr/>
          <p:nvPr/>
        </p:nvSpPr>
        <p:spPr>
          <a:xfrm>
            <a:off x="6217920" y="1737360"/>
            <a:ext cx="2514600" cy="3566160"/>
          </a:xfrm>
          <a:prstGeom prst="roundRect">
            <a:avLst>
              <a:gd name="adj" fmla="val 4364"/>
            </a:avLst>
          </a:prstGeom>
          <a:solidFill>
            <a:schemeClr val="tx2"/>
          </a:solidFill>
          <a:ln w="12700">
            <a:solidFill>
              <a:srgbClr val="2C3844"/>
            </a:solidFill>
            <a:prstDash val="solid"/>
          </a:ln>
        </p:spPr>
      </p:sp>
      <p:sp>
        <p:nvSpPr>
          <p:cNvPr id="12" name="Text 9"/>
          <p:cNvSpPr txBox="1"/>
          <p:nvPr/>
        </p:nvSpPr>
        <p:spPr>
          <a:xfrm>
            <a:off x="649224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--fmt</a:t>
            </a:r>
            <a:endParaRPr lang="en-US" sz="2200" dirty="0"/>
          </a:p>
        </p:txBody>
      </p:sp>
      <p:sp>
        <p:nvSpPr>
          <p:cNvPr id="13" name="Text 10"/>
          <p:cNvSpPr txBox="1"/>
          <p:nvPr/>
        </p:nvSpPr>
        <p:spPr>
          <a:xfrm>
            <a:off x="6492240" y="2560320"/>
            <a:ext cx="1965960" cy="2560320"/>
          </a:xfrm>
          <a:prstGeom prst="rect">
            <a:avLst/>
          </a:prstGeom>
          <a:noFill/>
          <a:ln/>
        </p:spPr>
        <p:txBody>
          <a:bodyPr wrap="square" lIns="0" tIns="0" rIns="0" bIns="0" rtlCol="0" anchor="t"/>
          <a:lstStyle/>
          <a:p>
            <a:pPr indent="0" marL="0">
              <a:buNone/>
            </a:pPr>
            <a:r>
              <a:rPr lang="en-US" sz="1800" dirty="0">
                <a:solidFill>
                  <a:schemeClr val="accent5"/>
                </a:solidFill>
              </a:rPr>
              <a:t>Source formatter, idempotent; same engine as LSP formatting</a:t>
            </a:r>
            <a:endParaRPr lang="en-US" sz="1800" dirty="0"/>
          </a:p>
        </p:txBody>
      </p:sp>
      <p:sp>
        <p:nvSpPr>
          <p:cNvPr id="14" name="Shape 11"/>
          <p:cNvSpPr/>
          <p:nvPr/>
        </p:nvSpPr>
        <p:spPr>
          <a:xfrm>
            <a:off x="8915400" y="1737360"/>
            <a:ext cx="2514600" cy="3566160"/>
          </a:xfrm>
          <a:prstGeom prst="roundRect">
            <a:avLst>
              <a:gd name="adj" fmla="val 4364"/>
            </a:avLst>
          </a:prstGeom>
          <a:solidFill>
            <a:schemeClr val="tx2"/>
          </a:solidFill>
          <a:ln w="12700">
            <a:solidFill>
              <a:srgbClr val="2C3844"/>
            </a:solidFill>
            <a:prstDash val="solid"/>
          </a:ln>
        </p:spPr>
      </p:sp>
      <p:sp>
        <p:nvSpPr>
          <p:cNvPr id="15" name="Text 12"/>
          <p:cNvSpPr txBox="1"/>
          <p:nvPr/>
        </p:nvSpPr>
        <p:spPr>
          <a:xfrm>
            <a:off x="918972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Test runner</a:t>
            </a:r>
            <a:endParaRPr lang="en-US" sz="2200" dirty="0"/>
          </a:p>
        </p:txBody>
      </p:sp>
      <p:sp>
        <p:nvSpPr>
          <p:cNvPr id="16" name="Text 13"/>
          <p:cNvSpPr txBox="1"/>
          <p:nvPr/>
        </p:nvSpPr>
        <p:spPr>
          <a:xfrm>
            <a:off x="9189720" y="2560320"/>
            <a:ext cx="1965960" cy="2560320"/>
          </a:xfrm>
          <a:prstGeom prst="rect">
            <a:avLst/>
          </a:prstGeom>
          <a:noFill/>
          <a:ln/>
        </p:spPr>
        <p:txBody>
          <a:bodyPr wrap="square" lIns="0" tIns="0" rIns="0" bIns="0" rtlCol="0" anchor="t"/>
          <a:lstStyle/>
          <a:p>
            <a:pPr indent="0" marL="0">
              <a:buNone/>
            </a:pPr>
            <a:r>
              <a:rPr lang="en-US" sz="1800" dirty="0">
                <a:solidFill>
                  <a:schemeClr val="accent5"/>
                </a:solidFill>
              </a:rPr>
              <a:t>14 assertion verbs, pooled workers</a:t>
            </a:r>
            <a:endParaRPr lang="en-US" sz="1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8 · Absorbed binaries</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goodies</a:t>
            </a:r>
            <a:endParaRPr lang="en-US" sz="1200" dirty="0"/>
          </a:p>
        </p:txBody>
      </p:sp>
      <p:sp>
        <p:nvSpPr>
          <p:cNvPr id="5" name="Shape 2"/>
          <p:cNvSpPr/>
          <p:nvPr/>
        </p:nvSpPr>
        <p:spPr>
          <a:xfrm>
            <a:off x="822960" y="1737360"/>
            <a:ext cx="3383280" cy="3566160"/>
          </a:xfrm>
          <a:prstGeom prst="roundRect">
            <a:avLst>
              <a:gd name="adj" fmla="val 3243"/>
            </a:avLst>
          </a:prstGeom>
          <a:solidFill>
            <a:srgbClr val="FFFFFF"/>
          </a:solidFill>
          <a:ln w="12700">
            <a:solidFill>
              <a:srgbClr val="D9D5C8"/>
            </a:solidFill>
            <a:prstDash val="solid"/>
          </a:ln>
        </p:spPr>
      </p:sp>
      <p:sp>
        <p:nvSpPr>
          <p:cNvPr id="6" name="Text 3"/>
          <p:cNvSpPr txBox="1"/>
          <p:nvPr/>
        </p:nvSpPr>
        <p:spPr>
          <a:xfrm>
            <a:off x="1097280" y="1965960"/>
            <a:ext cx="283464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git</a:t>
            </a:r>
            <a:endParaRPr lang="en-US" sz="2200" dirty="0"/>
          </a:p>
        </p:txBody>
      </p:sp>
      <p:sp>
        <p:nvSpPr>
          <p:cNvPr id="7" name="Text 4"/>
          <p:cNvSpPr txBox="1"/>
          <p:nvPr/>
        </p:nvSpPr>
        <p:spPr>
          <a:xfrm>
            <a:off x="1097280" y="2560320"/>
            <a:ext cx="2834640" cy="256032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accent4"/>
                </a:solidFill>
              </a:rPr>
              <a:t>Builtin, in the shell process</a:t>
            </a:r>
            <a:endParaRPr lang="en-US" sz="2000" dirty="0"/>
          </a:p>
          <a:p>
            <a:pPr marL="342900" indent="-342900">
              <a:spcAft>
                <a:spcPts val="1000"/>
              </a:spcAft>
              <a:buSzPct val="100000"/>
              <a:buChar char="•"/>
            </a:pPr>
            <a:r>
              <a:rPr lang="en-US" sz="2000" dirty="0">
                <a:solidFill>
                  <a:schemeClr val="accent4"/>
                </a:solidFill>
              </a:rPr>
              <a:t>No fork, no exec, no PATH lookup</a:t>
            </a:r>
            <a:endParaRPr lang="en-US" sz="2000" dirty="0"/>
          </a:p>
          <a:p>
            <a:pPr marL="342900" indent="-342900">
              <a:spcAft>
                <a:spcPts val="1000"/>
              </a:spcAft>
              <a:buSzPct val="100000"/>
              <a:buChar char="•"/>
            </a:pPr>
            <a:r>
              <a:rPr lang="en-US" sz="2000" dirty="0">
                <a:solidFill>
                  <a:schemeClr val="accent4"/>
                </a:solidFill>
              </a:rPr>
              <a:t>zshrs-native build</a:t>
            </a:r>
            <a:endParaRPr lang="en-US" sz="2000" dirty="0"/>
          </a:p>
        </p:txBody>
      </p:sp>
      <p:sp>
        <p:nvSpPr>
          <p:cNvPr id="8" name="Shape 5"/>
          <p:cNvSpPr/>
          <p:nvPr/>
        </p:nvSpPr>
        <p:spPr>
          <a:xfrm>
            <a:off x="4389120" y="1737360"/>
            <a:ext cx="3383280" cy="3566160"/>
          </a:xfrm>
          <a:prstGeom prst="roundRect">
            <a:avLst>
              <a:gd name="adj" fmla="val 3243"/>
            </a:avLst>
          </a:prstGeom>
          <a:solidFill>
            <a:srgbClr val="FFFFFF"/>
          </a:solidFill>
          <a:ln w="12700">
            <a:solidFill>
              <a:srgbClr val="D9D5C8"/>
            </a:solidFill>
            <a:prstDash val="solid"/>
          </a:ln>
        </p:spPr>
      </p:sp>
      <p:sp>
        <p:nvSpPr>
          <p:cNvPr id="9" name="Text 6"/>
          <p:cNvSpPr txBox="1"/>
          <p:nvPr/>
        </p:nvSpPr>
        <p:spPr>
          <a:xfrm>
            <a:off x="4663440" y="1965960"/>
            <a:ext cx="283464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arb --fzf</a:t>
            </a:r>
            <a:endParaRPr lang="en-US" sz="2200" dirty="0"/>
          </a:p>
        </p:txBody>
      </p:sp>
      <p:sp>
        <p:nvSpPr>
          <p:cNvPr id="10" name="Text 7"/>
          <p:cNvSpPr txBox="1"/>
          <p:nvPr/>
        </p:nvSpPr>
        <p:spPr>
          <a:xfrm>
            <a:off x="4663440" y="2560320"/>
            <a:ext cx="2834640" cy="256032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accent4"/>
                </a:solidFill>
              </a:rPr>
              <a:t>fzf-compatible finder in process</a:t>
            </a:r>
            <a:endParaRPr lang="en-US" sz="2000" dirty="0"/>
          </a:p>
          <a:p>
            <a:pPr marL="342900" indent="-342900">
              <a:spcAft>
                <a:spcPts val="1000"/>
              </a:spcAft>
              <a:buSzPct val="100000"/>
              <a:buChar char="•"/>
            </a:pPr>
            <a:r>
              <a:rPr lang="en-US" sz="2000" dirty="0">
                <a:solidFill>
                  <a:schemeClr val="accent4"/>
                </a:solidFill>
              </a:rPr>
              <a:t>Honors FZF_DEFAULT_OPTS</a:t>
            </a:r>
            <a:endParaRPr lang="en-US" sz="2000" dirty="0"/>
          </a:p>
          <a:p>
            <a:pPr marL="342900" indent="-342900">
              <a:spcAft>
                <a:spcPts val="1000"/>
              </a:spcAft>
              <a:buSzPct val="100000"/>
              <a:buChar char="•"/>
            </a:pPr>
            <a:r>
              <a:rPr lang="en-US" sz="2000" dirty="0">
                <a:solidFill>
                  <a:schemeClr val="accent4"/>
                </a:solidFill>
              </a:rPr>
              <a:t>Filters a pipeline</a:t>
            </a:r>
            <a:endParaRPr lang="en-US" sz="2000" dirty="0"/>
          </a:p>
        </p:txBody>
      </p:sp>
      <p:sp>
        <p:nvSpPr>
          <p:cNvPr id="11" name="Shape 8"/>
          <p:cNvSpPr/>
          <p:nvPr/>
        </p:nvSpPr>
        <p:spPr>
          <a:xfrm>
            <a:off x="7955280" y="1737360"/>
            <a:ext cx="3383280" cy="3566160"/>
          </a:xfrm>
          <a:prstGeom prst="roundRect">
            <a:avLst>
              <a:gd name="adj" fmla="val 3243"/>
            </a:avLst>
          </a:prstGeom>
          <a:solidFill>
            <a:srgbClr val="FFFFFF"/>
          </a:solidFill>
          <a:ln w="12700">
            <a:solidFill>
              <a:srgbClr val="D9D5C8"/>
            </a:solidFill>
            <a:prstDash val="solid"/>
          </a:ln>
        </p:spPr>
      </p:sp>
      <p:sp>
        <p:nvSpPr>
          <p:cNvPr id="12" name="Text 9"/>
          <p:cNvSpPr txBox="1"/>
          <p:nvPr/>
        </p:nvSpPr>
        <p:spPr>
          <a:xfrm>
            <a:off x="8229600" y="1965960"/>
            <a:ext cx="283464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coreutils</a:t>
            </a:r>
            <a:endParaRPr lang="en-US" sz="2200" dirty="0"/>
          </a:p>
        </p:txBody>
      </p:sp>
      <p:sp>
        <p:nvSpPr>
          <p:cNvPr id="13" name="Text 10"/>
          <p:cNvSpPr txBox="1"/>
          <p:nvPr/>
        </p:nvSpPr>
        <p:spPr>
          <a:xfrm>
            <a:off x="8229600" y="2560320"/>
            <a:ext cx="2834640" cy="256032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accent4"/>
                </a:solidFill>
              </a:rPr>
              <a:t>48 commands run in-process</a:t>
            </a:r>
            <a:endParaRPr lang="en-US" sz="2000" dirty="0"/>
          </a:p>
          <a:p>
            <a:pPr marL="342900" indent="-342900">
              <a:spcAft>
                <a:spcPts val="1000"/>
              </a:spcAft>
              <a:buSzPct val="100000"/>
              <a:buChar char="•"/>
            </a:pPr>
            <a:r>
              <a:rPr lang="en-US" sz="2000" dirty="0">
                <a:solidFill>
                  <a:schemeClr val="accent4"/>
                </a:solidFill>
              </a:rPr>
              <a:t>No fork for cat in a pipeline</a:t>
            </a:r>
            <a:endParaRPr lang="en-US" sz="2000" dirty="0"/>
          </a:p>
          <a:p>
            <a:pPr marL="342900" indent="-342900">
              <a:spcAft>
                <a:spcPts val="1000"/>
              </a:spcAft>
              <a:buSzPct val="100000"/>
              <a:buChar char="•"/>
            </a:pPr>
            <a:r>
              <a:rPr lang="en-US" sz="2000" dirty="0">
                <a:solidFill>
                  <a:schemeClr val="accent4"/>
                </a:solidFill>
              </a:rPr>
              <a:t>Main zshrs binary</a:t>
            </a:r>
            <a:endParaRPr lang="en-US" sz="20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Lists to take with you</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take-away</a:t>
            </a:r>
            <a:endParaRPr lang="en-US" sz="1200" dirty="0"/>
          </a:p>
        </p:txBody>
      </p:sp>
      <p:sp>
        <p:nvSpPr>
          <p:cNvPr id="5" name="Shape 2"/>
          <p:cNvSpPr/>
          <p:nvPr/>
        </p:nvSpPr>
        <p:spPr>
          <a:xfrm>
            <a:off x="822960" y="1737360"/>
            <a:ext cx="2514600" cy="3840480"/>
          </a:xfrm>
          <a:prstGeom prst="roundRect">
            <a:avLst>
              <a:gd name="adj" fmla="val 4364"/>
            </a:avLst>
          </a:prstGeom>
          <a:solidFill>
            <a:schemeClr val="tx2"/>
          </a:solidFill>
          <a:ln w="12700">
            <a:solidFill>
              <a:srgbClr val="2C3844"/>
            </a:solidFill>
            <a:prstDash val="solid"/>
          </a:ln>
        </p:spPr>
      </p:sp>
      <p:sp>
        <p:nvSpPr>
          <p:cNvPr id="6" name="Text 3"/>
          <p:cNvSpPr txBox="1"/>
          <p:nvPr/>
        </p:nvSpPr>
        <p:spPr>
          <a:xfrm>
            <a:off x="109728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Get started</a:t>
            </a:r>
            <a:endParaRPr lang="en-US" sz="2200" dirty="0"/>
          </a:p>
        </p:txBody>
      </p:sp>
      <p:sp>
        <p:nvSpPr>
          <p:cNvPr id="7" name="Text 4"/>
          <p:cNvSpPr txBox="1"/>
          <p:nvPr/>
        </p:nvSpPr>
        <p:spPr>
          <a:xfrm>
            <a:off x="1097280" y="2560320"/>
            <a:ext cx="1965960" cy="28346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2"/>
                </a:solidFill>
              </a:rPr>
              <a:t>brew tap MenkeTechnologies/menketech</a:t>
            </a:r>
            <a:endParaRPr lang="en-US" sz="1700" dirty="0"/>
          </a:p>
          <a:p>
            <a:pPr marL="342900" indent="-342900">
              <a:spcAft>
                <a:spcPts val="1000"/>
              </a:spcAft>
              <a:buSzPct val="100000"/>
              <a:buChar char="•"/>
            </a:pPr>
            <a:r>
              <a:rPr lang="en-US" sz="1700" dirty="0">
                <a:solidFill>
                  <a:schemeClr val="bg2"/>
                </a:solidFill>
              </a:rPr>
              <a:t>brew install zshrs</a:t>
            </a:r>
            <a:endParaRPr lang="en-US" sz="1700" dirty="0"/>
          </a:p>
          <a:p>
            <a:pPr marL="342900" indent="-342900">
              <a:spcAft>
                <a:spcPts val="1000"/>
              </a:spcAft>
              <a:buSzPct val="100000"/>
              <a:buChar char="•"/>
            </a:pPr>
            <a:r>
              <a:rPr lang="en-US" sz="1700" dirty="0">
                <a:solidFill>
                  <a:schemeClr val="bg2"/>
                </a:solidFill>
              </a:rPr>
              <a:t>open a new terminal</a:t>
            </a:r>
            <a:endParaRPr lang="en-US" sz="1700" dirty="0"/>
          </a:p>
        </p:txBody>
      </p:sp>
      <p:sp>
        <p:nvSpPr>
          <p:cNvPr id="8" name="Shape 5"/>
          <p:cNvSpPr/>
          <p:nvPr/>
        </p:nvSpPr>
        <p:spPr>
          <a:xfrm>
            <a:off x="3520440" y="1737360"/>
            <a:ext cx="2514600" cy="3840480"/>
          </a:xfrm>
          <a:prstGeom prst="roundRect">
            <a:avLst>
              <a:gd name="adj" fmla="val 4364"/>
            </a:avLst>
          </a:prstGeom>
          <a:solidFill>
            <a:schemeClr val="tx2"/>
          </a:solidFill>
          <a:ln w="12700">
            <a:solidFill>
              <a:srgbClr val="2C3844"/>
            </a:solidFill>
            <a:prstDash val="solid"/>
          </a:ln>
        </p:spPr>
      </p:sp>
      <p:sp>
        <p:nvSpPr>
          <p:cNvPr id="9" name="Text 6"/>
          <p:cNvSpPr txBox="1"/>
          <p:nvPr/>
        </p:nvSpPr>
        <p:spPr>
          <a:xfrm>
            <a:off x="379476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Check it</a:t>
            </a:r>
            <a:endParaRPr lang="en-US" sz="2200" dirty="0"/>
          </a:p>
        </p:txBody>
      </p:sp>
      <p:sp>
        <p:nvSpPr>
          <p:cNvPr id="10" name="Text 7"/>
          <p:cNvSpPr txBox="1"/>
          <p:nvPr/>
        </p:nvSpPr>
        <p:spPr>
          <a:xfrm>
            <a:off x="3794760" y="2560320"/>
            <a:ext cx="1965960" cy="28346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2"/>
                </a:solidFill>
              </a:rPr>
              <a:t>zsh-bench</a:t>
            </a:r>
            <a:endParaRPr lang="en-US" sz="1700" dirty="0"/>
          </a:p>
          <a:p>
            <a:pPr marL="342900" indent="-342900">
              <a:spcAft>
                <a:spcPts val="1000"/>
              </a:spcAft>
              <a:buSzPct val="100000"/>
              <a:buChar char="•"/>
            </a:pPr>
            <a:r>
              <a:rPr lang="en-US" sz="1700" dirty="0">
                <a:solidFill>
                  <a:schemeClr val="bg2"/>
                </a:solidFill>
              </a:rPr>
              <a:t>ps -o rss= -p $$</a:t>
            </a:r>
            <a:endParaRPr lang="en-US" sz="1700" dirty="0"/>
          </a:p>
          <a:p>
            <a:pPr marL="342900" indent="-342900">
              <a:spcAft>
                <a:spcPts val="1000"/>
              </a:spcAft>
              <a:buSzPct val="100000"/>
              <a:buChar char="•"/>
            </a:pPr>
            <a:r>
              <a:rPr lang="en-US" sz="1700" dirty="0">
                <a:solidFill>
                  <a:schemeClr val="bg2"/>
                </a:solidFill>
              </a:rPr>
              <a:t>run the parity suites</a:t>
            </a:r>
            <a:endParaRPr lang="en-US" sz="1700" dirty="0"/>
          </a:p>
        </p:txBody>
      </p:sp>
      <p:sp>
        <p:nvSpPr>
          <p:cNvPr id="11" name="Shape 8"/>
          <p:cNvSpPr/>
          <p:nvPr/>
        </p:nvSpPr>
        <p:spPr>
          <a:xfrm>
            <a:off x="6217920" y="1737360"/>
            <a:ext cx="2514600" cy="3840480"/>
          </a:xfrm>
          <a:prstGeom prst="roundRect">
            <a:avLst>
              <a:gd name="adj" fmla="val 4364"/>
            </a:avLst>
          </a:prstGeom>
          <a:solidFill>
            <a:schemeClr val="tx2"/>
          </a:solidFill>
          <a:ln w="12700">
            <a:solidFill>
              <a:srgbClr val="2C3844"/>
            </a:solidFill>
            <a:prstDash val="solid"/>
          </a:ln>
        </p:spPr>
      </p:sp>
      <p:sp>
        <p:nvSpPr>
          <p:cNvPr id="12" name="Text 9"/>
          <p:cNvSpPr txBox="1"/>
          <p:nvPr/>
        </p:nvSpPr>
        <p:spPr>
          <a:xfrm>
            <a:off x="649224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Turn on</a:t>
            </a:r>
            <a:endParaRPr lang="en-US" sz="2200" dirty="0"/>
          </a:p>
        </p:txBody>
      </p:sp>
      <p:sp>
        <p:nvSpPr>
          <p:cNvPr id="13" name="Text 10"/>
          <p:cNvSpPr txBox="1"/>
          <p:nvPr/>
        </p:nvSpPr>
        <p:spPr>
          <a:xfrm>
            <a:off x="6492240" y="2560320"/>
            <a:ext cx="1965960" cy="28346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2"/>
                </a:solidFill>
              </a:rPr>
              <a:t>[zle] in ~/.zshrs/zshrs.toml</a:t>
            </a:r>
            <a:endParaRPr lang="en-US" sz="1700" dirty="0"/>
          </a:p>
          <a:p>
            <a:pPr marL="342900" indent="-342900">
              <a:spcAft>
                <a:spcPts val="1000"/>
              </a:spcAft>
              <a:buSzPct val="100000"/>
              <a:buChar char="•"/>
            </a:pPr>
            <a:r>
              <a:rPr lang="en-US" sz="1700" dirty="0">
                <a:solidFill>
                  <a:schemeClr val="bg2"/>
                </a:solidFill>
              </a:rPr>
              <a:t>zd daemon start</a:t>
            </a:r>
            <a:endParaRPr lang="en-US" sz="1700" dirty="0"/>
          </a:p>
          <a:p>
            <a:pPr marL="342900" indent="-342900">
              <a:spcAft>
                <a:spcPts val="1000"/>
              </a:spcAft>
              <a:buSzPct val="100000"/>
              <a:buChar char="•"/>
            </a:pPr>
            <a:r>
              <a:rPr lang="en-US" sz="1700" dirty="0">
                <a:solidFill>
                  <a:schemeClr val="bg2"/>
                </a:solidFill>
              </a:rPr>
              <a:t>znative load owner/repo</a:t>
            </a:r>
            <a:endParaRPr lang="en-US" sz="1700" dirty="0"/>
          </a:p>
        </p:txBody>
      </p:sp>
      <p:sp>
        <p:nvSpPr>
          <p:cNvPr id="14" name="Shape 11"/>
          <p:cNvSpPr/>
          <p:nvPr/>
        </p:nvSpPr>
        <p:spPr>
          <a:xfrm>
            <a:off x="8915400" y="1737360"/>
            <a:ext cx="2514600" cy="3840480"/>
          </a:xfrm>
          <a:prstGeom prst="roundRect">
            <a:avLst>
              <a:gd name="adj" fmla="val 4364"/>
            </a:avLst>
          </a:prstGeom>
          <a:solidFill>
            <a:schemeClr val="tx2"/>
          </a:solidFill>
          <a:ln w="12700">
            <a:solidFill>
              <a:srgbClr val="2C3844"/>
            </a:solidFill>
            <a:prstDash val="solid"/>
          </a:ln>
        </p:spPr>
      </p:sp>
      <p:sp>
        <p:nvSpPr>
          <p:cNvPr id="15" name="Text 12"/>
          <p:cNvSpPr txBox="1"/>
          <p:nvPr/>
        </p:nvSpPr>
        <p:spPr>
          <a:xfrm>
            <a:off x="9189720" y="1965960"/>
            <a:ext cx="1965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Help</a:t>
            </a:r>
            <a:endParaRPr lang="en-US" sz="2200" dirty="0"/>
          </a:p>
        </p:txBody>
      </p:sp>
      <p:sp>
        <p:nvSpPr>
          <p:cNvPr id="16" name="Text 13"/>
          <p:cNvSpPr txBox="1"/>
          <p:nvPr/>
        </p:nvSpPr>
        <p:spPr>
          <a:xfrm>
            <a:off x="9189720" y="2560320"/>
            <a:ext cx="1965960" cy="28346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2"/>
                </a:solidFill>
              </a:rPr>
              <a:t>use it</a:t>
            </a:r>
            <a:endParaRPr lang="en-US" sz="1700" dirty="0"/>
          </a:p>
          <a:p>
            <a:pPr marL="342900" indent="-342900">
              <a:spcAft>
                <a:spcPts val="1000"/>
              </a:spcAft>
              <a:buSzPct val="100000"/>
              <a:buChar char="•"/>
            </a:pPr>
            <a:r>
              <a:rPr lang="en-US" sz="1700" dirty="0">
                <a:solidFill>
                  <a:schemeClr val="bg2"/>
                </a:solidFill>
              </a:rPr>
              <a:t>check parity</a:t>
            </a:r>
            <a:endParaRPr lang="en-US" sz="1700" dirty="0"/>
          </a:p>
          <a:p>
            <a:pPr marL="342900" indent="-342900">
              <a:spcAft>
                <a:spcPts val="1000"/>
              </a:spcAft>
              <a:buSzPct val="100000"/>
              <a:buChar char="•"/>
            </a:pPr>
            <a:r>
              <a:rPr lang="en-US" sz="1700" dirty="0">
                <a:solidFill>
                  <a:schemeClr val="bg2"/>
                </a:solidFill>
              </a:rPr>
              <a:t>review it</a:t>
            </a:r>
            <a:endParaRPr lang="en-US" sz="1700" dirty="0"/>
          </a:p>
          <a:p>
            <a:pPr marL="342900" indent="-342900">
              <a:spcAft>
                <a:spcPts val="1000"/>
              </a:spcAft>
              <a:buSzPct val="100000"/>
              <a:buChar char="•"/>
            </a:pPr>
            <a:r>
              <a:rPr lang="en-US" sz="1700" dirty="0">
                <a:solidFill>
                  <a:schemeClr val="bg2"/>
                </a:solidFill>
              </a:rPr>
              <a:t>open issues</a:t>
            </a:r>
            <a:endParaRPr lang="en-US" sz="17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Install again</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install</a:t>
            </a:r>
            <a:endParaRPr lang="en-US" sz="1200" dirty="0"/>
          </a:p>
        </p:txBody>
      </p:sp>
      <p:sp>
        <p:nvSpPr>
          <p:cNvPr id="5" name="Shape 2"/>
          <p:cNvSpPr/>
          <p:nvPr/>
        </p:nvSpPr>
        <p:spPr>
          <a:xfrm>
            <a:off x="822960" y="1737360"/>
            <a:ext cx="10515600" cy="2103120"/>
          </a:xfrm>
          <a:prstGeom prst="roundRect">
            <a:avLst>
              <a:gd name="adj" fmla="val 5217"/>
            </a:avLst>
          </a:prstGeom>
          <a:solidFill>
            <a:schemeClr val="accent4"/>
          </a:solidFill>
          <a:ln w="12700">
            <a:solidFill>
              <a:srgbClr val="2C3844"/>
            </a:solidFill>
            <a:prstDash val="solid"/>
          </a:ln>
        </p:spPr>
      </p:sp>
      <p:sp>
        <p:nvSpPr>
          <p:cNvPr id="6" name="Text 3"/>
          <p:cNvSpPr txBox="1"/>
          <p:nvPr/>
        </p:nvSpPr>
        <p:spPr>
          <a:xfrm>
            <a:off x="1143000" y="1965960"/>
            <a:ext cx="9875520" cy="1645920"/>
          </a:xfrm>
          <a:prstGeom prst="rect">
            <a:avLst/>
          </a:prstGeom>
          <a:noFill/>
          <a:ln/>
        </p:spPr>
        <p:txBody>
          <a:bodyPr wrap="square" lIns="0" tIns="0" rIns="0" bIns="0" rtlCol="0" anchor="t"/>
          <a:lstStyle/>
          <a:p>
            <a:pPr indent="0" marL="0">
              <a:spcAft>
                <a:spcPts val="400"/>
              </a:spcAft>
              <a:buNone/>
            </a:pPr>
            <a:r>
              <a:rPr lang="en-US" sz="2200" dirty="0">
                <a:solidFill>
                  <a:schemeClr val="accent1"/>
                </a:solidFill>
                <a:latin typeface="Courier New" pitchFamily="34" charset="0"/>
                <a:ea typeface="Courier New" pitchFamily="34" charset="-122"/>
                <a:cs typeface="Courier New" pitchFamily="34" charset="-120"/>
              </a:rPr>
              <a:t>brew tap MenkeTechnologies/menketech</a:t>
            </a:r>
            <a:endParaRPr lang="en-US" sz="2200" dirty="0"/>
          </a:p>
          <a:p>
            <a:pPr indent="0" marL="0">
              <a:spcAft>
                <a:spcPts val="400"/>
              </a:spcAft>
              <a:buNone/>
            </a:pPr>
            <a:r>
              <a:rPr lang="en-US" sz="2200" dirty="0">
                <a:solidFill>
                  <a:schemeClr val="accent1"/>
                </a:solidFill>
                <a:latin typeface="Courier New" pitchFamily="34" charset="0"/>
                <a:ea typeface="Courier New" pitchFamily="34" charset="-122"/>
                <a:cs typeface="Courier New" pitchFamily="34" charset="-120"/>
              </a:rPr>
              <a:t>brew install zshrs</a:t>
            </a:r>
            <a:endParaRPr lang="en-US" sz="2200" dirty="0"/>
          </a:p>
          <a:p>
            <a:pPr indent="0" marL="0">
              <a:spcAft>
                <a:spcPts val="400"/>
              </a:spcAft>
              <a:buNone/>
            </a:pPr>
            <a:r>
              <a:rPr lang="en-US" sz="2200" dirty="0">
                <a:solidFill>
                  <a:schemeClr val="accent5"/>
                </a:solidFill>
                <a:latin typeface="Courier New" pitchFamily="34" charset="0"/>
                <a:ea typeface="Courier New" pitchFamily="34" charset="-122"/>
                <a:cs typeface="Courier New" pitchFamily="34" charset="-120"/>
              </a:rPr>
              <a:t>brew install zshrs-all   # adds recorder + daemon</a:t>
            </a:r>
            <a:endParaRPr lang="en-US" sz="2200" dirty="0"/>
          </a:p>
        </p:txBody>
      </p:sp>
      <p:sp>
        <p:nvSpPr>
          <p:cNvPr id="7" name="Text 4"/>
          <p:cNvSpPr txBox="1"/>
          <p:nvPr/>
        </p:nvSpPr>
        <p:spPr>
          <a:xfrm>
            <a:off x="822960" y="4114800"/>
            <a:ext cx="10515600" cy="548640"/>
          </a:xfrm>
          <a:prstGeom prst="rect">
            <a:avLst/>
          </a:prstGeom>
          <a:noFill/>
          <a:ln/>
        </p:spPr>
        <p:txBody>
          <a:bodyPr wrap="square" lIns="0" tIns="0" rIns="0" bIns="0" rtlCol="0" anchor="t"/>
          <a:lstStyle/>
          <a:p>
            <a:pPr indent="0" marL="0">
              <a:buNone/>
            </a:pPr>
            <a:r>
              <a:rPr lang="en-US" sz="2400" dirty="0">
                <a:solidFill>
                  <a:schemeClr val="accent4"/>
                </a:solidFill>
              </a:rPr>
              <a:t>Use it, check the parity, review it, open issues.</a:t>
            </a:r>
            <a:endParaRPr lang="en-US" sz="24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0"/>
          <p:cNvSpPr txBox="1"/>
          <p:nvPr/>
        </p:nvSpPr>
        <p:spPr>
          <a:xfrm>
            <a:off x="822960" y="2377440"/>
            <a:ext cx="10515600" cy="1463040"/>
          </a:xfrm>
          <a:prstGeom prst="rect">
            <a:avLst/>
          </a:prstGeom>
          <a:noFill/>
          <a:ln/>
        </p:spPr>
        <p:txBody>
          <a:bodyPr wrap="square" lIns="0" tIns="0" rIns="0" bIns="0" rtlCol="0" anchor="t"/>
          <a:lstStyle/>
          <a:p>
            <a:pPr indent="0" marL="0">
              <a:buNone/>
            </a:pPr>
            <a:r>
              <a:rPr lang="en-US" sz="6600" b="1" dirty="0">
                <a:solidFill>
                  <a:schemeClr val="bg2"/>
                </a:solidFill>
                <a:latin typeface="Cambria" pitchFamily="34" charset="0"/>
                <a:ea typeface="Cambria" pitchFamily="34" charset="-122"/>
                <a:cs typeface="Cambria" pitchFamily="34" charset="-120"/>
              </a:rPr>
              <a:t>Questions</a:t>
            </a:r>
            <a:endParaRPr lang="en-US" sz="6600" dirty="0"/>
          </a:p>
        </p:txBody>
      </p:sp>
      <p:sp>
        <p:nvSpPr>
          <p:cNvPr id="4" name="Text 1"/>
          <p:cNvSpPr txBox="1"/>
          <p:nvPr/>
        </p:nvSpPr>
        <p:spPr>
          <a:xfrm>
            <a:off x="822960" y="4023360"/>
            <a:ext cx="10515600" cy="548640"/>
          </a:xfrm>
          <a:prstGeom prst="rect">
            <a:avLst/>
          </a:prstGeom>
          <a:noFill/>
          <a:ln/>
        </p:spPr>
        <p:txBody>
          <a:bodyPr wrap="square" lIns="0" tIns="0" rIns="0" bIns="0" rtlCol="0" anchor="t"/>
          <a:lstStyle/>
          <a:p>
            <a:pPr indent="0" marL="0">
              <a:buNone/>
            </a:pPr>
            <a:r>
              <a:rPr lang="en-US" sz="2200" dirty="0">
                <a:solidFill>
                  <a:schemeClr val="accent5"/>
                </a:solidFill>
                <a:latin typeface="Courier New" pitchFamily="34" charset="0"/>
                <a:ea typeface="Courier New" pitchFamily="34" charset="-122"/>
                <a:cs typeface="Courier New" pitchFamily="34" charset="-120"/>
              </a:rPr>
              <a:t>github.com/MenkeTechnologies/zshrs</a:t>
            </a:r>
            <a:endParaRPr lang="en-US" sz="2200" dirty="0"/>
          </a:p>
        </p:txBody>
      </p:sp>
      <p:sp>
        <p:nvSpPr>
          <p:cNvPr id="5"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accent4"/>
                </a:solidFill>
              </a:rPr>
              <a:t>Backup: open parity items</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zshrs / backup</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15600" cy="914400"/>
        </p:xfrm>
        <a:graphic>
          <a:graphicData uri="http://schemas.openxmlformats.org/drawingml/2006/table">
            <a:tbl>
              <a:tblPr/>
              <a:tblGrid>
                <a:gridCol w="4206240"/>
                <a:gridCol w="6309360"/>
              </a:tblGrid>
              <a:tr h="566928">
                <a:tc>
                  <a:txBody>
                    <a:bodyPr/>
                    <a:lstStyle/>
                    <a:p>
                      <a:pPr indent="0" marL="0">
                        <a:buNone/>
                      </a:pPr>
                      <a:r>
                        <a:rPr lang="en-US" sz="1800" b="1" dirty="0">
                          <a:solidFill>
                            <a:schemeClr val="accent2"/>
                          </a:solidFill>
                        </a:rPr>
                        <a:t>Test</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b="1" dirty="0">
                          <a:solidFill>
                            <a:schemeClr val="accent2"/>
                          </a:solidFill>
                        </a:rPr>
                        <a:t>Why it is open</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1800" dirty="0">
                          <a:solidFill>
                            <a:schemeClr val="accent4"/>
                          </a:solidFill>
                        </a:rPr>
                        <a:t>nul_quoting_format</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Structural: C metafies NUL, Rust String holds a real NUL</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1800" dirty="0">
                          <a:solidFill>
                            <a:schemeClr val="accent4"/>
                          </a:solidFill>
                        </a:rPr>
                        <a:t>zmodload -R complete</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Not a gap: -R loads native Rust plugins by design</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1800" dirty="0">
                          <a:solidFill>
                            <a:schemeClr val="accent4"/>
                          </a:solidFill>
                        </a:rPr>
                        <a:t>config_state_parity (aliases)</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RC_QUOTES '' in alias bodies; target behaviour undecided</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r h="566928">
                <a:tc>
                  <a:txBody>
                    <a:bodyPr/>
                    <a:lstStyle/>
                    <a:p>
                      <a:pPr indent="0" marL="0">
                        <a:buNone/>
                      </a:pPr>
                      <a:r>
                        <a:rPr lang="en-US" sz="1800" dirty="0">
                          <a:solidFill>
                            <a:schemeClr val="accent4"/>
                          </a:solidFill>
                        </a:rPr>
                        <a:t>bulk_vw_fc_row_015, times_builtin_summary</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c>
                  <a:txBody>
                    <a:bodyPr/>
                    <a:lstStyle/>
                    <a:p>
                      <a:pPr indent="0" marL="0">
                        <a:buNone/>
                      </a:pPr>
                      <a:r>
                        <a:rPr lang="en-US" sz="1800" dirty="0">
                          <a:solidFill>
                            <a:schemeClr val="accent4"/>
                          </a:solidFill>
                        </a:rPr>
                        <a:t>Load artifacts; pass serially</a:t>
                      </a:r>
                      <a:endParaRPr lang="en-US" sz="1800" dirty="0"/>
                    </a:p>
                  </a:txBody>
                  <a:tcPr marL="91440" marR="91440" marT="45720" marB="45720" anchor="ctr">
                    <a:lnL w="12700" cap="flat" cmpd="sng" algn="ctr">
                      <a:solidFill>
                        <a:srgbClr val="D9D5C8"/>
                      </a:solidFill>
                      <a:prstDash val="solid"/>
                      <a:round/>
                      <a:headEnd type="none" w="med" len="med"/>
                      <a:tailEnd type="none" w="med" len="med"/>
                    </a:lnL>
                    <a:lnR w="12700" cap="flat" cmpd="sng" algn="ctr">
                      <a:solidFill>
                        <a:srgbClr val="D9D5C8"/>
                      </a:solidFill>
                      <a:prstDash val="solid"/>
                      <a:round/>
                      <a:headEnd type="none" w="med" len="med"/>
                      <a:tailEnd type="none" w="med" len="med"/>
                    </a:lnR>
                    <a:lnT w="12700" cap="flat" cmpd="sng" algn="ctr">
                      <a:solidFill>
                        <a:srgbClr val="D9D5C8"/>
                      </a:solidFill>
                      <a:prstDash val="solid"/>
                      <a:round/>
                      <a:headEnd type="none" w="med" len="med"/>
                      <a:tailEnd type="none" w="med" len="med"/>
                    </a:lnT>
                    <a:lnB w="12700" cap="flat" cmpd="sng" algn="ctr">
                      <a:solidFill>
                        <a:srgbClr val="D9D5C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latin typeface="Courier New"/>
                <a:ea typeface="Courier New"/>
                <a:cs typeface="Courier New"/>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Backup: why not zsh plus startup layers</a:t>
            </a:r>
            <a:endParaRPr lang="en-US" sz="3600" dirty="0"/>
          </a:p>
        </p:txBody>
      </p:sp>
      <p:sp>
        <p:nvSpPr>
          <p:cNvPr id="3" name="Text 1"/>
          <p:cNvSpPr txBox="1"/>
          <p:nvPr/>
        </p:nvSpPr>
        <p:spPr>
          <a:xfrm>
            <a:off x="822960" y="6263640"/>
            <a:ext cx="73152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zshrs / backup</a:t>
            </a:r>
            <a:endParaRPr lang="en-US" sz="1200" dirty="0"/>
          </a:p>
        </p:txBody>
      </p:sp>
      <p:sp>
        <p:nvSpPr>
          <p:cNvPr id="5" name="Shape 2"/>
          <p:cNvSpPr/>
          <p:nvPr/>
        </p:nvSpPr>
        <p:spPr>
          <a:xfrm>
            <a:off x="822960" y="1737360"/>
            <a:ext cx="5120640" cy="3566160"/>
          </a:xfrm>
          <a:prstGeom prst="roundRect">
            <a:avLst>
              <a:gd name="adj" fmla="val 3077"/>
            </a:avLst>
          </a:prstGeom>
          <a:solidFill>
            <a:schemeClr val="tx2"/>
          </a:solidFill>
          <a:ln w="12700">
            <a:solidFill>
              <a:srgbClr val="2C3844"/>
            </a:solidFill>
            <a:prstDash val="solid"/>
          </a:ln>
        </p:spPr>
      </p:sp>
      <p:sp>
        <p:nvSpPr>
          <p:cNvPr id="6" name="Text 3"/>
          <p:cNvSpPr txBox="1"/>
          <p:nvPr/>
        </p:nvSpPr>
        <p:spPr>
          <a:xfrm>
            <a:off x="1097280" y="1965960"/>
            <a:ext cx="45720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The claim</a:t>
            </a:r>
            <a:endParaRPr lang="en-US" sz="2200" dirty="0"/>
          </a:p>
        </p:txBody>
      </p:sp>
      <p:sp>
        <p:nvSpPr>
          <p:cNvPr id="7" name="Text 4"/>
          <p:cNvSpPr txBox="1"/>
          <p:nvPr/>
        </p:nvSpPr>
        <p:spPr>
          <a:xfrm>
            <a:off x="1097280" y="2560320"/>
            <a:ext cx="4572000" cy="256032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bg2"/>
                </a:solidFill>
              </a:rPr>
              <a:t>Startup layers hide interpretation cost</a:t>
            </a:r>
            <a:endParaRPr lang="en-US" sz="2200" dirty="0"/>
          </a:p>
          <a:p>
            <a:pPr marL="342900" indent="-342900">
              <a:spcAft>
                <a:spcPts val="1000"/>
              </a:spcAft>
              <a:buSzPct val="100000"/>
              <a:buChar char="•"/>
            </a:pPr>
            <a:r>
              <a:rPr lang="en-US" sz="2200" dirty="0">
                <a:solidFill>
                  <a:schemeClr val="bg2"/>
                </a:solidFill>
              </a:rPr>
              <a:t>zshrs removes the cost instead</a:t>
            </a:r>
            <a:endParaRPr lang="en-US" sz="2200" dirty="0"/>
          </a:p>
          <a:p>
            <a:pPr marL="342900" indent="-342900">
              <a:spcAft>
                <a:spcPts val="1000"/>
              </a:spcAft>
              <a:buSzPct val="100000"/>
              <a:buChar char="•"/>
            </a:pPr>
            <a:r>
              <a:rPr lang="en-US" sz="2200" dirty="0">
                <a:solidFill>
                  <a:schemeClr val="bg2"/>
                </a:solidFill>
              </a:rPr>
              <a:t>No instant-prompt equivalent needed</a:t>
            </a:r>
            <a:endParaRPr lang="en-US" sz="2200" dirty="0"/>
          </a:p>
        </p:txBody>
      </p:sp>
      <p:sp>
        <p:nvSpPr>
          <p:cNvPr id="8" name="Shape 5"/>
          <p:cNvSpPr/>
          <p:nvPr/>
        </p:nvSpPr>
        <p:spPr>
          <a:xfrm>
            <a:off x="6217920" y="1737360"/>
            <a:ext cx="5120640" cy="3566160"/>
          </a:xfrm>
          <a:prstGeom prst="roundRect">
            <a:avLst>
              <a:gd name="adj" fmla="val 3077"/>
            </a:avLst>
          </a:prstGeom>
          <a:solidFill>
            <a:schemeClr val="tx2"/>
          </a:solidFill>
          <a:ln w="12700">
            <a:solidFill>
              <a:srgbClr val="2C3844"/>
            </a:solidFill>
            <a:prstDash val="solid"/>
          </a:ln>
        </p:spPr>
      </p:sp>
      <p:sp>
        <p:nvSpPr>
          <p:cNvPr id="9" name="Text 6"/>
          <p:cNvSpPr txBox="1"/>
          <p:nvPr/>
        </p:nvSpPr>
        <p:spPr>
          <a:xfrm>
            <a:off x="6492240" y="1965960"/>
            <a:ext cx="45720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The test</a:t>
            </a:r>
            <a:endParaRPr lang="en-US" sz="2200" dirty="0"/>
          </a:p>
        </p:txBody>
      </p:sp>
      <p:sp>
        <p:nvSpPr>
          <p:cNvPr id="10" name="Text 7"/>
          <p:cNvSpPr txBox="1"/>
          <p:nvPr/>
        </p:nvSpPr>
        <p:spPr>
          <a:xfrm>
            <a:off x="6492240" y="2560320"/>
            <a:ext cx="4572000" cy="256032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bg2"/>
                </a:solidFill>
              </a:rPr>
              <a:t>First paint is the full feature set</a:t>
            </a:r>
            <a:endParaRPr lang="en-US" sz="2200" dirty="0"/>
          </a:p>
          <a:p>
            <a:pPr marL="342900" indent="-342900">
              <a:spcAft>
                <a:spcPts val="1000"/>
              </a:spcAft>
              <a:buSzPct val="100000"/>
              <a:buChar char="•"/>
            </a:pPr>
            <a:r>
              <a:rPr lang="en-US" sz="2200" dirty="0">
                <a:solidFill>
                  <a:schemeClr val="bg2"/>
                </a:solidFill>
              </a:rPr>
              <a:t>Measure with zsh-bench</a:t>
            </a:r>
            <a:endParaRPr lang="en-US" sz="2200" dirty="0"/>
          </a:p>
          <a:p>
            <a:pPr marL="342900" indent="-342900">
              <a:spcAft>
                <a:spcPts val="1000"/>
              </a:spcAft>
              <a:buSzPct val="100000"/>
              <a:buChar char="•"/>
            </a:pPr>
            <a:r>
              <a:rPr lang="en-US" sz="2200" dirty="0">
                <a:solidFill>
                  <a:schemeClr val="bg2"/>
                </a:solidFill>
              </a:rPr>
              <a:t>Compare your own setup both ways</a:t>
            </a:r>
            <a:endParaRPr lang="en-US" sz="22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zshrs talk">
  <a:themeElements>
    <a:clrScheme name="zshrs talk">
      <a:dk1>
        <a:srgbClr val="0F1419"/>
      </a:dk1>
      <a:lt1>
        <a:srgbClr val="F2F0E9"/>
      </a:lt1>
      <a:dk2>
        <a:srgbClr val="1A222B"/>
      </a:dk2>
      <a:lt2>
        <a:srgbClr val="E8E6DF"/>
      </a:lt2>
      <a:accent1>
        <a:srgbClr val="5CC8D7"/>
      </a:accent1>
      <a:accent2>
        <a:srgbClr val="1B7F8E"/>
      </a:accent2>
      <a:accent3>
        <a:srgbClr val="F2994A"/>
      </a:accent3>
      <a:accent4>
        <a:srgbClr val="14181D"/>
      </a:accent4>
      <a:accent5>
        <a:srgbClr val="9AA4AE"/>
      </a:accent5>
      <a:accent6>
        <a:srgbClr val="4A5158"/>
      </a:accent6>
      <a:hlink>
        <a:srgbClr val="5CC8D7"/>
      </a:hlink>
      <a:folHlink>
        <a:srgbClr val="9AA4AE"/>
      </a:folHlink>
    </a:clrScheme>
    <a:fontScheme name="zshrs tal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zshrs: Porting zsh to Rust and a JIT compiler</dc:title>
  <dc:subject>PptxGenJS Presentation</dc:subject>
  <dc:creator>PptxGenJS</dc:creator>
  <cp:lastModifiedBy>PptxGenJS</cp:lastModifiedBy>
  <cp:revision>1</cp:revision>
  <dcterms:created xsi:type="dcterms:W3CDTF">2026-10-09T19:55:34Z</dcterms:created>
  <dcterms:modified xsi:type="dcterms:W3CDTF">2026-10-09T19:55:34Z</dcterms:modified>
</cp:coreProperties>
</file>