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1.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3d38e541-11bf-3cd7-437d-3df4e6bf4933}">
          <p14:sldIdLst>
            <p14:sldId id="256"/>
            <p14:sldId id="257"/>
            <p14:sldId id="258"/>
          </p14:sldIdLst>
        </p14:section>
        <p14:section name="Parity" id="{57c14051-640f-74e2-12e0-bef4c9a4ef9f}">
          <p14:sldIdLst>
            <p14:sldId id="259"/>
            <p14:sldId id="260"/>
            <p14:sldId id="261"/>
            <p14:sldId id="262"/>
          </p14:sldIdLst>
        </p14:section>
        <p14:section name="Engine" id="{18db2ecb-5436-7c55-42c0-ea1d8295e195}">
          <p14:sldIdLst>
            <p14:sldId id="263"/>
            <p14:sldId id="264"/>
            <p14:sldId id="265"/>
          </p14:sldIdLst>
        </p14:section>
        <p14:section name="Outline" id="{229b1d16-3406-7594-08ba-5400a9c39cda}">
          <p14:sldIdLst>
            <p14:sldId id="266"/>
            <p14:sldId id="273"/>
            <p14:sldId id="279"/>
            <p14:sldId id="286"/>
            <p14:sldId id="290"/>
            <p14:sldId id="293"/>
            <p14:sldId id="296"/>
            <p14:sldId id="299"/>
            <p14:sldId id="302"/>
          </p14:sldIdLst>
        </p14:section>
        <p14:section name="Execution" id="{f0358d8b-8d05-af9e-f42d-00ac35eb8536}">
          <p14:sldIdLst>
            <p14:sldId id="267"/>
            <p14:sldId id="268"/>
            <p14:sldId id="269"/>
            <p14:sldId id="270"/>
            <p14:sldId id="271"/>
            <p14:sldId id="272"/>
          </p14:sldIdLst>
        </p14:section>
        <p14:section name="State" id="{9b21320d-5a16-65ba-90c5-99c22cffe732}">
          <p14:sldIdLst>
            <p14:sldId id="274"/>
            <p14:sldId id="275"/>
            <p14:sldId id="276"/>
            <p14:sldId id="277"/>
            <p14:sldId id="278"/>
          </p14:sldIdLst>
        </p14:section>
        <p14:section name="Line editor and prompt" id="{81b14080-1bc6-e125-fa20-ff86f9d50e2b}">
          <p14:sldIdLst>
            <p14:sldId id="280"/>
            <p14:sldId id="281"/>
            <p14:sldId id="282"/>
            <p14:sldId id="283"/>
            <p14:sldId id="284"/>
            <p14:sldId id="285"/>
          </p14:sldIdLst>
        </p14:section>
        <p14:section name="Observability" id="{f97126fd-7907-4639-022d-40fb1158e1eb}">
          <p14:sldIdLst>
            <p14:sldId id="287"/>
            <p14:sldId id="288"/>
            <p14:sldId id="289"/>
          </p14:sldIdLst>
        </p14:section>
        <p14:section name="Language" id="{636dcf44-ff9b-1480-a8a4-410b048808dd}">
          <p14:sldIdLst>
            <p14:sldId id="291"/>
            <p14:sldId id="292"/>
          </p14:sldIdLst>
        </p14:section>
        <p14:section name="Extensibility" id="{35eaddab-3ec6-cce2-d3ea-b404f82558d4}">
          <p14:sldIdLst>
            <p14:sldId id="294"/>
            <p14:sldId id="295"/>
          </p14:sldIdLst>
        </p14:section>
        <p14:section name="Compatibility" id="{2df06806-249e-cad2-e28f-0ac30a7daa67}">
          <p14:sldIdLst>
            <p14:sldId id="297"/>
            <p14:sldId id="298"/>
          </p14:sldIdLst>
        </p14:section>
        <p14:section name="Verification" id="{281f6e5a-f882-570e-8785-1d963261ae6e}">
          <p14:sldIdLst>
            <p14:sldId id="300"/>
            <p14:sldId id="301"/>
          </p14:sldIdLst>
        </p14:section>
        <p14:section name="Tooling" id="{6c570d02-dc5b-c4d9-79c4-098887506595}">
          <p14:sldIdLst>
            <p14:sldId id="303"/>
            <p14:sldId id="304"/>
            <p14:sldId id="305"/>
            <p14:sldId id="306"/>
          </p14:sldIdLst>
        </p14:section>
        <p14:section name="Take-away" id="{86bf1587-a5dc-21ed-2e52-da0774335231}">
          <p14:sldIdLst>
            <p14:sldId id="307"/>
            <p14:sldId id="308"/>
            <p14:sldId id="309"/>
            <p14:sldId id="310"/>
            <p14:sldId id="311"/>
            <p14:sldId id="312"/>
          </p14:sldIdLst>
        </p14:section>
        <p14:section name="Backup" id="{17405b73-6240-aba9-5914-8426c841942d}">
          <p14:sldIdLst>
            <p14:sldId id="313"/>
            <p14:sldId id="31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Modes</c:v>
                </c:pt>
              </c:strCache>
            </c:strRef>
          </c:tx>
          <c:spPr>
            <a:solidFill>
              <a:schemeClr val="accent1"/>
            </a:solidFill>
            <a:ln w="9525" cap="flat">
              <a:solidFill>
                <a:srgbClr val="F9F9F9"/>
              </a:solidFill>
              <a:prstDash val="solid"/>
              <a:round/>
            </a:ln>
            <a:effectLst/>
          </c:spPr>
          <c:dPt>
            <c:idx val="0"/>
            <c:bubble3D val="0"/>
            <c:spPr>
              <a:solidFill>
                <a:srgbClr val="5CC8D7"/>
              </a:solidFill>
              <a:effectLst/>
            </c:spPr>
          </c:dPt>
          <c:dPt>
            <c:idx val="1"/>
            <c:bubble3D val="0"/>
            <c:spPr>
              <a:solidFill>
                <a:srgbClr val="F2994A"/>
              </a:solidFill>
              <a:effectLst/>
            </c:spPr>
          </c:dPt>
          <c:dLbls>
            <c:dLbl>
              <c:idx val="0"/>
              <c:numFmt formatCode="General" sourceLinked="0"/>
              <c:spPr/>
              <c:txPr>
                <a:bodyPr/>
                <a:lstStyle/>
                <a:p>
                  <a:pPr>
                    <a:defRPr sz="1600" b="0" i="0" u="none" strike="noStrike">
                      <a:solidFill>
                        <a:srgbClr val="0F1419"/>
                      </a:solidFill>
                      <a:latin typeface="+mn-lt"/>
                    </a:defRPr>
                  </a:pPr>
                </a:p>
              </c:txPr>
              <c:showLegendKey val="0"/>
              <c:showVal val="1"/>
              <c:showCatName val="0"/>
              <c:showSerName val="0"/>
              <c:showPercent val="0"/>
              <c:showBubbleSize val="0"/>
            </c:dLbl>
            <c:dLbl>
              <c:idx val="1"/>
              <c:numFmt formatCode="General" sourceLinked="0"/>
              <c:spPr/>
              <c:txPr>
                <a:bodyPr/>
                <a:lstStyle/>
                <a:p>
                  <a:pPr>
                    <a:defRPr sz="1600" b="0" i="0" u="none" strike="noStrike">
                      <a:solidFill>
                        <a:srgbClr val="0F1419"/>
                      </a:solidFill>
                      <a:latin typeface="+mn-lt"/>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Zero divergences</c:v>
                </c:pt>
                <c:pt idx="1">
                  <c:v>With divergences</c:v>
                </c:pt>
              </c:strCache>
            </c:strRef>
          </c:cat>
          <c:val>
            <c:numRef>
              <c:f>Sheet1!$B$2:$B$3</c:f>
              <c:numCache>
                <c:ptCount val="2"/>
                <c:pt idx="0">
                  <c:v>71</c:v>
                </c:pt>
                <c:pt idx="1">
                  <c:v>3</c:v>
                </c:pt>
              </c:numCache>
            </c:numRef>
          </c:val>
        </c:ser>
        <c:firstSliceAng val="0"/>
        <c:holeSize val="60"/>
      </c:doughnutChart>
      <c:spPr>
        <a:noFill/>
        <a:ln>
          <a:noFill/>
        </a:ln>
        <a:effectLst/>
      </c:spPr>
    </c:plotArea>
    <c:legend>
      <c:legendPos val="b"/>
      <c:overlay val="0"/>
      <c:txPr>
        <a:bodyPr/>
        <a:lstStyle/>
        <a:p>
          <a:pPr>
            <a:defRPr sz="1400">
              <a:solidFill>
                <a:srgbClr val="14181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presentation about one of the more difficult projects I have worked on: porting zsh into Rust and a JIT compiler. If you want to try it during the talk, the install is on slide 3 and repeats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try it, where parity stands, how to help, then the goodies. The point of the talk is to get you using it and helping with it. Internals follow, organised around the outline of goodies; I come back to the outline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to audience: this slide is reposted at the end. The zshrs formula installs zshrs and zd. zshrs-all adds the recorder and the daemon. cargo install zshrs also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snapshot. Numbers are from docs/PARITY.md, sweep dated 2026-08-21, serial run. 46,685 + 5 + 34 = 46,724. Parallel runs report more failures because the tests spawn real zsh and zshrs processes and are load sensitive. Refresh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Four-crate workspace. zshrs is the runtime and shell binary. zshrs-daemon is the singleton that owns shared state. znative is the published plugin-ABI SDK. zshrs-runtime is a 16-line crate that only emits libzsh.a for AOT linking. Inside the runtime: ported (1:1 C), extensions (new), recorder (feature gated).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audience cares about: how to get involved. Say where issues are filed (GitHub issues on the zshrs repo) and that every one of these is welcome, including a single sanity-check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map for people who want to bring a critical lens. Each row points at a real document or directory in the repo. Hardware targets: macOS aarch64, Linux x86_64 and Linux aarch64.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feel good about the JIT engine. Every command lowers to fusevm bytecode with fused superinstructions. Hot blocks go through a tiered Cranelift JIT. Bytecode persists across processes in rkyv images read by mmap.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terms, these five numbers are what you feel. Targets are the goals. Fill the Measured column from zsh-bench runs on the demo machine before presenting. Memory: ps -o rss= -p $$. Do not discuss zsh shortcomings here; save comparisons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zsh-bench to get the first four numbers in one go. The second command gives memory per shell. Invite the audience to run both and report numbers in an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 Every command, script, function and sourced file lowers to fusevm bytecode. Hot blocks go through Cranelift to native code. Prior art and near misses: Nushell reached bytecode first but interprets it, rebuilds it per parse and drops it at exit. zsh's .zwc is wordcode for zsh's own interpreter.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 A .fjit disk cache keeps JIT output warm between shell invocations, so hot chunks are not recompiled per process. Prior art and near misses: Managed runtimes have done this for years: Android ART .oat, .NET ReadyToRun, JVM AppCDS. No shell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3. --prewarm-autoloads compiles every $fpath directory, so a fresh install's first TAB is a shard probe rather than a parse. Prior art and near misses: Nix, ccache and Bazel hash the compiler into the key. No shell cache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4. --tiers runs a script, then reports which tier took each chunk and, for chunks that reached neither, which op kinds blocked them. Prior art and near misses: Compilers have had optimisation remarks for years. A shell explaining its own tiering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5. A persistent pool of 2 to 18 threads takes command substitution, process substitution, globbing, completion and autoloading. Prior art and near misses: "A fork() in the road" (HotOS 2019), applied to a shell. The quoted 2000 to 5000x is a fixed cost disappearing, not a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6. pmap, pgrep, peach, barrier, async and await are shell builtins. The body compiles once and runs on pooled VMs with zero forks. Prior art and near misses: make -j, xargs -P and GNU parallel all sit outside the shell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7. A separate binary sources your real login chain while AOP interception records every state-mutating command. Prior art and near misses: Other shells discover your config by static walking and hoping the parse matches. This is the DTrace insight applied to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8. Everything the recorder can prove is a pure function of your dotfiles folds into the canonical shard and is skipped at startup. Prior art and near misses: Purity analysis on shell configuration is the idea under the cold-start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9. One daemon owns canonical state, fsnotify, scheduling, jobs, locks, cache and history. Shells are stateless, forkable clients. Prior art and near misses: The emacsclient, Nailgun and LSP pattern. Applying it to a shell's own state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10. zjob submit --pty runs the child on a pseudo-terminal under the daemon. Attach later from any terminal. Prior art and near misses: Collapses nohup, screen, pueue and disown into one primitive.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11. zsubscribe, zpublish and zlock route through the daemon between shells. Prior art and near misses: Replaces hand-glued flock, socat and FIFOs.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[zle] section of ~/.zshrs/zshrs.toml controls the four native line-editor engines. Keys from the README: autosuggest, syntax_highlight, history_search, autopair. Setting one false opts out. The engines are refused when RCS is unset, so bare zshrs -f stays byte-identical to zsh -f. ZSHRS_NATIVE_ZLE_FX=0 force-disables all. The README example comment says default off while another README paragraph says on by default: confirm the default before stating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Rust ports of the fish-shell engines that zsh-syntax-highlighting, zsh-autosuggestions and zsh-history-substring-search recreate in script, plus a zsh-autopair port. The native engines stay authoritative even with the script plugins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the fish port. The palette and word-level classification are fast-syntax-highlighting's: command-type ladder, brackets by nesting level, glob, variable, path, option, math, here-string and case styles, a secondary theme inside $(...), and the autoload, source and printf chromas. So the native pass renders the same as the plugin it replaces.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replacing a widely-configured userspace layer with a native one, adopt its config surface so nobody migrates. The rule appears twice in the codebase: the ZLE engines and the p10k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and autosuggest passes are capped at 8 ms by default, so a huge directory or a pathological PATH cannot lag typing. Overridable with ZSHRS_ZLE_HIGHLIGHT_BUDGET_MS and ZSHRS_ZLE_AUTOSUGGEST_BUDGET_MS. Shell plugins have historically had no budget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powerlevel10k theme is absorbed into the binary as in-process Rust in src/extensions/p10k. The register says 15,708 lines; a recount of the directory at the time of this deck gives about 21,000, so quote the recount. gitstatusd is replaced by a native .git reader. Instant prompt exists to hide the cost of interpreting the theme, so when interpretation stops, the workaround is deleted rather than 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12. provenance records where a value came from and every op that touched it, each stamped with file, line, function and wall clock. Prior art and near misses: typeset -p says what a value is. set -x says what ran. Nothing said where the bytes came from. See docs/PROVENANCE.md.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13. intercept before, after and around, on any command or function, with glob patterns and nanosecond timing. Prior art and near misses: Flavors, CLOS :around and AspectJ made this vocabulary standard. No shell offered it beyond hand-rolled wrappers.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14. Lexer, wordcode, AST and bytecode dumps on stdout, plus a JSON self-description of builtins, keywords and options. Prior art and near misses: No Bourne-family shell can describe itself to a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15. @{} routes to embedded stryke, which compiles to the same fusevm ops the shell does, including inside AOP advice. Prior art and near misses: The JVM and CLR story. Racket's #lang is the closest inline analogue. No shell hosted a second language in its own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16. intercept ... { } is a real lexer extension. The body is captured as raw source and nothing expands until the advice fires. Prior art and near misses: A way to add syntax to a language you have also promised to stay compatible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17. cargo add znative, ship a cdylib, load it with zmodload -R. Mismatched versions are refused and only #[repr(C)] crosses the boundary. Prior art and near misses: bash enable -f and zsh zmodload load native code against private headers with no stable ABI. See docs/PLUGINS.md.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18. git runs as a builtin with no fork, exec or PATH lookup. An fzf-compatible finder runs in-process. Prior art and near misses: BusyBox has no git applet. Nushell's gstat is status-only in a child process. git-shell execs real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19. --sh reproduces /bin/sh. --sh --zsh reproduces zsh's model of /bin/sh. Both are available. Prior art and near misses: Each mode is verified against its real reference shell, not against zsh's approximation. No precedent found for offering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20. Completion engine functions are ported to Rust with citations. End-user completers are copied verbatim alongside them. Prior art and near misses: The shape of a JIT with an interpreter fallback, applied to a script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24. tests/port_purity.rs freezes the port directory: mirror a real Src/&lt;x&gt;.c, cite the C function, no new files, no invented helper names. Prior art and near misses: Contributors and code-generation tools both invent helpers and files. A test closes both, not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25. Grammar-driven, seed-replayable snippets run through zshrs and real zsh. Divergences are re-confirmed three times. Prior art and near misses: McKeeman named it in 1998, Csmith made it standard for compilers. Nobody had aimed it at a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26. --fmt reindents blocks, applies idiomatic spacing, is heredoc-safe and idempotent. The same engine backs LSP formatting. Prior art and near misses: gofmt made this expected in 2009. Shells got shfmt, a third-party Go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27. The language server answers from the real compsys completers, so git ch completes checkout and git checkout lists real branches. Prior art and near misses: bash-language-server and fish-lsp re-derive a parser in a separate Node project. Here the server is the shell. See docs/IN_EDITOR_COMPSYS_COMPLETION.md.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28. zshrs --lsp and zshrs --dap ship in the shell. --dump-plugins lists every sourced plugin for the IDE. Prior art and near misses: Elvish and Nushell have LSP, Endo has both, all outside the Bourne lineage. Do not claim first with a language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29. Fourteen assertion verbs and a worker-pool runner: one persistent subprocess per CPU, fork-on-receive per test. Prior art and near misses: bats-core, shunit2, ShellSpec and zunit are all separate installs.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 people can walk away with and be good to go. Leave this up while people photograph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Parity: the suites spawn real zsh and zshrs, so zsh must be installed. PARITY.md says to run them serially and to build the daemon first: cargo build -p zshrs-daemon. These are the commands from that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a command or config key shown earlier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asks, repeated as a take-away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Repost of the install, as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Comparisons with zsh and its limits come up here, only if asked. Backup slides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The five remaining failures from docs/PARITY.md. nul_quoting_format is structural: C stores NUL metafied while zshrs holds a real NUL in a Rust String. zmodload -R is deliberate. The RC_QUOTES alias case depends on zsh's own input-buffer-dependent behaviour, so the target needs deciding. The last two pass under --test-threads=1.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Instant prompt exists to hide the cost of interpreting the theme; when interpretation stops, the workaround is deleted rather than ported. Acceptance criterion: first paint equals full functionality. Source: docs/INVENTIONS.md entry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pic>
        <p:nvPicPr>
          <p:cNvPr id="2" name="Image 0" descr="/private/tmp/claude-501/-Users-wizard-RustroverProjects-zshrs/2555d359-9a79-4736-9207-869cc21577b1/scratchpad/logo/logo-mark.png">    </p:cNvPr>
          <p:cNvPicPr>
            <a:picLocks noChangeAspect="1"/>
          </p:cNvPicPr>
          <p:nvPr/>
        </p:nvPicPr>
        <p:blipFill>
          <a:blip r:embed="rId1"/>
          <a:stretch>
            <a:fillRect/>
          </a:stretch>
        </p:blipFill>
        <p:spPr>
          <a:xfrm>
            <a:off x="11384280" y="411480"/>
            <a:ext cx="502920" cy="502920"/>
          </a:xfrm>
          <a:prstGeom prst="rect">
            <a:avLst/>
          </a:prstGeom>
        </p:spPr>
      </p:pic>
      <p:sp>
        <p:nvSpPr>
          <p:cNvPr id="3" name="Text 0"/>
          <p:cNvSpPr/>
          <p:nvPr>
            <p:ph idx="101" type="title" hasCustomPrompt="1"/>
          </p:nvPr>
        </p:nvSpPr>
        <p:spPr>
          <a:xfrm>
            <a:off x="822960" y="457200"/>
            <a:ext cx="10515600" cy="914400"/>
          </a:xfrm>
          <a:prstGeom prst="rect">
            <a:avLst/>
          </a:prstGeom>
          <a:noFill/>
          <a:ln/>
        </p:spPr>
        <p:txBody>
          <a:bodyPr wrap="square" rtlCol="0"/>
          <a:lstStyle>
            <a:lvl1pPr algn="l" indent="0" marL="0">
              <a:buNone/>
              <a:defRPr lang="en-US" sz="3600" b="1" dirty="0">
                <a:solidFill>
                  <a:schemeClr val="bg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pic>
        <p:nvPicPr>
          <p:cNvPr id="2" name="Image 0" descr="/private/tmp/claude-501/-Users-wizard-RustroverProjects-zshrs/2555d359-9a79-4736-9207-869cc21577b1/scratchpad/logo/logo-mark.png">    </p:cNvPr>
          <p:cNvPicPr>
            <a:picLocks noChangeAspect="1"/>
          </p:cNvPicPr>
          <p:nvPr/>
        </p:nvPicPr>
        <p:blipFill>
          <a:blip r:embed="rId1"/>
          <a:stretch>
            <a:fillRect/>
          </a:stretch>
        </p:blipFill>
        <p:spPr>
          <a:xfrm>
            <a:off x="11384280" y="411480"/>
            <a:ext cx="502920" cy="502920"/>
          </a:xfrm>
          <a:prstGeom prst="rect">
            <a:avLst/>
          </a:prstGeom>
        </p:spPr>
      </p:pic>
      <p:sp>
        <p:nvSpPr>
          <p:cNvPr id="3" name="Text 0"/>
          <p:cNvSpPr/>
          <p:nvPr>
            <p:ph idx="101" type="title" hasCustomPrompt="1"/>
          </p:nvPr>
        </p:nvSpPr>
        <p:spPr>
          <a:xfrm>
            <a:off x="822960" y="457200"/>
            <a:ext cx="10515600" cy="914400"/>
          </a:xfrm>
          <a:prstGeom prst="rect">
            <a:avLst/>
          </a:prstGeom>
          <a:noFill/>
          <a:ln/>
        </p:spPr>
        <p:txBody>
          <a:bodyPr wrap="square" rtlCol="0"/>
          <a:lstStyle>
            <a:lvl1pPr algn="l" indent="0" marL="0">
              <a:buNone/>
              <a:defRPr lang="en-US" sz="3600" b="1" dirty="0">
                <a:solidFill>
                  <a:schemeClr val="accent4"/>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822960" y="1737360"/>
            <a:ext cx="10058400" cy="457200"/>
          </a:xfrm>
          <a:prstGeom prst="rect">
            <a:avLst/>
          </a:prstGeom>
          <a:noFill/>
          <a:ln/>
        </p:spPr>
        <p:txBody>
          <a:bodyPr wrap="square" lIns="0" tIns="0" rIns="0" bIns="0" rtlCol="0" anchor="t"/>
          <a:lstStyle/>
          <a:p>
            <a:pPr indent="0" marL="0">
              <a:buNone/>
            </a:pPr>
            <a:r>
              <a:rPr lang="en-US" sz="2000" dirty="0">
                <a:solidFill>
                  <a:schemeClr val="accent1"/>
                </a:solidFill>
                <a:latin typeface="Courier New" pitchFamily="34" charset="0"/>
                <a:ea typeface="Courier New" pitchFamily="34" charset="-122"/>
                <a:cs typeface="Courier New" pitchFamily="34" charset="-120"/>
              </a:rPr>
              <a:t>$ brew install zshrs</a:t>
            </a:r>
            <a:endParaRPr lang="en-US" sz="2000" dirty="0"/>
          </a:p>
        </p:txBody>
      </p:sp>
      <p:sp>
        <p:nvSpPr>
          <p:cNvPr id="4" name="Text 1"/>
          <p:cNvSpPr txBox="1"/>
          <p:nvPr/>
        </p:nvSpPr>
        <p:spPr>
          <a:xfrm>
            <a:off x="822960" y="2377440"/>
            <a:ext cx="10515600" cy="2011680"/>
          </a:xfrm>
          <a:prstGeom prst="rect">
            <a:avLst/>
          </a:prstGeom>
          <a:noFill/>
          <a:ln/>
        </p:spPr>
        <p:txBody>
          <a:bodyPr wrap="square" lIns="0" tIns="0" rIns="0" bIns="0" rtlCol="0" anchor="t"/>
          <a:lstStyle/>
          <a:p>
            <a:pPr indent="0" marL="0">
              <a:buNone/>
            </a:pPr>
            <a:r>
              <a:rPr lang="en-US" sz="5400" b="1" dirty="0">
                <a:solidFill>
                  <a:schemeClr val="bg2"/>
                </a:solidFill>
                <a:latin typeface="Cambria" pitchFamily="34" charset="0"/>
                <a:ea typeface="Cambria" pitchFamily="34" charset="-122"/>
                <a:cs typeface="Cambria" pitchFamily="34" charset="-120"/>
              </a:rPr>
              <a:t>Porting zsh to Rust and a JIT compiler</a:t>
            </a:r>
            <a:endParaRPr lang="en-US" sz="5400" dirty="0"/>
          </a:p>
        </p:txBody>
      </p:sp>
      <p:sp>
        <p:nvSpPr>
          <p:cNvPr id="5" name="Text 2"/>
          <p:cNvSpPr txBox="1"/>
          <p:nvPr/>
        </p:nvSpPr>
        <p:spPr>
          <a:xfrm>
            <a:off x="822960" y="4572000"/>
            <a:ext cx="10058400" cy="548640"/>
          </a:xfrm>
          <a:prstGeom prst="rect">
            <a:avLst/>
          </a:prstGeom>
          <a:noFill/>
          <a:ln/>
        </p:spPr>
        <p:txBody>
          <a:bodyPr wrap="square" lIns="0" tIns="0" rIns="0" bIns="0" rtlCol="0" anchor="t"/>
          <a:lstStyle/>
          <a:p>
            <a:pPr indent="0" marL="0">
              <a:buNone/>
            </a:pPr>
            <a:r>
              <a:rPr lang="en-US" sz="2400" dirty="0">
                <a:solidFill>
                  <a:schemeClr val="accent5"/>
                </a:solidFill>
              </a:rPr>
              <a:t>One of the more difficult projects I have worked on.</a:t>
            </a:r>
            <a:endParaRPr lang="en-US" sz="2400" dirty="0"/>
          </a:p>
        </p:txBody>
      </p:sp>
      <p:pic>
        <p:nvPicPr>
          <p:cNvPr id="6" name="Image 0" descr="/private/tmp/claude-501/-Users-wizard-RustroverProjects-zshrs/2555d359-9a79-4736-9207-869cc21577b1/scratchpad/logo/logo.png">    </p:cNvPr>
          <p:cNvPicPr>
            <a:picLocks noChangeAspect="1"/>
          </p:cNvPicPr>
          <p:nvPr/>
        </p:nvPicPr>
        <p:blipFill>
          <a:blip r:embed="rId1"/>
          <a:stretch>
            <a:fillRect/>
          </a:stretch>
        </p:blipFill>
        <p:spPr>
          <a:xfrm>
            <a:off x="822960" y="320040"/>
            <a:ext cx="4114800" cy="1234440"/>
          </a:xfrm>
          <a:prstGeom prst="rect">
            <a:avLst/>
          </a:prstGeom>
        </p:spPr>
      </p:pic>
      <p:sp>
        <p:nvSpPr>
          <p:cNvPr id="7"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What this talk covers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agenda</a:t>
            </a:r>
            <a:endParaRPr lang="en-US" sz="1200" dirty="0"/>
          </a:p>
        </p:txBody>
      </p:sp>
      <p:sp>
        <p:nvSpPr>
          <p:cNvPr id="5" name="Shape 2"/>
          <p:cNvSpPr/>
          <p:nvPr/>
        </p:nvSpPr>
        <p:spPr>
          <a:xfrm>
            <a:off x="822960" y="1828800"/>
            <a:ext cx="2514600" cy="3108960"/>
          </a:xfrm>
          <a:prstGeom prst="roundRect">
            <a:avLst>
              <a:gd name="adj" fmla="val 4364"/>
            </a:avLst>
          </a:prstGeom>
          <a:solidFill>
            <a:srgbClr val="FFFFFF"/>
          </a:solidFill>
          <a:ln w="12700">
            <a:solidFill>
              <a:srgbClr val="D9D5C8"/>
            </a:solidFill>
            <a:prstDash val="solid"/>
          </a:ln>
        </p:spPr>
      </p:sp>
      <p:sp>
        <p:nvSpPr>
          <p:cNvPr id="6" name="Text 3"/>
          <p:cNvSpPr txBox="1"/>
          <p:nvPr/>
        </p:nvSpPr>
        <p:spPr>
          <a:xfrm>
            <a:off x="1097280" y="2057400"/>
            <a:ext cx="1965960" cy="457200"/>
          </a:xfrm>
          <a:prstGeom prst="rect">
            <a:avLst/>
          </a:prstGeom>
          <a:noFill/>
          <a:ln/>
        </p:spPr>
        <p:txBody>
          <a:bodyPr wrap="square" lIns="0" tIns="0" rIns="0" bIns="0" rtlCol="0" anchor="t"/>
          <a:lstStyle/>
          <a:p>
            <a:pPr indent="0" marL="0">
              <a:buNone/>
            </a:pPr>
            <a:r>
              <a:rPr lang="en-US" sz="2500" b="1" dirty="0">
                <a:solidFill>
                  <a:schemeClr val="accent2"/>
                </a:solidFill>
                <a:latin typeface="Cambria" pitchFamily="34" charset="0"/>
                <a:ea typeface="Cambria" pitchFamily="34" charset="-122"/>
                <a:cs typeface="Cambria" pitchFamily="34" charset="-120"/>
              </a:rPr>
              <a:t>1  Try it</a:t>
            </a:r>
            <a:endParaRPr lang="en-US" sz="2500" dirty="0"/>
          </a:p>
        </p:txBody>
      </p:sp>
      <p:sp>
        <p:nvSpPr>
          <p:cNvPr id="7" name="Text 4"/>
          <p:cNvSpPr txBox="1"/>
          <p:nvPr/>
        </p:nvSpPr>
        <p:spPr>
          <a:xfrm>
            <a:off x="1097280" y="2651760"/>
            <a:ext cx="1965960" cy="2057400"/>
          </a:xfrm>
          <a:prstGeom prst="rect">
            <a:avLst/>
          </a:prstGeom>
          <a:noFill/>
          <a:ln/>
        </p:spPr>
        <p:txBody>
          <a:bodyPr wrap="square" lIns="0" tIns="0" rIns="0" bIns="0" rtlCol="0" anchor="t"/>
          <a:lstStyle/>
          <a:p>
            <a:pPr marL="342900" indent="-342900">
              <a:spcAft>
                <a:spcPts val="800"/>
              </a:spcAft>
              <a:buSzPct val="100000"/>
              <a:buChar char="•"/>
            </a:pPr>
            <a:r>
              <a:rPr lang="en-US" sz="2100" dirty="0">
                <a:solidFill>
                  <a:schemeClr val="accent4"/>
                </a:solidFill>
              </a:rPr>
              <a:t>Install in two commands</a:t>
            </a:r>
            <a:endParaRPr lang="en-US" sz="2100" dirty="0"/>
          </a:p>
          <a:p>
            <a:pPr marL="342900" indent="-342900">
              <a:spcAft>
                <a:spcPts val="800"/>
              </a:spcAft>
              <a:buSzPct val="100000"/>
              <a:buChar char="•"/>
            </a:pPr>
            <a:r>
              <a:rPr lang="en-US" sz="2100" dirty="0">
                <a:solidFill>
                  <a:schemeClr val="accent4"/>
                </a:solidFill>
              </a:rPr>
              <a:t>Follow along live</a:t>
            </a:r>
            <a:endParaRPr lang="en-US" sz="2100" dirty="0"/>
          </a:p>
        </p:txBody>
      </p:sp>
      <p:sp>
        <p:nvSpPr>
          <p:cNvPr id="8" name="Shape 5"/>
          <p:cNvSpPr/>
          <p:nvPr/>
        </p:nvSpPr>
        <p:spPr>
          <a:xfrm>
            <a:off x="3520440" y="1828800"/>
            <a:ext cx="2514600" cy="3108960"/>
          </a:xfrm>
          <a:prstGeom prst="roundRect">
            <a:avLst>
              <a:gd name="adj" fmla="val 4364"/>
            </a:avLst>
          </a:prstGeom>
          <a:solidFill>
            <a:srgbClr val="FFFFFF"/>
          </a:solidFill>
          <a:ln w="12700">
            <a:solidFill>
              <a:srgbClr val="D9D5C8"/>
            </a:solidFill>
            <a:prstDash val="solid"/>
          </a:ln>
        </p:spPr>
      </p:sp>
      <p:sp>
        <p:nvSpPr>
          <p:cNvPr id="9" name="Text 6"/>
          <p:cNvSpPr txBox="1"/>
          <p:nvPr/>
        </p:nvSpPr>
        <p:spPr>
          <a:xfrm>
            <a:off x="3794760" y="2057400"/>
            <a:ext cx="1965960" cy="457200"/>
          </a:xfrm>
          <a:prstGeom prst="rect">
            <a:avLst/>
          </a:prstGeom>
          <a:noFill/>
          <a:ln/>
        </p:spPr>
        <p:txBody>
          <a:bodyPr wrap="square" lIns="0" tIns="0" rIns="0" bIns="0" rtlCol="0" anchor="t"/>
          <a:lstStyle/>
          <a:p>
            <a:pPr indent="0" marL="0">
              <a:buNone/>
            </a:pPr>
            <a:r>
              <a:rPr lang="en-US" sz="2500" b="1" dirty="0">
                <a:solidFill>
                  <a:schemeClr val="accent2"/>
                </a:solidFill>
                <a:latin typeface="Cambria" pitchFamily="34" charset="0"/>
                <a:ea typeface="Cambria" pitchFamily="34" charset="-122"/>
                <a:cs typeface="Cambria" pitchFamily="34" charset="-120"/>
              </a:rPr>
              <a:t>2  Parity</a:t>
            </a:r>
            <a:endParaRPr lang="en-US" sz="2500" dirty="0"/>
          </a:p>
        </p:txBody>
      </p:sp>
      <p:sp>
        <p:nvSpPr>
          <p:cNvPr id="10" name="Text 7"/>
          <p:cNvSpPr txBox="1"/>
          <p:nvPr/>
        </p:nvSpPr>
        <p:spPr>
          <a:xfrm>
            <a:off x="3794760" y="2651760"/>
            <a:ext cx="1965960" cy="2057400"/>
          </a:xfrm>
          <a:prstGeom prst="rect">
            <a:avLst/>
          </a:prstGeom>
          <a:noFill/>
          <a:ln/>
        </p:spPr>
        <p:txBody>
          <a:bodyPr wrap="square" lIns="0" tIns="0" rIns="0" bIns="0" rtlCol="0" anchor="t"/>
          <a:lstStyle/>
          <a:p>
            <a:pPr marL="342900" indent="-342900">
              <a:spcAft>
                <a:spcPts val="800"/>
              </a:spcAft>
              <a:buSzPct val="100000"/>
              <a:buChar char="•"/>
            </a:pPr>
            <a:r>
              <a:rPr lang="en-US" sz="2100" dirty="0">
                <a:solidFill>
                  <a:schemeClr val="accent4"/>
                </a:solidFill>
              </a:rPr>
              <a:t>Where the port stands</a:t>
            </a:r>
            <a:endParaRPr lang="en-US" sz="2100" dirty="0"/>
          </a:p>
          <a:p>
            <a:pPr marL="342900" indent="-342900">
              <a:spcAft>
                <a:spcPts val="800"/>
              </a:spcAft>
              <a:buSzPct val="100000"/>
              <a:buChar char="•"/>
            </a:pPr>
            <a:r>
              <a:rPr lang="en-US" sz="2100" dirty="0">
                <a:solidFill>
                  <a:schemeClr val="accent4"/>
                </a:solidFill>
              </a:rPr>
              <a:t>How it is measured</a:t>
            </a:r>
            <a:endParaRPr lang="en-US" sz="2100" dirty="0"/>
          </a:p>
        </p:txBody>
      </p:sp>
      <p:sp>
        <p:nvSpPr>
          <p:cNvPr id="11" name="Shape 8"/>
          <p:cNvSpPr/>
          <p:nvPr/>
        </p:nvSpPr>
        <p:spPr>
          <a:xfrm>
            <a:off x="6217920" y="1828800"/>
            <a:ext cx="2514600" cy="3108960"/>
          </a:xfrm>
          <a:prstGeom prst="roundRect">
            <a:avLst>
              <a:gd name="adj" fmla="val 4364"/>
            </a:avLst>
          </a:prstGeom>
          <a:solidFill>
            <a:srgbClr val="FFFFFF"/>
          </a:solidFill>
          <a:ln w="12700">
            <a:solidFill>
              <a:srgbClr val="D9D5C8"/>
            </a:solidFill>
            <a:prstDash val="solid"/>
          </a:ln>
        </p:spPr>
      </p:sp>
      <p:sp>
        <p:nvSpPr>
          <p:cNvPr id="12" name="Text 9"/>
          <p:cNvSpPr txBox="1"/>
          <p:nvPr/>
        </p:nvSpPr>
        <p:spPr>
          <a:xfrm>
            <a:off x="6492240" y="2057400"/>
            <a:ext cx="1965960" cy="45720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3  Get involved</a:t>
            </a:r>
            <a:endParaRPr lang="en-US" sz="1500" dirty="0"/>
          </a:p>
        </p:txBody>
      </p:sp>
      <p:sp>
        <p:nvSpPr>
          <p:cNvPr id="13" name="Text 10"/>
          <p:cNvSpPr txBox="1"/>
          <p:nvPr/>
        </p:nvSpPr>
        <p:spPr>
          <a:xfrm>
            <a:off x="6492240" y="2651760"/>
            <a:ext cx="1965960" cy="2057400"/>
          </a:xfrm>
          <a:prstGeom prst="rect">
            <a:avLst/>
          </a:prstGeom>
          <a:noFill/>
          <a:ln/>
        </p:spPr>
        <p:txBody>
          <a:bodyPr wrap="square" lIns="0" tIns="0" rIns="0" bIns="0" rtlCol="0" anchor="t"/>
          <a:lstStyle/>
          <a:p>
            <a:pPr marL="342900" indent="-342900">
              <a:spcAft>
                <a:spcPts val="800"/>
              </a:spcAft>
              <a:buSzPct val="100000"/>
              <a:buChar char="•"/>
            </a:pPr>
            <a:r>
              <a:rPr lang="en-US" sz="2300" dirty="0">
                <a:solidFill>
                  <a:schemeClr val="accent4"/>
                </a:solidFill>
              </a:rPr>
              <a:t>Five ways to help</a:t>
            </a:r>
            <a:endParaRPr lang="en-US" sz="2300" dirty="0"/>
          </a:p>
          <a:p>
            <a:pPr marL="342900" indent="-342900">
              <a:spcAft>
                <a:spcPts val="800"/>
              </a:spcAft>
              <a:buSzPct val="100000"/>
              <a:buChar char="•"/>
            </a:pPr>
            <a:r>
              <a:rPr lang="en-US" sz="2300" dirty="0">
                <a:solidFill>
                  <a:schemeClr val="accent4"/>
                </a:solidFill>
              </a:rPr>
              <a:t>Where to look</a:t>
            </a:r>
            <a:endParaRPr lang="en-US" sz="2300" dirty="0"/>
          </a:p>
        </p:txBody>
      </p:sp>
      <p:sp>
        <p:nvSpPr>
          <p:cNvPr id="14" name="Shape 11"/>
          <p:cNvSpPr/>
          <p:nvPr/>
        </p:nvSpPr>
        <p:spPr>
          <a:xfrm>
            <a:off x="8915400" y="1828800"/>
            <a:ext cx="2514600" cy="3108960"/>
          </a:xfrm>
          <a:prstGeom prst="roundRect">
            <a:avLst>
              <a:gd name="adj" fmla="val 4364"/>
            </a:avLst>
          </a:prstGeom>
          <a:solidFill>
            <a:srgbClr val="FFFFFF"/>
          </a:solidFill>
          <a:ln w="12700">
            <a:solidFill>
              <a:srgbClr val="D9D5C8"/>
            </a:solidFill>
            <a:prstDash val="solid"/>
          </a:ln>
        </p:spPr>
      </p:sp>
      <p:sp>
        <p:nvSpPr>
          <p:cNvPr id="15" name="Text 12"/>
          <p:cNvSpPr txBox="1"/>
          <p:nvPr/>
        </p:nvSpPr>
        <p:spPr>
          <a:xfrm>
            <a:off x="9189720" y="2057400"/>
            <a:ext cx="1965960" cy="457200"/>
          </a:xfrm>
          <a:prstGeom prst="rect">
            <a:avLst/>
          </a:prstGeom>
          <a:noFill/>
          <a:ln/>
        </p:spPr>
        <p:txBody>
          <a:bodyPr wrap="square" lIns="0" tIns="0" rIns="0" bIns="0" rtlCol="0" anchor="t"/>
          <a:lstStyle/>
          <a:p>
            <a:pPr indent="0" marL="0">
              <a:buNone/>
            </a:pPr>
            <a:r>
              <a:rPr lang="en-US" sz="1600" b="1" dirty="0">
                <a:solidFill>
                  <a:schemeClr val="accent2"/>
                </a:solidFill>
                <a:latin typeface="Cambria" pitchFamily="34" charset="0"/>
                <a:ea typeface="Cambria" pitchFamily="34" charset="-122"/>
                <a:cs typeface="Cambria" pitchFamily="34" charset="-120"/>
              </a:rPr>
              <a:t>4  The goodies</a:t>
            </a:r>
            <a:endParaRPr lang="en-US" sz="1600" dirty="0"/>
          </a:p>
        </p:txBody>
      </p:sp>
      <p:sp>
        <p:nvSpPr>
          <p:cNvPr id="16" name="Text 13"/>
          <p:cNvSpPr txBox="1"/>
          <p:nvPr/>
        </p:nvSpPr>
        <p:spPr>
          <a:xfrm>
            <a:off x="9189720" y="2651760"/>
            <a:ext cx="1965960" cy="2057400"/>
          </a:xfrm>
          <a:prstGeom prst="rect">
            <a:avLst/>
          </a:prstGeom>
          <a:noFill/>
          <a:ln/>
        </p:spPr>
        <p:txBody>
          <a:bodyPr wrap="square" lIns="0" tIns="0" rIns="0" bIns="0" rtlCol="0" anchor="t"/>
          <a:lstStyle/>
          <a:p>
            <a:pPr marL="342900" indent="-342900">
              <a:spcAft>
                <a:spcPts val="800"/>
              </a:spcAft>
              <a:buSzPct val="100000"/>
              <a:buChar char="•"/>
            </a:pPr>
            <a:r>
              <a:rPr lang="en-US" sz="2300" dirty="0">
                <a:solidFill>
                  <a:schemeClr val="accent4"/>
                </a:solidFill>
              </a:rPr>
              <a:t>Nine areas</a:t>
            </a:r>
            <a:endParaRPr lang="en-US" sz="2300" dirty="0"/>
          </a:p>
          <a:p>
            <a:pPr marL="342900" indent="-342900">
              <a:spcAft>
                <a:spcPts val="800"/>
              </a:spcAft>
              <a:buSzPct val="100000"/>
              <a:buChar char="•"/>
            </a:pPr>
            <a:r>
              <a:rPr lang="en-US" sz="2300" dirty="0">
                <a:solidFill>
                  <a:schemeClr val="accent4"/>
                </a:solidFill>
              </a:rPr>
              <a:t>One slide per goodie</a:t>
            </a:r>
            <a:endParaRPr lang="en-US" sz="23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Install it now</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try it</a:t>
            </a:r>
            <a:endParaRPr lang="en-US" sz="1200" dirty="0"/>
          </a:p>
        </p:txBody>
      </p:sp>
      <p:sp>
        <p:nvSpPr>
          <p:cNvPr id="5" name="Shape 2"/>
          <p:cNvSpPr/>
          <p:nvPr/>
        </p:nvSpPr>
        <p:spPr>
          <a:xfrm>
            <a:off x="822960" y="1828800"/>
            <a:ext cx="10515600" cy="2042160"/>
          </a:xfrm>
          <a:prstGeom prst="roundRect">
            <a:avLst>
              <a:gd name="adj" fmla="val 5373"/>
            </a:avLst>
          </a:prstGeom>
          <a:solidFill>
            <a:schemeClr val="tx2"/>
          </a:solidFill>
          <a:ln w="12700">
            <a:solidFill>
              <a:srgbClr val="2C3844"/>
            </a:solidFill>
            <a:prstDash val="solid"/>
          </a:ln>
        </p:spPr>
      </p:sp>
      <p:sp>
        <p:nvSpPr>
          <p:cNvPr id="6" name="Text 3"/>
          <p:cNvSpPr txBox="1"/>
          <p:nvPr/>
        </p:nvSpPr>
        <p:spPr>
          <a:xfrm>
            <a:off x="1143000" y="2057400"/>
            <a:ext cx="9875520" cy="158496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tap MenkeTechnologies/menketech</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install zshrs</a:t>
            </a:r>
            <a:endParaRPr lang="en-US" sz="2600" dirty="0"/>
          </a:p>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brew install zshrs-all   # adds recorder + daemon</a:t>
            </a:r>
            <a:endParaRPr lang="en-US" sz="2600" dirty="0"/>
          </a:p>
        </p:txBody>
      </p:sp>
      <p:sp>
        <p:nvSpPr>
          <p:cNvPr id="7" name="Text 4"/>
          <p:cNvSpPr txBox="1"/>
          <p:nvPr/>
        </p:nvSpPr>
        <p:spPr>
          <a:xfrm>
            <a:off x="822960" y="4023360"/>
            <a:ext cx="10515600" cy="457200"/>
          </a:xfrm>
          <a:prstGeom prst="rect">
            <a:avLst/>
          </a:prstGeom>
          <a:noFill/>
          <a:ln/>
        </p:spPr>
        <p:txBody>
          <a:bodyPr wrap="square" lIns="0" tIns="0" rIns="0" bIns="0" rtlCol="0" anchor="t"/>
          <a:lstStyle/>
          <a:p>
            <a:pPr indent="0" marL="0">
              <a:buNone/>
            </a:pPr>
            <a:r>
              <a:rPr lang="en-US" sz="2200" dirty="0">
                <a:solidFill>
                  <a:schemeClr val="accent5"/>
                </a:solidFill>
              </a:rPr>
              <a:t>Or from crates.io: </a:t>
            </a:r>
            <a:pPr indent="0" marL="0">
              <a:buNone/>
            </a:pPr>
            <a:r>
              <a:rPr lang="en-US" sz="2200" dirty="0">
                <a:solidFill>
                  <a:schemeClr val="accent3"/>
                </a:solidFill>
                <a:latin typeface="Courier New" pitchFamily="34" charset="0"/>
                <a:ea typeface="Courier New" pitchFamily="34" charset="-122"/>
                <a:cs typeface="Courier New" pitchFamily="34" charset="-120"/>
              </a:rPr>
              <a:t>cargo install zshrs</a:t>
            </a:r>
            <a:endParaRPr lang="en-US" sz="2200" dirty="0"/>
          </a:p>
        </p:txBody>
      </p:sp>
      <p:sp>
        <p:nvSpPr>
          <p:cNvPr id="8" name="Text 5"/>
          <p:cNvSpPr txBox="1"/>
          <p:nvPr/>
        </p:nvSpPr>
        <p:spPr>
          <a:xfrm>
            <a:off x="822960" y="4663440"/>
            <a:ext cx="10515600" cy="457200"/>
          </a:xfrm>
          <a:prstGeom prst="rect">
            <a:avLst/>
          </a:prstGeom>
          <a:noFill/>
          <a:ln/>
        </p:spPr>
        <p:txBody>
          <a:bodyPr wrap="square" lIns="0" tIns="0" rIns="0" bIns="0" rtlCol="0" anchor="t"/>
          <a:lstStyle/>
          <a:p>
            <a:pPr indent="0" marL="0">
              <a:buNone/>
            </a:pPr>
            <a:r>
              <a:rPr lang="en-US" sz="2200" dirty="0">
                <a:solidFill>
                  <a:schemeClr val="bg2"/>
                </a:solidFill>
              </a:rPr>
              <a:t>This slide is repeated at the end if you miss it.</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Code parity today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parity snapshot</a:t>
            </a:r>
            <a:endParaRPr lang="en-US" sz="1200" dirty="0"/>
          </a:p>
        </p:txBody>
      </p:sp>
      <p:sp>
        <p:nvSpPr>
          <p:cNvPr id="5" name="Shape 2"/>
          <p:cNvSpPr/>
          <p:nvPr/>
        </p:nvSpPr>
        <p:spPr>
          <a:xfrm>
            <a:off x="822960" y="1737360"/>
            <a:ext cx="3291840" cy="2377440"/>
          </a:xfrm>
          <a:prstGeom prst="roundRect">
            <a:avLst>
              <a:gd name="adj" fmla="val 4615"/>
            </a:avLst>
          </a:prstGeom>
          <a:solidFill>
            <a:schemeClr val="accent4"/>
          </a:solidFill>
          <a:ln w="12700">
            <a:solidFill>
              <a:schemeClr val="accent4"/>
            </a:solidFill>
            <a:prstDash val="solid"/>
          </a:ln>
        </p:spPr>
      </p:sp>
      <p:sp>
        <p:nvSpPr>
          <p:cNvPr id="6" name="Text 3"/>
          <p:cNvSpPr txBox="1"/>
          <p:nvPr/>
        </p:nvSpPr>
        <p:spPr>
          <a:xfrm>
            <a:off x="109728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46,724</a:t>
            </a:r>
            <a:endParaRPr lang="en-US" sz="4400" dirty="0"/>
          </a:p>
        </p:txBody>
      </p:sp>
      <p:sp>
        <p:nvSpPr>
          <p:cNvPr id="7" name="Text 4"/>
          <p:cNvSpPr txBox="1"/>
          <p:nvPr/>
        </p:nvSpPr>
        <p:spPr>
          <a:xfrm>
            <a:off x="109728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parity tests, each running real zsh and zshrs and comparing whole-shell state</a:t>
            </a:r>
            <a:endParaRPr lang="en-US" sz="1800" dirty="0"/>
          </a:p>
        </p:txBody>
      </p:sp>
      <p:sp>
        <p:nvSpPr>
          <p:cNvPr id="8" name="Shape 5"/>
          <p:cNvSpPr/>
          <p:nvPr/>
        </p:nvSpPr>
        <p:spPr>
          <a:xfrm>
            <a:off x="4434840" y="1737360"/>
            <a:ext cx="3291840" cy="2377440"/>
          </a:xfrm>
          <a:prstGeom prst="roundRect">
            <a:avLst>
              <a:gd name="adj" fmla="val 4615"/>
            </a:avLst>
          </a:prstGeom>
          <a:solidFill>
            <a:schemeClr val="accent4"/>
          </a:solidFill>
          <a:ln w="12700">
            <a:solidFill>
              <a:schemeClr val="accent4"/>
            </a:solidFill>
            <a:prstDash val="solid"/>
          </a:ln>
        </p:spPr>
      </p:sp>
      <p:sp>
        <p:nvSpPr>
          <p:cNvPr id="9" name="Text 6"/>
          <p:cNvSpPr txBox="1"/>
          <p:nvPr/>
        </p:nvSpPr>
        <p:spPr>
          <a:xfrm>
            <a:off x="470916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99.99%</a:t>
            </a:r>
            <a:endParaRPr lang="en-US" sz="4400" dirty="0"/>
          </a:p>
        </p:txBody>
      </p:sp>
      <p:sp>
        <p:nvSpPr>
          <p:cNvPr id="10" name="Text 7"/>
          <p:cNvSpPr txBox="1"/>
          <p:nvPr/>
        </p:nvSpPr>
        <p:spPr>
          <a:xfrm>
            <a:off x="470916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passing (46,685)</a:t>
            </a:r>
            <a:endParaRPr lang="en-US" sz="1800" dirty="0"/>
          </a:p>
        </p:txBody>
      </p:sp>
      <p:sp>
        <p:nvSpPr>
          <p:cNvPr id="11" name="Shape 8"/>
          <p:cNvSpPr/>
          <p:nvPr/>
        </p:nvSpPr>
        <p:spPr>
          <a:xfrm>
            <a:off x="8046720" y="1737360"/>
            <a:ext cx="3291840" cy="2377440"/>
          </a:xfrm>
          <a:prstGeom prst="roundRect">
            <a:avLst>
              <a:gd name="adj" fmla="val 4615"/>
            </a:avLst>
          </a:prstGeom>
          <a:solidFill>
            <a:schemeClr val="accent4"/>
          </a:solidFill>
          <a:ln w="12700">
            <a:solidFill>
              <a:schemeClr val="accent4"/>
            </a:solidFill>
            <a:prstDash val="solid"/>
          </a:ln>
        </p:spPr>
      </p:sp>
      <p:sp>
        <p:nvSpPr>
          <p:cNvPr id="12" name="Text 9"/>
          <p:cNvSpPr txBox="1"/>
          <p:nvPr/>
        </p:nvSpPr>
        <p:spPr>
          <a:xfrm>
            <a:off x="8321040" y="1920240"/>
            <a:ext cx="2743200" cy="822960"/>
          </a:xfrm>
          <a:prstGeom prst="rect">
            <a:avLst/>
          </a:prstGeom>
          <a:noFill/>
          <a:ln/>
        </p:spPr>
        <p:txBody>
          <a:bodyPr wrap="square" lIns="0" tIns="0" rIns="0" bIns="0" rtlCol="0" anchor="ctr"/>
          <a:lstStyle/>
          <a:p>
            <a:pPr indent="0" marL="0">
              <a:buNone/>
            </a:pPr>
            <a:r>
              <a:rPr lang="en-US" sz="4400" b="1" dirty="0">
                <a:solidFill>
                  <a:schemeClr val="accent3"/>
                </a:solidFill>
                <a:latin typeface="Cambria" pitchFamily="34" charset="0"/>
                <a:ea typeface="Cambria" pitchFamily="34" charset="-122"/>
                <a:cs typeface="Cambria" pitchFamily="34" charset="-120"/>
              </a:rPr>
              <a:t>5</a:t>
            </a:r>
            <a:endParaRPr lang="en-US" sz="4400" dirty="0"/>
          </a:p>
        </p:txBody>
      </p:sp>
      <p:sp>
        <p:nvSpPr>
          <p:cNvPr id="13" name="Text 10"/>
          <p:cNvSpPr txBox="1"/>
          <p:nvPr/>
        </p:nvSpPr>
        <p:spPr>
          <a:xfrm>
            <a:off x="832104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failing, each traced to a documented cause</a:t>
            </a:r>
            <a:endParaRPr lang="en-US" sz="1800" dirty="0"/>
          </a:p>
        </p:txBody>
      </p:sp>
      <p:sp>
        <p:nvSpPr>
          <p:cNvPr id="14" name="Text 11"/>
          <p:cNvSpPr txBox="1"/>
          <p:nvPr/>
        </p:nvSpPr>
        <p:spPr>
          <a:xfrm>
            <a:off x="822960" y="4480560"/>
            <a:ext cx="10515600" cy="822960"/>
          </a:xfrm>
          <a:prstGeom prst="rect">
            <a:avLst/>
          </a:prstGeom>
          <a:noFill/>
          <a:ln/>
        </p:spPr>
        <p:txBody>
          <a:bodyPr wrap="square" lIns="0" tIns="0" rIns="0" bIns="0" rtlCol="0" anchor="t"/>
          <a:lstStyle/>
          <a:p>
            <a:pPr indent="0" marL="0">
              <a:buNone/>
            </a:pPr>
            <a:r>
              <a:rPr lang="en-US" sz="2000" dirty="0">
                <a:solidFill>
                  <a:schemeClr val="accent6"/>
                </a:solidFill>
              </a:rPr>
              <a:t>34 ignored. Serial run, docs/PARITY.md, 2026-08-21. The five open items are in the backup section.</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How the pieces fit</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architecture</a:t>
            </a:r>
            <a:endParaRPr lang="en-US" sz="1200" dirty="0"/>
          </a:p>
        </p:txBody>
      </p:sp>
      <p:sp>
        <p:nvSpPr>
          <p:cNvPr id="5" name="Shape 2"/>
          <p:cNvSpPr/>
          <p:nvPr/>
        </p:nvSpPr>
        <p:spPr>
          <a:xfrm>
            <a:off x="822960" y="1737360"/>
            <a:ext cx="3169920" cy="1554480"/>
          </a:xfrm>
          <a:prstGeom prst="roundRect">
            <a:avLst>
              <a:gd name="adj" fmla="val 7059"/>
            </a:avLst>
          </a:prstGeom>
          <a:solidFill>
            <a:schemeClr val="tx2"/>
          </a:solidFill>
          <a:ln w="12700">
            <a:solidFill>
              <a:srgbClr val="2C3844"/>
            </a:solidFill>
            <a:prstDash val="solid"/>
          </a:ln>
        </p:spPr>
      </p:sp>
      <p:sp>
        <p:nvSpPr>
          <p:cNvPr id="6" name="Text 3"/>
          <p:cNvSpPr txBox="1"/>
          <p:nvPr/>
        </p:nvSpPr>
        <p:spPr>
          <a:xfrm>
            <a:off x="105156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zshrs</a:t>
            </a:r>
            <a:endParaRPr lang="en-US" sz="2400" dirty="0"/>
          </a:p>
        </p:txBody>
      </p:sp>
      <p:sp>
        <p:nvSpPr>
          <p:cNvPr id="7" name="Text 4"/>
          <p:cNvSpPr txBox="1"/>
          <p:nvPr/>
        </p:nvSpPr>
        <p:spPr>
          <a:xfrm>
            <a:off x="1051560" y="2514600"/>
            <a:ext cx="2712720" cy="685800"/>
          </a:xfrm>
          <a:prstGeom prst="rect">
            <a:avLst/>
          </a:prstGeom>
          <a:noFill/>
          <a:ln/>
        </p:spPr>
        <p:txBody>
          <a:bodyPr wrap="square" lIns="0" tIns="0" rIns="0" bIns="0" rtlCol="0" anchor="t"/>
          <a:lstStyle/>
          <a:p>
            <a:pPr indent="0" marL="0">
              <a:buNone/>
            </a:pPr>
            <a:r>
              <a:rPr lang="en-US" sz="1500" dirty="0">
                <a:solidFill>
                  <a:schemeClr val="bg2"/>
                </a:solidFill>
              </a:rPr>
              <a:t>runtime and shell binary; ported + extensions</a:t>
            </a:r>
            <a:endParaRPr lang="en-US" sz="1500" dirty="0"/>
          </a:p>
        </p:txBody>
      </p:sp>
      <p:sp>
        <p:nvSpPr>
          <p:cNvPr id="8" name="Shape 5"/>
          <p:cNvSpPr/>
          <p:nvPr/>
        </p:nvSpPr>
        <p:spPr>
          <a:xfrm>
            <a:off x="4056888" y="2331720"/>
            <a:ext cx="384048" cy="365760"/>
          </a:xfrm>
          <a:prstGeom prst="rightArrow">
            <a:avLst/>
          </a:prstGeom>
          <a:solidFill>
            <a:schemeClr val="accent3"/>
          </a:solidFill>
          <a:ln w="12700">
            <a:solidFill>
              <a:schemeClr val="accent3"/>
            </a:solidFill>
            <a:prstDash val="solid"/>
          </a:ln>
        </p:spPr>
      </p:sp>
      <p:sp>
        <p:nvSpPr>
          <p:cNvPr id="9" name="Shape 6"/>
          <p:cNvSpPr/>
          <p:nvPr/>
        </p:nvSpPr>
        <p:spPr>
          <a:xfrm>
            <a:off x="4495800" y="1737360"/>
            <a:ext cx="3169920" cy="1554480"/>
          </a:xfrm>
          <a:prstGeom prst="roundRect">
            <a:avLst>
              <a:gd name="adj" fmla="val 7059"/>
            </a:avLst>
          </a:prstGeom>
          <a:solidFill>
            <a:schemeClr val="tx2"/>
          </a:solidFill>
          <a:ln w="12700">
            <a:solidFill>
              <a:srgbClr val="2C3844"/>
            </a:solidFill>
            <a:prstDash val="solid"/>
          </a:ln>
        </p:spPr>
      </p:sp>
      <p:sp>
        <p:nvSpPr>
          <p:cNvPr id="10" name="Text 7"/>
          <p:cNvSpPr txBox="1"/>
          <p:nvPr/>
        </p:nvSpPr>
        <p:spPr>
          <a:xfrm>
            <a:off x="472440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zshrs-daemon</a:t>
            </a:r>
            <a:endParaRPr lang="en-US" sz="2400" dirty="0"/>
          </a:p>
        </p:txBody>
      </p:sp>
      <p:sp>
        <p:nvSpPr>
          <p:cNvPr id="11" name="Text 8"/>
          <p:cNvSpPr txBox="1"/>
          <p:nvPr/>
        </p:nvSpPr>
        <p:spPr>
          <a:xfrm>
            <a:off x="4724400" y="2514600"/>
            <a:ext cx="2712720" cy="685800"/>
          </a:xfrm>
          <a:prstGeom prst="rect">
            <a:avLst/>
          </a:prstGeom>
          <a:noFill/>
          <a:ln/>
        </p:spPr>
        <p:txBody>
          <a:bodyPr wrap="square" lIns="0" tIns="0" rIns="0" bIns="0" rtlCol="0" anchor="t"/>
          <a:lstStyle/>
          <a:p>
            <a:pPr indent="0" marL="0">
              <a:buNone/>
            </a:pPr>
            <a:r>
              <a:rPr lang="en-US" sz="1400" dirty="0">
                <a:solidFill>
                  <a:schemeClr val="bg2"/>
                </a:solidFill>
              </a:rPr>
              <a:t>singleton owning shared state; clients are stateless</a:t>
            </a:r>
            <a:endParaRPr lang="en-US" sz="1400" dirty="0"/>
          </a:p>
        </p:txBody>
      </p:sp>
      <p:sp>
        <p:nvSpPr>
          <p:cNvPr id="12" name="Shape 9"/>
          <p:cNvSpPr/>
          <p:nvPr/>
        </p:nvSpPr>
        <p:spPr>
          <a:xfrm>
            <a:off x="7729728" y="2331720"/>
            <a:ext cx="384048" cy="365760"/>
          </a:xfrm>
          <a:prstGeom prst="rightArrow">
            <a:avLst/>
          </a:prstGeom>
          <a:solidFill>
            <a:schemeClr val="accent3"/>
          </a:solidFill>
          <a:ln w="12700">
            <a:solidFill>
              <a:schemeClr val="accent3"/>
            </a:solidFill>
            <a:prstDash val="solid"/>
          </a:ln>
        </p:spPr>
      </p:sp>
      <p:sp>
        <p:nvSpPr>
          <p:cNvPr id="13" name="Shape 10"/>
          <p:cNvSpPr/>
          <p:nvPr/>
        </p:nvSpPr>
        <p:spPr>
          <a:xfrm>
            <a:off x="8168640" y="1737360"/>
            <a:ext cx="3169920" cy="1554480"/>
          </a:xfrm>
          <a:prstGeom prst="roundRect">
            <a:avLst>
              <a:gd name="adj" fmla="val 7059"/>
            </a:avLst>
          </a:prstGeom>
          <a:solidFill>
            <a:schemeClr val="tx2"/>
          </a:solidFill>
          <a:ln w="12700">
            <a:solidFill>
              <a:srgbClr val="2C3844"/>
            </a:solidFill>
            <a:prstDash val="solid"/>
          </a:ln>
        </p:spPr>
      </p:sp>
      <p:sp>
        <p:nvSpPr>
          <p:cNvPr id="14" name="Text 11"/>
          <p:cNvSpPr txBox="1"/>
          <p:nvPr/>
        </p:nvSpPr>
        <p:spPr>
          <a:xfrm>
            <a:off x="839724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znative</a:t>
            </a:r>
            <a:endParaRPr lang="en-US" sz="2400" dirty="0"/>
          </a:p>
        </p:txBody>
      </p:sp>
      <p:sp>
        <p:nvSpPr>
          <p:cNvPr id="15" name="Text 12"/>
          <p:cNvSpPr txBox="1"/>
          <p:nvPr/>
        </p:nvSpPr>
        <p:spPr>
          <a:xfrm>
            <a:off x="8397240" y="2514600"/>
            <a:ext cx="2712720" cy="685800"/>
          </a:xfrm>
          <a:prstGeom prst="rect">
            <a:avLst/>
          </a:prstGeom>
          <a:noFill/>
          <a:ln/>
        </p:spPr>
        <p:txBody>
          <a:bodyPr wrap="square" lIns="0" tIns="0" rIns="0" bIns="0" rtlCol="0" anchor="t"/>
          <a:lstStyle/>
          <a:p>
            <a:pPr indent="0" marL="0">
              <a:buNone/>
            </a:pPr>
            <a:r>
              <a:rPr lang="en-US" sz="2000" dirty="0">
                <a:solidFill>
                  <a:schemeClr val="bg2"/>
                </a:solidFill>
              </a:rPr>
              <a:t>plugin ABI SDK; cdylib plugins</a:t>
            </a:r>
            <a:endParaRPr lang="en-US" sz="2000" dirty="0"/>
          </a:p>
        </p:txBody>
      </p:sp>
      <p:sp>
        <p:nvSpPr>
          <p:cNvPr id="16" name="Shape 13"/>
          <p:cNvSpPr/>
          <p:nvPr/>
        </p:nvSpPr>
        <p:spPr>
          <a:xfrm>
            <a:off x="822960" y="3840480"/>
            <a:ext cx="3169920" cy="1554480"/>
          </a:xfrm>
          <a:prstGeom prst="roundRect">
            <a:avLst>
              <a:gd name="adj" fmla="val 7059"/>
            </a:avLst>
          </a:prstGeom>
          <a:solidFill>
            <a:schemeClr val="tx2"/>
          </a:solidFill>
          <a:ln w="12700">
            <a:solidFill>
              <a:srgbClr val="2C3844"/>
            </a:solidFill>
            <a:prstDash val="solid"/>
          </a:ln>
        </p:spPr>
      </p:sp>
      <p:sp>
        <p:nvSpPr>
          <p:cNvPr id="17" name="Text 14"/>
          <p:cNvSpPr txBox="1"/>
          <p:nvPr/>
        </p:nvSpPr>
        <p:spPr>
          <a:xfrm>
            <a:off x="1051560" y="402336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src/ported</a:t>
            </a:r>
            <a:endParaRPr lang="en-US" sz="2400" dirty="0"/>
          </a:p>
        </p:txBody>
      </p:sp>
      <p:sp>
        <p:nvSpPr>
          <p:cNvPr id="18" name="Text 15"/>
          <p:cNvSpPr txBox="1"/>
          <p:nvPr/>
        </p:nvSpPr>
        <p:spPr>
          <a:xfrm>
            <a:off x="1051560" y="4617720"/>
            <a:ext cx="2712720" cy="685800"/>
          </a:xfrm>
          <a:prstGeom prst="rect">
            <a:avLst/>
          </a:prstGeom>
          <a:noFill/>
          <a:ln/>
        </p:spPr>
        <p:txBody>
          <a:bodyPr wrap="square" lIns="0" tIns="0" rIns="0" bIns="0" rtlCol="0" anchor="t"/>
          <a:lstStyle/>
          <a:p>
            <a:pPr indent="0" marL="0">
              <a:buNone/>
            </a:pPr>
            <a:r>
              <a:rPr lang="en-US" sz="2000" dirty="0">
                <a:solidFill>
                  <a:schemeClr val="bg2"/>
                </a:solidFill>
              </a:rPr>
              <a:t>106 files, strict 1:1 with zsh C</a:t>
            </a:r>
            <a:endParaRPr lang="en-US" sz="2000" dirty="0"/>
          </a:p>
        </p:txBody>
      </p:sp>
      <p:sp>
        <p:nvSpPr>
          <p:cNvPr id="19" name="Shape 16"/>
          <p:cNvSpPr/>
          <p:nvPr/>
        </p:nvSpPr>
        <p:spPr>
          <a:xfrm>
            <a:off x="4056888" y="4434840"/>
            <a:ext cx="384048" cy="365760"/>
          </a:xfrm>
          <a:prstGeom prst="rightArrow">
            <a:avLst/>
          </a:prstGeom>
          <a:solidFill>
            <a:schemeClr val="accent3"/>
          </a:solidFill>
          <a:ln w="12700">
            <a:solidFill>
              <a:schemeClr val="accent3"/>
            </a:solidFill>
            <a:prstDash val="solid"/>
          </a:ln>
        </p:spPr>
      </p:sp>
      <p:sp>
        <p:nvSpPr>
          <p:cNvPr id="20" name="Shape 17"/>
          <p:cNvSpPr/>
          <p:nvPr/>
        </p:nvSpPr>
        <p:spPr>
          <a:xfrm>
            <a:off x="4495800" y="3840480"/>
            <a:ext cx="3169920" cy="1554480"/>
          </a:xfrm>
          <a:prstGeom prst="roundRect">
            <a:avLst>
              <a:gd name="adj" fmla="val 7059"/>
            </a:avLst>
          </a:prstGeom>
          <a:solidFill>
            <a:schemeClr val="tx2"/>
          </a:solidFill>
          <a:ln w="12700">
            <a:solidFill>
              <a:srgbClr val="2C3844"/>
            </a:solidFill>
            <a:prstDash val="solid"/>
          </a:ln>
        </p:spPr>
      </p:sp>
      <p:sp>
        <p:nvSpPr>
          <p:cNvPr id="21" name="Text 18"/>
          <p:cNvSpPr txBox="1"/>
          <p:nvPr/>
        </p:nvSpPr>
        <p:spPr>
          <a:xfrm>
            <a:off x="4724400" y="402336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src/extensions</a:t>
            </a:r>
            <a:endParaRPr lang="en-US" sz="2400" dirty="0"/>
          </a:p>
        </p:txBody>
      </p:sp>
      <p:sp>
        <p:nvSpPr>
          <p:cNvPr id="22" name="Text 19"/>
          <p:cNvSpPr txBox="1"/>
          <p:nvPr/>
        </p:nvSpPr>
        <p:spPr>
          <a:xfrm>
            <a:off x="4724400" y="4617720"/>
            <a:ext cx="2712720" cy="685800"/>
          </a:xfrm>
          <a:prstGeom prst="rect">
            <a:avLst/>
          </a:prstGeom>
          <a:noFill/>
          <a:ln/>
        </p:spPr>
        <p:txBody>
          <a:bodyPr wrap="square" lIns="0" tIns="0" rIns="0" bIns="0" rtlCol="0" anchor="t"/>
          <a:lstStyle/>
          <a:p>
            <a:pPr indent="0" marL="0">
              <a:buNone/>
            </a:pPr>
            <a:r>
              <a:rPr lang="en-US" sz="2000" dirty="0">
                <a:solidFill>
                  <a:schemeClr val="bg2"/>
                </a:solidFill>
              </a:rPr>
              <a:t>116 files, features zsh C lacks</a:t>
            </a:r>
            <a:endParaRPr lang="en-US" sz="2000" dirty="0"/>
          </a:p>
        </p:txBody>
      </p:sp>
      <p:sp>
        <p:nvSpPr>
          <p:cNvPr id="23" name="Shape 20"/>
          <p:cNvSpPr/>
          <p:nvPr/>
        </p:nvSpPr>
        <p:spPr>
          <a:xfrm>
            <a:off x="7729728" y="4434840"/>
            <a:ext cx="384048" cy="365760"/>
          </a:xfrm>
          <a:prstGeom prst="rightArrow">
            <a:avLst/>
          </a:prstGeom>
          <a:solidFill>
            <a:schemeClr val="accent3"/>
          </a:solidFill>
          <a:ln w="12700">
            <a:solidFill>
              <a:schemeClr val="accent3"/>
            </a:solidFill>
            <a:prstDash val="solid"/>
          </a:ln>
        </p:spPr>
      </p:sp>
      <p:sp>
        <p:nvSpPr>
          <p:cNvPr id="24" name="Shape 21"/>
          <p:cNvSpPr/>
          <p:nvPr/>
        </p:nvSpPr>
        <p:spPr>
          <a:xfrm>
            <a:off x="8168640" y="3840480"/>
            <a:ext cx="3169920" cy="1554480"/>
          </a:xfrm>
          <a:prstGeom prst="roundRect">
            <a:avLst>
              <a:gd name="adj" fmla="val 7059"/>
            </a:avLst>
          </a:prstGeom>
          <a:solidFill>
            <a:schemeClr val="tx2"/>
          </a:solidFill>
          <a:ln w="12700">
            <a:solidFill>
              <a:srgbClr val="2C3844"/>
            </a:solidFill>
            <a:prstDash val="solid"/>
          </a:ln>
        </p:spPr>
      </p:sp>
      <p:sp>
        <p:nvSpPr>
          <p:cNvPr id="25" name="Text 22"/>
          <p:cNvSpPr txBox="1"/>
          <p:nvPr/>
        </p:nvSpPr>
        <p:spPr>
          <a:xfrm>
            <a:off x="8397240" y="402336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src/recorder</a:t>
            </a:r>
            <a:endParaRPr lang="en-US" sz="2400" dirty="0"/>
          </a:p>
        </p:txBody>
      </p:sp>
      <p:sp>
        <p:nvSpPr>
          <p:cNvPr id="26" name="Text 23"/>
          <p:cNvSpPr txBox="1"/>
          <p:nvPr/>
        </p:nvSpPr>
        <p:spPr>
          <a:xfrm>
            <a:off x="8397240" y="4617720"/>
            <a:ext cx="2712720" cy="685800"/>
          </a:xfrm>
          <a:prstGeom prst="rect">
            <a:avLst/>
          </a:prstGeom>
          <a:noFill/>
          <a:ln/>
        </p:spPr>
        <p:txBody>
          <a:bodyPr wrap="square" lIns="0" tIns="0" rIns="0" bIns="0" rtlCol="0" anchor="t"/>
          <a:lstStyle/>
          <a:p>
            <a:pPr indent="0" marL="0">
              <a:buNone/>
            </a:pPr>
            <a:r>
              <a:rPr lang="en-US" sz="2000" dirty="0">
                <a:solidFill>
                  <a:schemeClr val="bg2"/>
                </a:solidFill>
              </a:rPr>
              <a:t>feature-gated config recorder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Help wanted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get involved</a:t>
            </a:r>
            <a:endParaRPr lang="en-US" sz="1200" dirty="0"/>
          </a:p>
        </p:txBody>
      </p:sp>
      <p:sp>
        <p:nvSpPr>
          <p:cNvPr id="5" name="Shape 2"/>
          <p:cNvSpPr/>
          <p:nvPr/>
        </p:nvSpPr>
        <p:spPr>
          <a:xfrm>
            <a:off x="822960" y="1600200"/>
            <a:ext cx="10515600" cy="731520"/>
          </a:xfrm>
          <a:prstGeom prst="roundRect">
            <a:avLst>
              <a:gd name="adj" fmla="val 15000"/>
            </a:avLst>
          </a:prstGeom>
          <a:solidFill>
            <a:srgbClr val="FFFFFF"/>
          </a:solidFill>
          <a:ln w="12700">
            <a:solidFill>
              <a:srgbClr val="D9D5C8"/>
            </a:solidFill>
            <a:prstDash val="solid"/>
          </a:ln>
        </p:spPr>
      </p:sp>
      <p:sp>
        <p:nvSpPr>
          <p:cNvPr id="6" name="Text 3"/>
          <p:cNvSpPr txBox="1"/>
          <p:nvPr/>
        </p:nvSpPr>
        <p:spPr>
          <a:xfrm>
            <a:off x="1097280" y="160020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1</a:t>
            </a:r>
            <a:endParaRPr lang="en-US" sz="2600" dirty="0"/>
          </a:p>
        </p:txBody>
      </p:sp>
      <p:sp>
        <p:nvSpPr>
          <p:cNvPr id="7" name="Text 4"/>
          <p:cNvSpPr txBox="1"/>
          <p:nvPr/>
        </p:nvSpPr>
        <p:spPr>
          <a:xfrm>
            <a:off x="1828800" y="160020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Start using it.</a:t>
            </a:r>
            <a:endParaRPr lang="en-US" sz="2800" dirty="0"/>
          </a:p>
        </p:txBody>
      </p:sp>
      <p:sp>
        <p:nvSpPr>
          <p:cNvPr id="8" name="Shape 5"/>
          <p:cNvSpPr/>
          <p:nvPr/>
        </p:nvSpPr>
        <p:spPr>
          <a:xfrm>
            <a:off x="822960" y="2468880"/>
            <a:ext cx="10515600" cy="731520"/>
          </a:xfrm>
          <a:prstGeom prst="roundRect">
            <a:avLst>
              <a:gd name="adj" fmla="val 15000"/>
            </a:avLst>
          </a:prstGeom>
          <a:solidFill>
            <a:srgbClr val="FFFFFF"/>
          </a:solidFill>
          <a:ln w="12700">
            <a:solidFill>
              <a:srgbClr val="D9D5C8"/>
            </a:solidFill>
            <a:prstDash val="solid"/>
          </a:ln>
        </p:spPr>
      </p:sp>
      <p:sp>
        <p:nvSpPr>
          <p:cNvPr id="9" name="Text 6"/>
          <p:cNvSpPr txBox="1"/>
          <p:nvPr/>
        </p:nvSpPr>
        <p:spPr>
          <a:xfrm>
            <a:off x="1097280" y="246888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2</a:t>
            </a:r>
            <a:endParaRPr lang="en-US" sz="2600" dirty="0"/>
          </a:p>
        </p:txBody>
      </p:sp>
      <p:sp>
        <p:nvSpPr>
          <p:cNvPr id="10" name="Text 7"/>
          <p:cNvSpPr txBox="1"/>
          <p:nvPr/>
        </p:nvSpPr>
        <p:spPr>
          <a:xfrm>
            <a:off x="1828800" y="246888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Sanity check the code parity.</a:t>
            </a:r>
            <a:endParaRPr lang="en-US" sz="2800" dirty="0"/>
          </a:p>
        </p:txBody>
      </p:sp>
      <p:sp>
        <p:nvSpPr>
          <p:cNvPr id="11" name="Shape 8"/>
          <p:cNvSpPr/>
          <p:nvPr/>
        </p:nvSpPr>
        <p:spPr>
          <a:xfrm>
            <a:off x="822960" y="3337560"/>
            <a:ext cx="10515600" cy="731520"/>
          </a:xfrm>
          <a:prstGeom prst="roundRect">
            <a:avLst>
              <a:gd name="adj" fmla="val 15000"/>
            </a:avLst>
          </a:prstGeom>
          <a:solidFill>
            <a:srgbClr val="FFFFFF"/>
          </a:solidFill>
          <a:ln w="12700">
            <a:solidFill>
              <a:srgbClr val="D9D5C8"/>
            </a:solidFill>
            <a:prstDash val="solid"/>
          </a:ln>
        </p:spPr>
      </p:sp>
      <p:sp>
        <p:nvSpPr>
          <p:cNvPr id="12" name="Text 9"/>
          <p:cNvSpPr txBox="1"/>
          <p:nvPr/>
        </p:nvSpPr>
        <p:spPr>
          <a:xfrm>
            <a:off x="1097280" y="333756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3</a:t>
            </a:r>
            <a:endParaRPr lang="en-US" sz="2600" dirty="0"/>
          </a:p>
        </p:txBody>
      </p:sp>
      <p:sp>
        <p:nvSpPr>
          <p:cNvPr id="13" name="Text 10"/>
          <p:cNvSpPr txBox="1"/>
          <p:nvPr/>
        </p:nvSpPr>
        <p:spPr>
          <a:xfrm>
            <a:off x="1828800" y="3337560"/>
            <a:ext cx="9144000" cy="731520"/>
          </a:xfrm>
          <a:prstGeom prst="rect">
            <a:avLst/>
          </a:prstGeom>
          <a:noFill/>
          <a:ln/>
        </p:spPr>
        <p:txBody>
          <a:bodyPr wrap="square" lIns="0" tIns="0" rIns="0" bIns="0" rtlCol="0" anchor="ctr"/>
          <a:lstStyle/>
          <a:p>
            <a:pPr indent="0" marL="0">
              <a:buNone/>
            </a:pPr>
            <a:r>
              <a:rPr lang="en-US" sz="2000" dirty="0">
                <a:solidFill>
                  <a:schemeClr val="accent4"/>
                </a:solidFill>
              </a:rPr>
              <a:t>Review security, performance, energy use and hardware needs.</a:t>
            </a:r>
            <a:endParaRPr lang="en-US" sz="2000" dirty="0"/>
          </a:p>
        </p:txBody>
      </p:sp>
      <p:sp>
        <p:nvSpPr>
          <p:cNvPr id="14" name="Shape 11"/>
          <p:cNvSpPr/>
          <p:nvPr/>
        </p:nvSpPr>
        <p:spPr>
          <a:xfrm>
            <a:off x="822960" y="4206240"/>
            <a:ext cx="10515600" cy="731520"/>
          </a:xfrm>
          <a:prstGeom prst="roundRect">
            <a:avLst>
              <a:gd name="adj" fmla="val 15000"/>
            </a:avLst>
          </a:prstGeom>
          <a:solidFill>
            <a:srgbClr val="FFFFFF"/>
          </a:solidFill>
          <a:ln w="12700">
            <a:solidFill>
              <a:srgbClr val="D9D5C8"/>
            </a:solidFill>
            <a:prstDash val="solid"/>
          </a:ln>
        </p:spPr>
      </p:sp>
      <p:sp>
        <p:nvSpPr>
          <p:cNvPr id="15" name="Text 12"/>
          <p:cNvSpPr txBox="1"/>
          <p:nvPr/>
        </p:nvSpPr>
        <p:spPr>
          <a:xfrm>
            <a:off x="1097280" y="420624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4</a:t>
            </a:r>
            <a:endParaRPr lang="en-US" sz="2600" dirty="0"/>
          </a:p>
        </p:txBody>
      </p:sp>
      <p:sp>
        <p:nvSpPr>
          <p:cNvPr id="16" name="Text 13"/>
          <p:cNvSpPr txBox="1"/>
          <p:nvPr/>
        </p:nvSpPr>
        <p:spPr>
          <a:xfrm>
            <a:off x="1828800" y="420624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Open issues.</a:t>
            </a:r>
            <a:endParaRPr lang="en-US" sz="2800" dirty="0"/>
          </a:p>
        </p:txBody>
      </p:sp>
      <p:sp>
        <p:nvSpPr>
          <p:cNvPr id="17" name="Shape 14"/>
          <p:cNvSpPr/>
          <p:nvPr/>
        </p:nvSpPr>
        <p:spPr>
          <a:xfrm>
            <a:off x="822960" y="5074920"/>
            <a:ext cx="10515600" cy="731520"/>
          </a:xfrm>
          <a:prstGeom prst="roundRect">
            <a:avLst>
              <a:gd name="adj" fmla="val 15000"/>
            </a:avLst>
          </a:prstGeom>
          <a:solidFill>
            <a:srgbClr val="FFFFFF"/>
          </a:solidFill>
          <a:ln w="12700">
            <a:solidFill>
              <a:srgbClr val="D9D5C8"/>
            </a:solidFill>
            <a:prstDash val="solid"/>
          </a:ln>
        </p:spPr>
      </p:sp>
      <p:sp>
        <p:nvSpPr>
          <p:cNvPr id="18" name="Text 15"/>
          <p:cNvSpPr txBox="1"/>
          <p:nvPr/>
        </p:nvSpPr>
        <p:spPr>
          <a:xfrm>
            <a:off x="1097280" y="507492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5</a:t>
            </a:r>
            <a:endParaRPr lang="en-US" sz="2600" dirty="0"/>
          </a:p>
        </p:txBody>
      </p:sp>
      <p:sp>
        <p:nvSpPr>
          <p:cNvPr id="19" name="Text 16"/>
          <p:cNvSpPr txBox="1"/>
          <p:nvPr/>
        </p:nvSpPr>
        <p:spPr>
          <a:xfrm>
            <a:off x="1828800" y="507492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Get involved and ask questions.</a:t>
            </a:r>
            <a:endParaRPr lang="en-US" sz="28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Where a reviewer can start</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get involved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2377440"/>
                <a:gridCol w="3931920"/>
                <a:gridCol w="4206240"/>
              </a:tblGrid>
              <a:tr h="731520">
                <a:tc>
                  <a:txBody>
                    <a:bodyPr/>
                    <a:lstStyle/>
                    <a:p>
                      <a:pPr indent="0" marL="0">
                        <a:buNone/>
                      </a:pPr>
                      <a:r>
                        <a:rPr lang="en-US" sz="1800" b="1" dirty="0">
                          <a:solidFill>
                            <a:schemeClr val="accent1"/>
                          </a:solidFill>
                        </a:rPr>
                        <a:t>Lens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b="1" dirty="0">
                          <a:solidFill>
                            <a:schemeClr val="accent1"/>
                          </a:solidFill>
                        </a:rPr>
                        <a:t>Look at</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b="1" dirty="0">
                          <a:solidFill>
                            <a:schemeClr val="accent1"/>
                          </a:solidFill>
                        </a:rPr>
                        <a:t>Why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800" dirty="0">
                          <a:solidFill>
                            <a:schemeClr val="bg2"/>
                          </a:solidFill>
                        </a:rPr>
                        <a:t>Parity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docs/PARITY.md, tests/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Re-run the suites on your machine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800" dirty="0">
                          <a:solidFill>
                            <a:schemeClr val="bg2"/>
                          </a:solidFill>
                        </a:rPr>
                        <a:t>Security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docs/PLUGINS.md, docs/DAEMON.md</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Native plugin loading, daemon socket</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800" dirty="0">
                          <a:solidFill>
                            <a:schemeClr val="bg2"/>
                          </a:solidFill>
                        </a:rPr>
                        <a:t>Performance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docs/hot_path_performance.md</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Measured gaps and backlog</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800" dirty="0">
                          <a:solidFill>
                            <a:schemeClr val="bg2"/>
                          </a:solidFill>
                        </a:rPr>
                        <a:t>Energy and hardware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zsh-bench, ps -o rss=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Startup cost, memory, other CPUs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800" dirty="0">
                          <a:solidFill>
                            <a:schemeClr val="bg2"/>
                          </a:solidFill>
                        </a:rPr>
                        <a:t>Compatibility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your own .zshrc</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Does your config load and behave?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fusevm: the engine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engine</a:t>
            </a:r>
            <a:endParaRPr lang="en-US" sz="1200" dirty="0"/>
          </a:p>
        </p:txBody>
      </p:sp>
      <p:sp>
        <p:nvSpPr>
          <p:cNvPr id="5" name="Shape 2"/>
          <p:cNvSpPr/>
          <p:nvPr/>
        </p:nvSpPr>
        <p:spPr>
          <a:xfrm>
            <a:off x="822960" y="1737360"/>
            <a:ext cx="3169920" cy="1645920"/>
          </a:xfrm>
          <a:prstGeom prst="roundRect">
            <a:avLst>
              <a:gd name="adj" fmla="val 6667"/>
            </a:avLst>
          </a:prstGeom>
          <a:solidFill>
            <a:schemeClr val="accent4"/>
          </a:solidFill>
          <a:ln w="12700">
            <a:solidFill>
              <a:schemeClr val="accent4"/>
            </a:solidFill>
            <a:prstDash val="solid"/>
          </a:ln>
        </p:spPr>
      </p:sp>
      <p:sp>
        <p:nvSpPr>
          <p:cNvPr id="6" name="Text 3"/>
          <p:cNvSpPr txBox="1"/>
          <p:nvPr/>
        </p:nvSpPr>
        <p:spPr>
          <a:xfrm>
            <a:off x="105156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Parse</a:t>
            </a:r>
            <a:endParaRPr lang="en-US" sz="2400" dirty="0"/>
          </a:p>
        </p:txBody>
      </p:sp>
      <p:sp>
        <p:nvSpPr>
          <p:cNvPr id="7" name="Text 4"/>
          <p:cNvSpPr txBox="1"/>
          <p:nvPr/>
        </p:nvSpPr>
        <p:spPr>
          <a:xfrm>
            <a:off x="1051560" y="2514600"/>
            <a:ext cx="2712720" cy="777240"/>
          </a:xfrm>
          <a:prstGeom prst="rect">
            <a:avLst/>
          </a:prstGeom>
          <a:noFill/>
          <a:ln/>
        </p:spPr>
        <p:txBody>
          <a:bodyPr wrap="square" lIns="0" tIns="0" rIns="0" bIns="0" rtlCol="0" anchor="t"/>
          <a:lstStyle/>
          <a:p>
            <a:pPr indent="0" marL="0">
              <a:buNone/>
            </a:pPr>
            <a:r>
              <a:rPr lang="en-US" sz="2300" dirty="0">
                <a:solidFill>
                  <a:schemeClr val="bg2"/>
                </a:solidFill>
              </a:rPr>
              <a:t>zsh source to AST</a:t>
            </a:r>
            <a:endParaRPr lang="en-US" sz="2300" dirty="0"/>
          </a:p>
        </p:txBody>
      </p:sp>
      <p:sp>
        <p:nvSpPr>
          <p:cNvPr id="8" name="Shape 5"/>
          <p:cNvSpPr/>
          <p:nvPr/>
        </p:nvSpPr>
        <p:spPr>
          <a:xfrm>
            <a:off x="4056888" y="2377440"/>
            <a:ext cx="384048" cy="365760"/>
          </a:xfrm>
          <a:prstGeom prst="rightArrow">
            <a:avLst/>
          </a:prstGeom>
          <a:solidFill>
            <a:schemeClr val="accent3"/>
          </a:solidFill>
          <a:ln w="12700">
            <a:solidFill>
              <a:schemeClr val="accent3"/>
            </a:solidFill>
            <a:prstDash val="solid"/>
          </a:ln>
        </p:spPr>
      </p:sp>
      <p:sp>
        <p:nvSpPr>
          <p:cNvPr id="9" name="Shape 6"/>
          <p:cNvSpPr/>
          <p:nvPr/>
        </p:nvSpPr>
        <p:spPr>
          <a:xfrm>
            <a:off x="4495800" y="1737360"/>
            <a:ext cx="3169920" cy="1645920"/>
          </a:xfrm>
          <a:prstGeom prst="roundRect">
            <a:avLst>
              <a:gd name="adj" fmla="val 6667"/>
            </a:avLst>
          </a:prstGeom>
          <a:solidFill>
            <a:schemeClr val="accent4"/>
          </a:solidFill>
          <a:ln w="12700">
            <a:solidFill>
              <a:schemeClr val="accent4"/>
            </a:solidFill>
            <a:prstDash val="solid"/>
          </a:ln>
        </p:spPr>
      </p:sp>
      <p:sp>
        <p:nvSpPr>
          <p:cNvPr id="10" name="Text 7"/>
          <p:cNvSpPr txBox="1"/>
          <p:nvPr/>
        </p:nvSpPr>
        <p:spPr>
          <a:xfrm>
            <a:off x="472440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Bytecode</a:t>
            </a:r>
            <a:endParaRPr lang="en-US" sz="2400" dirty="0"/>
          </a:p>
        </p:txBody>
      </p:sp>
      <p:sp>
        <p:nvSpPr>
          <p:cNvPr id="11" name="Text 8"/>
          <p:cNvSpPr txBox="1"/>
          <p:nvPr/>
        </p:nvSpPr>
        <p:spPr>
          <a:xfrm>
            <a:off x="4724400" y="2514600"/>
            <a:ext cx="2712720" cy="777240"/>
          </a:xfrm>
          <a:prstGeom prst="rect">
            <a:avLst/>
          </a:prstGeom>
          <a:noFill/>
          <a:ln/>
        </p:spPr>
        <p:txBody>
          <a:bodyPr wrap="square" lIns="0" tIns="0" rIns="0" bIns="0" rtlCol="0" anchor="t"/>
          <a:lstStyle/>
          <a:p>
            <a:pPr indent="0" marL="0">
              <a:buNone/>
            </a:pPr>
            <a:r>
              <a:rPr lang="en-US" sz="2300" dirty="0">
                <a:solidFill>
                  <a:schemeClr val="bg2"/>
                </a:solidFill>
              </a:rPr>
              <a:t>fused superinstructions</a:t>
            </a:r>
            <a:endParaRPr lang="en-US" sz="2300" dirty="0"/>
          </a:p>
        </p:txBody>
      </p:sp>
      <p:sp>
        <p:nvSpPr>
          <p:cNvPr id="12" name="Shape 9"/>
          <p:cNvSpPr/>
          <p:nvPr/>
        </p:nvSpPr>
        <p:spPr>
          <a:xfrm>
            <a:off x="7729728" y="2377440"/>
            <a:ext cx="384048" cy="365760"/>
          </a:xfrm>
          <a:prstGeom prst="rightArrow">
            <a:avLst/>
          </a:prstGeom>
          <a:solidFill>
            <a:schemeClr val="accent3"/>
          </a:solidFill>
          <a:ln w="12700">
            <a:solidFill>
              <a:schemeClr val="accent3"/>
            </a:solidFill>
            <a:prstDash val="solid"/>
          </a:ln>
        </p:spPr>
      </p:sp>
      <p:sp>
        <p:nvSpPr>
          <p:cNvPr id="13" name="Shape 10"/>
          <p:cNvSpPr/>
          <p:nvPr/>
        </p:nvSpPr>
        <p:spPr>
          <a:xfrm>
            <a:off x="8168640" y="1737360"/>
            <a:ext cx="3169920" cy="1645920"/>
          </a:xfrm>
          <a:prstGeom prst="roundRect">
            <a:avLst>
              <a:gd name="adj" fmla="val 6667"/>
            </a:avLst>
          </a:prstGeom>
          <a:solidFill>
            <a:schemeClr val="accent4"/>
          </a:solidFill>
          <a:ln w="12700">
            <a:solidFill>
              <a:schemeClr val="accent4"/>
            </a:solidFill>
            <a:prstDash val="solid"/>
          </a:ln>
        </p:spPr>
      </p:sp>
      <p:sp>
        <p:nvSpPr>
          <p:cNvPr id="14" name="Text 11"/>
          <p:cNvSpPr txBox="1"/>
          <p:nvPr/>
        </p:nvSpPr>
        <p:spPr>
          <a:xfrm>
            <a:off x="8397240" y="1920240"/>
            <a:ext cx="2712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JIT</a:t>
            </a:r>
            <a:endParaRPr lang="en-US" sz="2400" dirty="0"/>
          </a:p>
        </p:txBody>
      </p:sp>
      <p:sp>
        <p:nvSpPr>
          <p:cNvPr id="15" name="Text 12"/>
          <p:cNvSpPr txBox="1"/>
          <p:nvPr/>
        </p:nvSpPr>
        <p:spPr>
          <a:xfrm>
            <a:off x="8397240" y="2514600"/>
            <a:ext cx="2712720" cy="777240"/>
          </a:xfrm>
          <a:prstGeom prst="rect">
            <a:avLst/>
          </a:prstGeom>
          <a:noFill/>
          <a:ln/>
        </p:spPr>
        <p:txBody>
          <a:bodyPr wrap="square" lIns="0" tIns="0" rIns="0" bIns="0" rtlCol="0" anchor="t"/>
          <a:lstStyle/>
          <a:p>
            <a:pPr indent="0" marL="0">
              <a:buNone/>
            </a:pPr>
            <a:r>
              <a:rPr lang="en-US" sz="1600" dirty="0">
                <a:solidFill>
                  <a:schemeClr val="bg2"/>
                </a:solidFill>
              </a:rPr>
              <a:t>Cranelift, hot blocks to x86-64 / aarch64</a:t>
            </a:r>
            <a:endParaRPr lang="en-US" sz="1600" dirty="0"/>
          </a:p>
        </p:txBody>
      </p:sp>
      <p:sp>
        <p:nvSpPr>
          <p:cNvPr id="16" name="Text 13"/>
          <p:cNvSpPr txBox="1"/>
          <p:nvPr/>
        </p:nvSpPr>
        <p:spPr>
          <a:xfrm>
            <a:off x="822960" y="3840480"/>
            <a:ext cx="10515600" cy="210312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accent4"/>
                </a:solidFill>
              </a:rPr>
              <a:t>Bytecode cached across processes in rkyv images, read by mmap</a:t>
            </a:r>
            <a:endParaRPr lang="en-US" sz="2200" dirty="0"/>
          </a:p>
          <a:p>
            <a:pPr marL="342900" indent="-342900">
              <a:spcAft>
                <a:spcPts val="1000"/>
              </a:spcAft>
              <a:buSzPct val="100000"/>
              <a:buChar char="•"/>
            </a:pPr>
            <a:r>
              <a:rPr lang="en-US" sz="2200" dirty="0">
                <a:solidFill>
                  <a:schemeClr val="accent4"/>
                </a:solidFill>
              </a:rPr>
              <a:t>Native code persisted across launches in a .fjit disk cache</a:t>
            </a:r>
            <a:endParaRPr lang="en-US" sz="2200" dirty="0"/>
          </a:p>
          <a:p>
            <a:pPr marL="342900" indent="-342900">
              <a:spcAft>
                <a:spcPts val="1000"/>
              </a:spcAft>
              <a:buSzPct val="100000"/>
              <a:buChar char="•"/>
            </a:pPr>
            <a:r>
              <a:rPr lang="en-US" sz="2200" dirty="0">
                <a:solidFill>
                  <a:schemeClr val="accent4"/>
                </a:solidFill>
              </a:rPr>
              <a:t>--tiers reports which tier ran each chunk</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Why it matters to you</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measurements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2926080"/>
                <a:gridCol w="3657600"/>
                <a:gridCol w="2011680"/>
                <a:gridCol w="1920240"/>
              </a:tblGrid>
              <a:tr h="731520">
                <a:tc>
                  <a:txBody>
                    <a:bodyPr/>
                    <a:lstStyle/>
                    <a:p>
                      <a:pPr indent="0" marL="0">
                        <a:buNone/>
                      </a:pPr>
                      <a:r>
                        <a:rPr lang="en-US" sz="1900" b="1" dirty="0">
                          <a:solidFill>
                            <a:schemeClr val="accent1"/>
                          </a:solidFill>
                        </a:rPr>
                        <a:t>Measure</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b="1" dirty="0">
                          <a:solidFill>
                            <a:schemeClr val="accent1"/>
                          </a:solidFill>
                        </a:rPr>
                        <a:t>What it is</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b="1" dirty="0">
                          <a:solidFill>
                            <a:schemeClr val="accent1"/>
                          </a:solidFill>
                        </a:rPr>
                        <a:t>Target</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b="1" dirty="0">
                          <a:solidFill>
                            <a:schemeClr val="accent1"/>
                          </a:solidFill>
                        </a:rPr>
                        <a:t>Measured</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900" dirty="0">
                          <a:solidFill>
                            <a:schemeClr val="bg2"/>
                          </a:solidFill>
                        </a:rPr>
                        <a:t>Prompt appears</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Open terminal to prompt</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50 ms or less</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[measure]</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900" dirty="0">
                          <a:solidFill>
                            <a:schemeClr val="bg2"/>
                          </a:solidFill>
                        </a:rPr>
                        <a:t>Ready to run</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Until first command runs</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150 ms or less</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[measure]</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900" dirty="0">
                          <a:solidFill>
                            <a:schemeClr val="bg2"/>
                          </a:solidFill>
                        </a:rPr>
                        <a:t>Enter to next prompt</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Delay after Enter</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10 ms or less</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[measure]</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900" dirty="0">
                          <a:solidFill>
                            <a:schemeClr val="bg2"/>
                          </a:solidFill>
                        </a:rPr>
                        <a:t>Typing delay</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Key press to screen</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20 ms or less</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[measure]</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1900" dirty="0">
                          <a:solidFill>
                            <a:schemeClr val="bg2"/>
                          </a:solidFill>
                        </a:rPr>
                        <a:t>Memory per shell</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latin typeface="Courier New" pitchFamily="34" charset="0"/>
                          <a:ea typeface="Courier New" pitchFamily="34" charset="-122"/>
                          <a:cs typeface="Courier New" pitchFamily="34" charset="-120"/>
                        </a:rPr>
                        <a:t>ps -o rss= -p $$</a:t>
                      </a:r>
                      <a:endParaRPr lang="en-US" sz="1900" dirty="0">
                        <a:latin typeface="Courier New" charset="0"/>
                        <a:ea typeface="Courier New" charset="0"/>
                        <a:cs typeface="Courier New" charset="0"/>
                      </a:endParaRPr>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[target]</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900" dirty="0">
                          <a:solidFill>
                            <a:schemeClr val="bg2"/>
                          </a:solidFill>
                        </a:rPr>
                        <a:t>[measure]</a:t>
                      </a:r>
                      <a:endParaRPr lang="en-US" sz="19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Measure it yourself</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measure it</a:t>
            </a:r>
            <a:endParaRPr lang="en-US" sz="1200" dirty="0"/>
          </a:p>
        </p:txBody>
      </p:sp>
      <p:sp>
        <p:nvSpPr>
          <p:cNvPr id="5" name="Shape 2"/>
          <p:cNvSpPr/>
          <p:nvPr/>
        </p:nvSpPr>
        <p:spPr>
          <a:xfrm>
            <a:off x="822960" y="1737360"/>
            <a:ext cx="10515600" cy="1513840"/>
          </a:xfrm>
          <a:prstGeom prst="roundRect">
            <a:avLst>
              <a:gd name="adj" fmla="val 7248"/>
            </a:avLst>
          </a:prstGeom>
          <a:solidFill>
            <a:schemeClr val="accent4"/>
          </a:solidFill>
          <a:ln w="12700">
            <a:solidFill>
              <a:srgbClr val="2C3844"/>
            </a:solidFill>
            <a:prstDash val="solid"/>
          </a:ln>
        </p:spPr>
      </p:sp>
      <p:sp>
        <p:nvSpPr>
          <p:cNvPr id="6" name="Text 3"/>
          <p:cNvSpPr txBox="1"/>
          <p:nvPr/>
        </p:nvSpPr>
        <p:spPr>
          <a:xfrm>
            <a:off x="1143000" y="1965960"/>
            <a:ext cx="9875520" cy="105664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zsh-bench</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ps -o rss= -p $$</a:t>
            </a:r>
            <a:endParaRPr lang="en-US" sz="2600" dirty="0"/>
          </a:p>
        </p:txBody>
      </p:sp>
      <p:sp>
        <p:nvSpPr>
          <p:cNvPr id="7" name="Text 4"/>
          <p:cNvSpPr txBox="1"/>
          <p:nvPr/>
        </p:nvSpPr>
        <p:spPr>
          <a:xfrm>
            <a:off x="822960" y="3749040"/>
            <a:ext cx="10515600" cy="2011680"/>
          </a:xfrm>
          <a:prstGeom prst="rect">
            <a:avLst/>
          </a:prstGeom>
          <a:noFill/>
          <a:ln/>
        </p:spPr>
        <p:txBody>
          <a:bodyPr wrap="square" lIns="0" tIns="0" rIns="0" bIns="0" rtlCol="0" anchor="t"/>
          <a:lstStyle/>
          <a:p>
            <a:pPr marL="342900" indent="-342900">
              <a:spcAft>
                <a:spcPts val="1000"/>
              </a:spcAft>
              <a:buSzPct val="100000"/>
              <a:buChar char="•"/>
            </a:pPr>
            <a:r>
              <a:rPr lang="en-US" sz="2600" dirty="0">
                <a:solidFill>
                  <a:schemeClr val="accent4"/>
                </a:solidFill>
              </a:rPr>
              <a:t>zsh-bench reports prompt, first command, Enter-to-prompt and typing delay together</a:t>
            </a:r>
            <a:endParaRPr lang="en-US" sz="2600" dirty="0"/>
          </a:p>
          <a:p>
            <a:pPr marL="342900" indent="-342900">
              <a:spcAft>
                <a:spcPts val="1000"/>
              </a:spcAft>
              <a:buSzPct val="100000"/>
              <a:buChar char="•"/>
            </a:pPr>
            <a:r>
              <a:rPr lang="en-US" sz="2600" dirty="0">
                <a:solidFill>
                  <a:schemeClr val="accent4"/>
                </a:solidFill>
              </a:rPr>
              <a:t>RSS in KB for the current shell</a:t>
            </a:r>
            <a:endParaRPr lang="en-US" sz="2600" dirty="0"/>
          </a:p>
          <a:p>
            <a:pPr marL="342900" indent="-342900">
              <a:spcAft>
                <a:spcPts val="1000"/>
              </a:spcAft>
              <a:buSzPct val="100000"/>
              <a:buChar char="•"/>
            </a:pPr>
            <a:r>
              <a:rPr lang="en-US" sz="2600" dirty="0">
                <a:solidFill>
                  <a:schemeClr val="accent4"/>
                </a:solidFill>
              </a:rPr>
              <a:t>Post your numbers as an issue</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01 · Bytecode, JIT, persisted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1</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Every command, script, function and sourced file lowers to fusevm bytecode. Hot blocks go through Cranelift to native code.</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Fused superinstructions</a:t>
            </a:r>
            <a:endParaRPr lang="en-US" sz="3000" dirty="0"/>
          </a:p>
          <a:p>
            <a:pPr marL="342900" indent="-342900">
              <a:spcAft>
                <a:spcPts val="1000"/>
              </a:spcAft>
              <a:buSzPct val="100000"/>
              <a:buChar char="•"/>
            </a:pPr>
            <a:r>
              <a:rPr lang="en-US" sz="3000" dirty="0">
                <a:solidFill>
                  <a:schemeClr val="bg2"/>
                </a:solidFill>
              </a:rPr>
              <a:t>Bytecode persisted across processes in rkyv images</a:t>
            </a:r>
            <a:endParaRPr lang="en-US" sz="3000" dirty="0"/>
          </a:p>
          <a:p>
            <a:pPr marL="342900" indent="-342900">
              <a:spcAft>
                <a:spcPts val="1000"/>
              </a:spcAft>
              <a:buSzPct val="100000"/>
              <a:buChar char="•"/>
            </a:pPr>
            <a:r>
              <a:rPr lang="en-US" sz="3000" dirty="0">
                <a:solidFill>
                  <a:schemeClr val="bg2"/>
                </a:solidFill>
              </a:rPr>
              <a:t>x86-64 and aarch64</a:t>
            </a:r>
            <a:endParaRPr lang="en-US" sz="30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Nushell reached bytecode first but interprets it, rebuilds it per parse and drops it at exit. zsh's .zwc is wordcode for zsh's own interpreter.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02 · Native code kept across launches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2</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A .fjit disk cache keeps JIT output warm between shell invocations, so hot chunks are not recompiled per process.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Blobs named by op hash: {op_hash}.fjit</a:t>
            </a:r>
            <a:endParaRPr lang="en-US" sz="2400" dirty="0"/>
          </a:p>
          <a:p>
            <a:pPr marL="342900" indent="-342900">
              <a:spcAft>
                <a:spcPts val="1000"/>
              </a:spcAft>
              <a:buSzPct val="100000"/>
              <a:buChar char="•"/>
            </a:pPr>
            <a:r>
              <a:rPr lang="en-US" sz="2400" dirty="0">
                <a:solidFill>
                  <a:schemeClr val="bg2"/>
                </a:solidFill>
              </a:rPr>
              <a:t>Slot kinds are part of the cache key</a:t>
            </a:r>
            <a:endParaRPr lang="en-US" sz="2400" dirty="0"/>
          </a:p>
          <a:p>
            <a:pPr marL="342900" indent="-342900">
              <a:spcAft>
                <a:spcPts val="1000"/>
              </a:spcAft>
              <a:buSzPct val="100000"/>
              <a:buChar char="•"/>
            </a:pPr>
            <a:r>
              <a:rPr lang="en-US" sz="2400" dirty="0">
                <a:solidFill>
                  <a:schemeClr val="bg2"/>
                </a:solidFill>
              </a:rPr>
              <a:t>Float-specialised code is never reused for an integer slot</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Managed runtimes have done this for years: Android ART .oat, .NET ReadyToRun, JVM AppCDS. No shell had.</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03 · AOT for the completion corpus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3</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--prewarm-autoloads compiles every $fpath directory, so a fresh install's first TAB is a shard probe rather than a parse.</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Key: fpath dir + SHA-256 of the definition + compiler identity</a:t>
            </a:r>
            <a:endParaRPr lang="en-US" sz="2000" dirty="0"/>
          </a:p>
          <a:p>
            <a:pPr marL="342900" indent="-342900">
              <a:spcAft>
                <a:spcPts val="1000"/>
              </a:spcAft>
              <a:buSzPct val="100000"/>
              <a:buChar char="•"/>
            </a:pPr>
            <a:r>
              <a:rPr lang="en-US" sz="2000" dirty="0">
                <a:solidFill>
                  <a:schemeClr val="bg2"/>
                </a:solidFill>
              </a:rPr>
              <a:t>Bypassed for ksh_autoload and autoload without -U</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Nix, ccache and Bazel hash the compiler into the key. No shell cache does.</a:t>
            </a:r>
            <a:endParaRPr lang="en-US" sz="1700" dirty="0"/>
          </a:p>
        </p:txBody>
      </p:sp>
      <p:sp>
        <p:nvSpPr>
          <p:cNvPr id="10" name="Shape 7"/>
          <p:cNvSpPr/>
          <p:nvPr/>
        </p:nvSpPr>
        <p:spPr>
          <a:xfrm>
            <a:off x="822960" y="4434840"/>
            <a:ext cx="10515600" cy="1351280"/>
          </a:xfrm>
          <a:prstGeom prst="roundRect">
            <a:avLst>
              <a:gd name="adj" fmla="val 8120"/>
            </a:avLst>
          </a:prstGeom>
          <a:solidFill>
            <a:schemeClr val="tx2"/>
          </a:solidFill>
          <a:ln w="12700">
            <a:solidFill>
              <a:srgbClr val="2C3844"/>
            </a:solidFill>
            <a:prstDash val="solid"/>
          </a:ln>
        </p:spPr>
      </p:sp>
      <p:sp>
        <p:nvSpPr>
          <p:cNvPr id="11" name="Text 8"/>
          <p:cNvSpPr txBox="1"/>
          <p:nvPr/>
        </p:nvSpPr>
        <p:spPr>
          <a:xfrm>
            <a:off x="1143000" y="4663440"/>
            <a:ext cx="9875520" cy="894080"/>
          </a:xfrm>
          <a:prstGeom prst="rect">
            <a:avLst/>
          </a:prstGeom>
          <a:noFill/>
          <a:ln/>
        </p:spPr>
        <p:txBody>
          <a:bodyPr wrap="square" lIns="0" tIns="0" rIns="0" bIns="0" rtlCol="0" anchor="t"/>
          <a:lstStyle/>
          <a:p>
            <a:pPr indent="0" marL="0">
              <a:lnSpc>
                <a:spcPct val="125000"/>
              </a:lnSpc>
              <a:buNone/>
            </a:pPr>
            <a:r>
              <a:rPr lang="en-US" sz="2200" dirty="0">
                <a:solidFill>
                  <a:schemeClr val="accent1"/>
                </a:solidFill>
                <a:latin typeface="Courier New" pitchFamily="34" charset="0"/>
                <a:ea typeface="Courier New" pitchFamily="34" charset="-122"/>
                <a:cs typeface="Courier New" pitchFamily="34" charset="-120"/>
              </a:rPr>
              <a:t>zshrs --prewarm-autoloads            # every dir on $fpath</a:t>
            </a:r>
            <a:endParaRPr lang="en-US" sz="2200" dirty="0"/>
          </a:p>
          <a:p>
            <a:pPr indent="0" marL="0">
              <a:lnSpc>
                <a:spcPct val="125000"/>
              </a:lnSpc>
              <a:buNone/>
            </a:pPr>
            <a:r>
              <a:rPr lang="en-US" sz="2200" dirty="0">
                <a:solidFill>
                  <a:schemeClr val="accent1"/>
                </a:solidFill>
                <a:latin typeface="Courier New" pitchFamily="34" charset="0"/>
                <a:ea typeface="Courier New" pitchFamily="34" charset="-122"/>
                <a:cs typeface="Courier New" pitchFamily="34" charset="-120"/>
              </a:rPr>
              <a:t>zshrs --prewarm-autoloads DIR ...    # just these</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04 · JIT tier introspection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4</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--tiers runs a script, then reports which tier took each chunk and, for chunks that reached neither, which op kinds blocked them.</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Answers why a loop stayed interpreted</a:t>
            </a:r>
            <a:endParaRPr lang="en-US" sz="2000" dirty="0"/>
          </a:p>
          <a:p>
            <a:pPr marL="342900" indent="-342900">
              <a:spcAft>
                <a:spcPts val="1000"/>
              </a:spcAft>
              <a:buSzPct val="100000"/>
              <a:buChar char="•"/>
            </a:pPr>
            <a:r>
              <a:rPr lang="en-US" sz="2000" dirty="0">
                <a:solidFill>
                  <a:schemeClr val="bg2"/>
                </a:solidFill>
              </a:rPr>
              <a:t>Uses fusevm's own eligibility predicates</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Compilers have had optimisation remarks for years. A shell explaining its own tiering is new.</a:t>
            </a:r>
            <a:endParaRPr lang="en-US" sz="1700" dirty="0"/>
          </a:p>
        </p:txBody>
      </p:sp>
      <p:sp>
        <p:nvSpPr>
          <p:cNvPr id="10" name="Shape 7"/>
          <p:cNvSpPr/>
          <p:nvPr/>
        </p:nvSpPr>
        <p:spPr>
          <a:xfrm>
            <a:off x="822960" y="4434840"/>
            <a:ext cx="10515600" cy="985520"/>
          </a:xfrm>
          <a:prstGeom prst="roundRect">
            <a:avLst>
              <a:gd name="adj" fmla="val 11134"/>
            </a:avLst>
          </a:prstGeom>
          <a:solidFill>
            <a:schemeClr val="tx2"/>
          </a:solidFill>
          <a:ln w="12700">
            <a:solidFill>
              <a:srgbClr val="2C3844"/>
            </a:solidFill>
            <a:prstDash val="solid"/>
          </a:ln>
        </p:spPr>
      </p:sp>
      <p:sp>
        <p:nvSpPr>
          <p:cNvPr id="11" name="Text 8"/>
          <p:cNvSpPr txBox="1"/>
          <p:nvPr/>
        </p:nvSpPr>
        <p:spPr>
          <a:xfrm>
            <a:off x="1143000" y="4663440"/>
            <a:ext cx="9875520" cy="52832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--tiers script.zsh</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05 · The anti-fork architecture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5</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A persistent pool of 2 to 18 threads takes command substitution, process substitution, globbing, completion and autoloading.</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48 coreutils commands run in-process</a:t>
            </a:r>
            <a:endParaRPr lang="en-US" sz="3000" dirty="0"/>
          </a:p>
          <a:p>
            <a:pPr marL="342900" indent="-342900">
              <a:spcAft>
                <a:spcPts val="1000"/>
              </a:spcAft>
              <a:buSzPct val="100000"/>
              <a:buChar char="•"/>
            </a:pPr>
            <a:r>
              <a:rPr lang="en-US" sz="3000" dirty="0">
                <a:solidFill>
                  <a:schemeClr val="bg2"/>
                </a:solidFill>
              </a:rPr>
              <a:t>A cat in a pipeline never leaves the shell</a:t>
            </a:r>
            <a:endParaRPr lang="en-US" sz="30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"A fork() in the road" (HotOS 2019), applied to a shell. The quoted 2000 to 5000x is a fixed cost disappearing, not a benchmark.</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06 · Parallelism as grammar</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6</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pmap, pgrep, peach, barrier, async and await are shell builtins. The body compiles once and runs on pooled VMs with zero forks.</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VM dispatch ids 210 to 215</a:t>
            </a:r>
            <a:endParaRPr lang="en-US" sz="3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make -j, xargs -P and GNU parallel all sit outside the shell language.</a:t>
            </a:r>
            <a:endParaRPr lang="en-US" sz="1700" dirty="0"/>
          </a:p>
        </p:txBody>
      </p:sp>
      <p:sp>
        <p:nvSpPr>
          <p:cNvPr id="10" name="Shape 7"/>
          <p:cNvSpPr/>
          <p:nvPr/>
        </p:nvSpPr>
        <p:spPr>
          <a:xfrm>
            <a:off x="822960" y="4434840"/>
            <a:ext cx="10515600" cy="2042160"/>
          </a:xfrm>
          <a:prstGeom prst="roundRect">
            <a:avLst>
              <a:gd name="adj" fmla="val 5373"/>
            </a:avLst>
          </a:prstGeom>
          <a:solidFill>
            <a:schemeClr val="tx2"/>
          </a:solidFill>
          <a:ln w="12700">
            <a:solidFill>
              <a:srgbClr val="2C3844"/>
            </a:solidFill>
            <a:prstDash val="solid"/>
          </a:ln>
        </p:spPr>
      </p:sp>
      <p:sp>
        <p:nvSpPr>
          <p:cNvPr id="11" name="Text 8"/>
          <p:cNvSpPr txBox="1"/>
          <p:nvPr/>
        </p:nvSpPr>
        <p:spPr>
          <a:xfrm>
            <a:off x="1143000" y="4663440"/>
            <a:ext cx="9875520" cy="158496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pmap 'gzip {}' *.log</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pgrep 'grep -q TODO {}' **/*.rs</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barrier 'npm test' ::: 'cargo test' ::: 'pytest'</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07 · Recorder owns the rebuild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7</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A separate binary sources your real login chain while AOP interception records every state-mutating command.</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alias, function, export, fpath, hash -d, zstyle, bindkey, compdef, zmodload, setopt, trap, sched, source</a:t>
            </a:r>
            <a:endParaRPr lang="en-US" sz="2400" dirty="0"/>
          </a:p>
          <a:p>
            <a:pPr marL="342900" indent="-342900">
              <a:spcAft>
                <a:spcPts val="1000"/>
              </a:spcAft>
              <a:buSzPct val="100000"/>
              <a:buChar char="•"/>
            </a:pPr>
            <a:r>
              <a:rPr lang="en-US" sz="2400" dirty="0">
                <a:solidFill>
                  <a:schemeClr val="accent4"/>
                </a:solidFill>
              </a:rPr>
              <a:t>Records kind, name, value, file, line and call chain</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Other shells discover your config by static walking and hoping the parse matches. This is the DTrace insight applied to configuration.</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08 · Cacheable config versus replayed config</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8</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Everything the recorder can prove is a pure function of your dotfiles folds into the canonical shard and is skipped at startup.</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accent4"/>
                </a:solidFill>
              </a:rPr>
              <a:t>replay/ holds the non-deterministic .zshrc fragments</a:t>
            </a:r>
            <a:endParaRPr lang="en-US" sz="3000" dirty="0"/>
          </a:p>
          <a:p>
            <a:pPr marL="342900" indent="-342900">
              <a:spcAft>
                <a:spcPts val="1000"/>
              </a:spcAft>
              <a:buSzPct val="100000"/>
              <a:buChar char="•"/>
            </a:pPr>
            <a:r>
              <a:rPr lang="en-US" sz="3000" dirty="0">
                <a:solidFill>
                  <a:schemeClr val="accent4"/>
                </a:solidFill>
              </a:rPr>
              <a:t>The rest is replayed</a:t>
            </a:r>
            <a:endParaRPr lang="en-US" sz="30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Purity analysis on shell configuration is the idea under the cold-start number.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09 · Singleton daemon, stateless clients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9</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One daemon owns canonical state, fsnotify, scheduling, jobs, locks, cache and history. Shells are stateless, forkable clients.</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500" dirty="0">
                <a:solidFill>
                  <a:schemeClr val="accent4"/>
                </a:solidFill>
              </a:rPr>
              <a:t>No shared writer, no auto-spawn</a:t>
            </a:r>
            <a:endParaRPr lang="en-US" sz="2500" dirty="0"/>
          </a:p>
          <a:p>
            <a:pPr marL="342900" indent="-342900">
              <a:spcAft>
                <a:spcPts val="1000"/>
              </a:spcAft>
              <a:buSzPct val="100000"/>
              <a:buChar char="•"/>
            </a:pPr>
            <a:r>
              <a:rPr lang="en-US" sz="2500" dirty="0">
                <a:solidFill>
                  <a:schemeClr val="accent4"/>
                </a:solidFill>
              </a:rPr>
              <a:t>Shells read caches by mmap</a:t>
            </a:r>
            <a:endParaRPr lang="en-US" sz="25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The emacsclient, Nailgun and LSP pattern. Applying it to a shell's own state is new.</a:t>
            </a:r>
            <a:endParaRPr lang="en-US" sz="1700" dirty="0"/>
          </a:p>
        </p:txBody>
      </p:sp>
      <p:sp>
        <p:nvSpPr>
          <p:cNvPr id="10" name="Shape 7"/>
          <p:cNvSpPr/>
          <p:nvPr/>
        </p:nvSpPr>
        <p:spPr>
          <a:xfrm>
            <a:off x="822960" y="4434840"/>
            <a:ext cx="10515600" cy="1920240"/>
          </a:xfrm>
          <a:prstGeom prst="roundRect">
            <a:avLst>
              <a:gd name="adj" fmla="val 5714"/>
            </a:avLst>
          </a:prstGeom>
          <a:solidFill>
            <a:schemeClr val="accent4"/>
          </a:solidFill>
          <a:ln w="12700">
            <a:solidFill>
              <a:srgbClr val="2C3844"/>
            </a:solidFill>
            <a:prstDash val="solid"/>
          </a:ln>
        </p:spPr>
      </p:sp>
      <p:sp>
        <p:nvSpPr>
          <p:cNvPr id="11" name="Text 8"/>
          <p:cNvSpPr txBox="1"/>
          <p:nvPr/>
        </p:nvSpPr>
        <p:spPr>
          <a:xfrm>
            <a:off x="1143000" y="4663440"/>
            <a:ext cx="9875520" cy="1463040"/>
          </a:xfrm>
          <a:prstGeom prst="rect">
            <a:avLst/>
          </a:prstGeom>
          <a:noFill/>
          <a:ln/>
        </p:spPr>
        <p:txBody>
          <a:bodyPr wrap="square" lIns="0" tIns="0" rIns="0" bIns="0" rtlCol="0" anchor="t"/>
          <a:lstStyle/>
          <a:p>
            <a:pPr indent="0" marL="0">
              <a:lnSpc>
                <a:spcPct val="125000"/>
              </a:lnSpc>
              <a:buNone/>
            </a:pPr>
            <a:r>
              <a:rPr lang="en-US" sz="2400" dirty="0">
                <a:solidFill>
                  <a:schemeClr val="accent1"/>
                </a:solidFill>
                <a:latin typeface="Courier New" pitchFamily="34" charset="0"/>
                <a:ea typeface="Courier New" pitchFamily="34" charset="-122"/>
                <a:cs typeface="Courier New" pitchFamily="34" charset="-120"/>
              </a:rPr>
              <a:t>zd daemon status</a:t>
            </a:r>
            <a:endParaRPr lang="en-US" sz="2400" dirty="0"/>
          </a:p>
          <a:p>
            <a:pPr indent="0" marL="0">
              <a:lnSpc>
                <a:spcPct val="125000"/>
              </a:lnSpc>
              <a:buNone/>
            </a:pPr>
            <a:r>
              <a:rPr lang="en-US" sz="2400" dirty="0">
                <a:solidFill>
                  <a:schemeClr val="accent1"/>
                </a:solidFill>
                <a:latin typeface="Courier New" pitchFamily="34" charset="0"/>
                <a:ea typeface="Courier New" pitchFamily="34" charset="-122"/>
                <a:cs typeface="Courier New" pitchFamily="34" charset="-120"/>
              </a:rPr>
              <a:t>zd daemon start     # idempotent</a:t>
            </a:r>
            <a:endParaRPr lang="en-US" sz="2400" dirty="0"/>
          </a:p>
          <a:p>
            <a:pPr indent="0" marL="0">
              <a:lnSpc>
                <a:spcPct val="125000"/>
              </a:lnSpc>
              <a:buNone/>
            </a:pPr>
            <a:r>
              <a:rPr lang="en-US" sz="2400" dirty="0">
                <a:solidFill>
                  <a:schemeClr val="accent1"/>
                </a:solidFill>
                <a:latin typeface="Courier New" pitchFamily="34" charset="0"/>
                <a:ea typeface="Courier New" pitchFamily="34" charset="-122"/>
                <a:cs typeface="Courier New" pitchFamily="34" charset="-120"/>
              </a:rPr>
              <a:t>zd daemon stop      # returns once the socket is gone</a:t>
            </a:r>
            <a:endParaRPr lang="en-US" sz="24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10 · Supervised jobs with pty attach</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10</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zjob submit --pty runs the child on a pseudo-terminal under the daemon. Attach later from any terminal.</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500" dirty="0">
                <a:solidFill>
                  <a:schemeClr val="accent4"/>
                </a:solidFill>
              </a:rPr>
              <a:t>Attach puts your terminal in raw mode and forwards SIGWINCH</a:t>
            </a:r>
            <a:endParaRPr lang="en-US" sz="2500" dirty="0"/>
          </a:p>
          <a:p>
            <a:pPr marL="342900" indent="-342900">
              <a:spcAft>
                <a:spcPts val="1000"/>
              </a:spcAft>
              <a:buSzPct val="100000"/>
              <a:buChar char="•"/>
            </a:pPr>
            <a:r>
              <a:rPr lang="en-US" sz="2500" dirty="0">
                <a:solidFill>
                  <a:schemeClr val="accent4"/>
                </a:solidFill>
              </a:rPr>
              <a:t>Detach with Ctrl-]</a:t>
            </a:r>
            <a:endParaRPr lang="en-US" sz="2500" dirty="0"/>
          </a:p>
          <a:p>
            <a:pPr marL="342900" indent="-342900">
              <a:spcAft>
                <a:spcPts val="1000"/>
              </a:spcAft>
              <a:buSzPct val="100000"/>
              <a:buChar char="•"/>
            </a:pPr>
            <a:r>
              <a:rPr lang="en-US" sz="2500" dirty="0">
                <a:solidFill>
                  <a:schemeClr val="accent4"/>
                </a:solidFill>
              </a:rPr>
              <a:t>Solves a background job blocked on a prompt you cannot see</a:t>
            </a:r>
            <a:endParaRPr lang="en-US" sz="25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Collapses nohup, screen, pueue and disown into one primitive.</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11 · Pub/sub and named locks as builtins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11</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zsubscribe, zpublish and zlock route through the daemon between shells.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accent4"/>
                </a:solidFill>
              </a:rPr>
              <a:t>Release requires the original token</a:t>
            </a:r>
            <a:endParaRPr lang="en-US" sz="3000" dirty="0"/>
          </a:p>
          <a:p>
            <a:pPr marL="342900" indent="-342900">
              <a:spcAft>
                <a:spcPts val="1000"/>
              </a:spcAft>
              <a:buSzPct val="100000"/>
              <a:buChar char="•"/>
            </a:pPr>
            <a:r>
              <a:rPr lang="en-US" sz="3000" dirty="0">
                <a:solidFill>
                  <a:schemeClr val="accent4"/>
                </a:solidFill>
              </a:rPr>
              <a:t>A dead shell cannot free someone else's lock</a:t>
            </a:r>
            <a:endParaRPr lang="en-US" sz="30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Replaces hand-glued flock, socat and FIFOs.</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ZLE config section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README</a:t>
            </a:r>
            <a:endParaRPr lang="en-US" sz="1200" dirty="0"/>
          </a:p>
        </p:txBody>
      </p:sp>
      <p:sp>
        <p:nvSpPr>
          <p:cNvPr id="5" name="Shape 2"/>
          <p:cNvSpPr/>
          <p:nvPr/>
        </p:nvSpPr>
        <p:spPr>
          <a:xfrm>
            <a:off x="822960" y="1737360"/>
            <a:ext cx="5303520" cy="3627120"/>
          </a:xfrm>
          <a:prstGeom prst="roundRect">
            <a:avLst>
              <a:gd name="adj" fmla="val 3025"/>
            </a:avLst>
          </a:prstGeom>
          <a:solidFill>
            <a:schemeClr val="tx2"/>
          </a:solidFill>
          <a:ln w="12700">
            <a:solidFill>
              <a:srgbClr val="2C3844"/>
            </a:solidFill>
            <a:prstDash val="solid"/>
          </a:ln>
        </p:spPr>
      </p:sp>
      <p:sp>
        <p:nvSpPr>
          <p:cNvPr id="6" name="Text 3"/>
          <p:cNvSpPr txBox="1"/>
          <p:nvPr/>
        </p:nvSpPr>
        <p:spPr>
          <a:xfrm>
            <a:off x="1143000" y="1965960"/>
            <a:ext cx="4663440" cy="3169920"/>
          </a:xfrm>
          <a:prstGeom prst="rect">
            <a:avLst/>
          </a:prstGeom>
          <a:noFill/>
          <a:ln/>
        </p:spPr>
        <p:txBody>
          <a:bodyPr wrap="square" lIns="0" tIns="0" rIns="0" bIns="0" rtlCol="0" anchor="t"/>
          <a:lstStyle/>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 ~/.zshrs/zshrs.toml</a:t>
            </a:r>
            <a:endParaRPr lang="en-US" sz="2600" dirty="0"/>
          </a:p>
          <a:p>
            <a:pPr indent="0" marL="0">
              <a:lnSpc>
                <a:spcPct val="125000"/>
              </a:lnSpc>
              <a:buNone/>
            </a:pPr>
            <a:r>
              <a:rPr lang="en-US" sz="2600" dirty="0">
                <a:solidFill>
                  <a:schemeClr val="accent3"/>
                </a:solidFill>
                <a:latin typeface="Courier New" pitchFamily="34" charset="0"/>
                <a:ea typeface="Courier New" pitchFamily="34" charset="-122"/>
                <a:cs typeface="Courier New" pitchFamily="34" charset="-120"/>
              </a:rPr>
              <a:t>[zle]</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autosuggest = true</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syntax_highlight = true</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history_search = true</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autopair = true</a:t>
            </a:r>
            <a:endParaRPr lang="en-US" sz="2600" dirty="0"/>
          </a:p>
        </p:txBody>
      </p:sp>
      <p:sp>
        <p:nvSpPr>
          <p:cNvPr id="7" name="Shape 4"/>
          <p:cNvSpPr/>
          <p:nvPr/>
        </p:nvSpPr>
        <p:spPr>
          <a:xfrm>
            <a:off x="6400800" y="1737360"/>
            <a:ext cx="4937760" cy="3931920"/>
          </a:xfrm>
          <a:prstGeom prst="roundRect">
            <a:avLst>
              <a:gd name="adj" fmla="val 2791"/>
            </a:avLst>
          </a:prstGeom>
          <a:solidFill>
            <a:schemeClr val="tx2"/>
          </a:solidFill>
          <a:ln w="12700">
            <a:solidFill>
              <a:srgbClr val="2C3844"/>
            </a:solidFill>
            <a:prstDash val="solid"/>
          </a:ln>
        </p:spPr>
      </p:sp>
      <p:sp>
        <p:nvSpPr>
          <p:cNvPr id="8" name="Text 5"/>
          <p:cNvSpPr txBox="1"/>
          <p:nvPr/>
        </p:nvSpPr>
        <p:spPr>
          <a:xfrm>
            <a:off x="6675120" y="1965960"/>
            <a:ext cx="438912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Switches</a:t>
            </a:r>
            <a:endParaRPr lang="en-US" sz="2600" dirty="0"/>
          </a:p>
        </p:txBody>
      </p:sp>
      <p:sp>
        <p:nvSpPr>
          <p:cNvPr id="9" name="Text 6"/>
          <p:cNvSpPr txBox="1"/>
          <p:nvPr/>
        </p:nvSpPr>
        <p:spPr>
          <a:xfrm>
            <a:off x="6675120" y="2560320"/>
            <a:ext cx="4389120" cy="2880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chemeClr val="bg2"/>
                </a:solidFill>
              </a:rPr>
              <a:t>Per feature: set false to opt out</a:t>
            </a:r>
            <a:endParaRPr lang="en-US" sz="1900" dirty="0"/>
          </a:p>
          <a:p>
            <a:pPr marL="342900" indent="-342900">
              <a:spcAft>
                <a:spcPts val="800"/>
              </a:spcAft>
              <a:buSzPct val="100000"/>
              <a:buChar char="•"/>
            </a:pPr>
            <a:r>
              <a:rPr lang="en-US" sz="1900" dirty="0">
                <a:solidFill>
                  <a:schemeClr val="bg2"/>
                </a:solidFill>
              </a:rPr>
              <a:t>ZSHRS_NATIVE_ZLE_FX=0 disables all</a:t>
            </a:r>
            <a:endParaRPr lang="en-US" sz="1900" dirty="0"/>
          </a:p>
          <a:p>
            <a:pPr marL="342900" indent="-342900">
              <a:spcAft>
                <a:spcPts val="800"/>
              </a:spcAft>
              <a:buSzPct val="100000"/>
              <a:buChar char="•"/>
            </a:pPr>
            <a:r>
              <a:rPr lang="en-US" sz="1900" dirty="0">
                <a:solidFill>
                  <a:schemeClr val="bg2"/>
                </a:solidFill>
              </a:rPr>
              <a:t>Bare zshrs -f stays identical to zsh -f</a:t>
            </a:r>
            <a:endParaRPr lang="en-US" sz="1900" dirty="0"/>
          </a:p>
          <a:p>
            <a:pPr marL="342900" indent="-342900">
              <a:spcAft>
                <a:spcPts val="800"/>
              </a:spcAft>
              <a:buSzPct val="100000"/>
              <a:buChar char="•"/>
            </a:pPr>
            <a:r>
              <a:rPr lang="en-US" sz="1900" dirty="0">
                <a:solidFill>
                  <a:schemeClr val="bg2"/>
                </a:solidFill>
              </a:rPr>
              <a:t>193 ZLE widgets registered</a:t>
            </a:r>
            <a:endParaRPr lang="en-US" sz="19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four engines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README</a:t>
            </a:r>
            <a:endParaRPr lang="en-US" sz="1200" dirty="0"/>
          </a:p>
        </p:txBody>
      </p:sp>
      <p:sp>
        <p:nvSpPr>
          <p:cNvPr id="5" name="Shape 2"/>
          <p:cNvSpPr/>
          <p:nvPr/>
        </p:nvSpPr>
        <p:spPr>
          <a:xfrm>
            <a:off x="822960" y="1737360"/>
            <a:ext cx="2514600" cy="3840480"/>
          </a:xfrm>
          <a:prstGeom prst="roundRect">
            <a:avLst>
              <a:gd name="adj" fmla="val 4364"/>
            </a:avLst>
          </a:prstGeom>
          <a:solidFill>
            <a:schemeClr val="tx2"/>
          </a:solidFill>
          <a:ln w="12700">
            <a:solidFill>
              <a:srgbClr val="2C3844"/>
            </a:solidFill>
            <a:prstDash val="solid"/>
          </a:ln>
        </p:spPr>
      </p:sp>
      <p:sp>
        <p:nvSpPr>
          <p:cNvPr id="6" name="Text 3"/>
          <p:cNvSpPr txBox="1"/>
          <p:nvPr/>
        </p:nvSpPr>
        <p:spPr>
          <a:xfrm>
            <a:off x="1097280" y="1965960"/>
            <a:ext cx="1965960" cy="457200"/>
          </a:xfrm>
          <a:prstGeom prst="rect">
            <a:avLst/>
          </a:prstGeom>
          <a:noFill/>
          <a:ln/>
        </p:spPr>
        <p:txBody>
          <a:bodyPr wrap="square" lIns="0" tIns="0" rIns="0" bIns="0" rtlCol="0" anchor="t"/>
          <a:lstStyle/>
          <a:p>
            <a:pPr indent="0" marL="0">
              <a:buNone/>
            </a:pPr>
            <a:r>
              <a:rPr lang="en-US" sz="2500" b="1" dirty="0">
                <a:solidFill>
                  <a:schemeClr val="accent1"/>
                </a:solidFill>
                <a:latin typeface="Cambria" pitchFamily="34" charset="0"/>
                <a:ea typeface="Cambria" pitchFamily="34" charset="-122"/>
                <a:cs typeface="Cambria" pitchFamily="34" charset="-120"/>
              </a:rPr>
              <a:t>highlight</a:t>
            </a:r>
            <a:endParaRPr lang="en-US" sz="2500" dirty="0"/>
          </a:p>
        </p:txBody>
      </p:sp>
      <p:sp>
        <p:nvSpPr>
          <p:cNvPr id="7" name="Text 4"/>
          <p:cNvSpPr txBox="1"/>
          <p:nvPr/>
        </p:nvSpPr>
        <p:spPr>
          <a:xfrm>
            <a:off x="1097280" y="2560320"/>
            <a:ext cx="1965960" cy="2788920"/>
          </a:xfrm>
          <a:prstGeom prst="rect">
            <a:avLst/>
          </a:prstGeom>
          <a:noFill/>
          <a:ln/>
        </p:spPr>
        <p:txBody>
          <a:bodyPr wrap="square" lIns="0" tIns="0" rIns="0" bIns="0" rtlCol="0" anchor="t"/>
          <a:lstStyle/>
          <a:p>
            <a:pPr indent="0" marL="0">
              <a:buNone/>
            </a:pPr>
            <a:r>
              <a:rPr lang="en-US" sz="2400" dirty="0">
                <a:solidFill>
                  <a:schemeClr val="bg2"/>
                </a:solidFill>
              </a:rPr>
              <a:t>Lexer-driven command, keyword, quote, redirection and path colouring</a:t>
            </a:r>
            <a:endParaRPr lang="en-US" sz="2400" dirty="0"/>
          </a:p>
        </p:txBody>
      </p:sp>
      <p:sp>
        <p:nvSpPr>
          <p:cNvPr id="8" name="Shape 5"/>
          <p:cNvSpPr/>
          <p:nvPr/>
        </p:nvSpPr>
        <p:spPr>
          <a:xfrm>
            <a:off x="3520440" y="1737360"/>
            <a:ext cx="2514600" cy="3840480"/>
          </a:xfrm>
          <a:prstGeom prst="roundRect">
            <a:avLst>
              <a:gd name="adj" fmla="val 4364"/>
            </a:avLst>
          </a:prstGeom>
          <a:solidFill>
            <a:schemeClr val="tx2"/>
          </a:solidFill>
          <a:ln w="12700">
            <a:solidFill>
              <a:srgbClr val="2C3844"/>
            </a:solidFill>
            <a:prstDash val="solid"/>
          </a:ln>
        </p:spPr>
      </p:sp>
      <p:sp>
        <p:nvSpPr>
          <p:cNvPr id="9" name="Text 6"/>
          <p:cNvSpPr txBox="1"/>
          <p:nvPr/>
        </p:nvSpPr>
        <p:spPr>
          <a:xfrm>
            <a:off x="3794760" y="1965960"/>
            <a:ext cx="196596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autosuggest</a:t>
            </a:r>
            <a:endParaRPr lang="en-US" sz="2000" dirty="0"/>
          </a:p>
        </p:txBody>
      </p:sp>
      <p:sp>
        <p:nvSpPr>
          <p:cNvPr id="10" name="Text 7"/>
          <p:cNvSpPr txBox="1"/>
          <p:nvPr/>
        </p:nvSpPr>
        <p:spPr>
          <a:xfrm>
            <a:off x="3794760" y="2560320"/>
            <a:ext cx="1965960" cy="2788920"/>
          </a:xfrm>
          <a:prstGeom prst="rect">
            <a:avLst/>
          </a:prstGeom>
          <a:noFill/>
          <a:ln/>
        </p:spPr>
        <p:txBody>
          <a:bodyPr wrap="square" lIns="0" tIns="0" rIns="0" bIns="0" rtlCol="0" anchor="t"/>
          <a:lstStyle/>
          <a:p>
            <a:pPr indent="0" marL="0">
              <a:buNone/>
            </a:pPr>
            <a:r>
              <a:rPr lang="en-US" sz="2100" dirty="0">
                <a:solidFill>
                  <a:schemeClr val="bg2"/>
                </a:solidFill>
              </a:rPr>
              <a:t>Ghost text from history; right arrow or End accepts, forward-word takes one word</a:t>
            </a:r>
            <a:endParaRPr lang="en-US" sz="2100" dirty="0"/>
          </a:p>
        </p:txBody>
      </p:sp>
      <p:sp>
        <p:nvSpPr>
          <p:cNvPr id="11" name="Shape 8"/>
          <p:cNvSpPr/>
          <p:nvPr/>
        </p:nvSpPr>
        <p:spPr>
          <a:xfrm>
            <a:off x="6217920" y="1737360"/>
            <a:ext cx="2514600" cy="3840480"/>
          </a:xfrm>
          <a:prstGeom prst="roundRect">
            <a:avLst>
              <a:gd name="adj" fmla="val 4364"/>
            </a:avLst>
          </a:prstGeom>
          <a:solidFill>
            <a:schemeClr val="tx2"/>
          </a:solidFill>
          <a:ln w="12700">
            <a:solidFill>
              <a:srgbClr val="2C3844"/>
            </a:solidFill>
            <a:prstDash val="solid"/>
          </a:ln>
        </p:spPr>
      </p:sp>
      <p:sp>
        <p:nvSpPr>
          <p:cNvPr id="12" name="Text 9"/>
          <p:cNvSpPr txBox="1"/>
          <p:nvPr/>
        </p:nvSpPr>
        <p:spPr>
          <a:xfrm>
            <a:off x="6492240" y="1965960"/>
            <a:ext cx="1965960" cy="457200"/>
          </a:xfrm>
          <a:prstGeom prst="rect">
            <a:avLst/>
          </a:prstGeom>
          <a:noFill/>
          <a:ln/>
        </p:spPr>
        <p:txBody>
          <a:bodyPr wrap="square" lIns="0" tIns="0" rIns="0" bIns="0" rtlCol="0" anchor="t"/>
          <a:lstStyle/>
          <a:p>
            <a:pPr indent="0" marL="0">
              <a:buNone/>
            </a:pPr>
            <a:r>
              <a:rPr lang="en-US" sz="1600" b="1" dirty="0">
                <a:solidFill>
                  <a:schemeClr val="accent1"/>
                </a:solidFill>
                <a:latin typeface="Cambria" pitchFamily="34" charset="0"/>
                <a:ea typeface="Cambria" pitchFamily="34" charset="-122"/>
                <a:cs typeface="Cambria" pitchFamily="34" charset="-120"/>
              </a:rPr>
              <a:t>history_search</a:t>
            </a:r>
            <a:endParaRPr lang="en-US" sz="1600" dirty="0"/>
          </a:p>
        </p:txBody>
      </p:sp>
      <p:sp>
        <p:nvSpPr>
          <p:cNvPr id="13" name="Text 10"/>
          <p:cNvSpPr txBox="1"/>
          <p:nvPr/>
        </p:nvSpPr>
        <p:spPr>
          <a:xfrm>
            <a:off x="6492240" y="2560320"/>
            <a:ext cx="1965960" cy="2788920"/>
          </a:xfrm>
          <a:prstGeom prst="rect">
            <a:avLst/>
          </a:prstGeom>
          <a:noFill/>
          <a:ln/>
        </p:spPr>
        <p:txBody>
          <a:bodyPr wrap="square" lIns="0" tIns="0" rIns="0" bIns="0" rtlCol="0" anchor="t"/>
          <a:lstStyle/>
          <a:p>
            <a:pPr indent="0" marL="0">
              <a:buNone/>
            </a:pPr>
            <a:r>
              <a:rPr lang="en-US" sz="2800" dirty="0">
                <a:solidFill>
                  <a:schemeClr val="bg2"/>
                </a:solidFill>
              </a:rPr>
              <a:t>Prefix and substring up-arrow search</a:t>
            </a:r>
            <a:endParaRPr lang="en-US" sz="2800" dirty="0"/>
          </a:p>
        </p:txBody>
      </p:sp>
      <p:sp>
        <p:nvSpPr>
          <p:cNvPr id="14" name="Shape 11"/>
          <p:cNvSpPr/>
          <p:nvPr/>
        </p:nvSpPr>
        <p:spPr>
          <a:xfrm>
            <a:off x="8915400" y="1737360"/>
            <a:ext cx="2514600" cy="3840480"/>
          </a:xfrm>
          <a:prstGeom prst="roundRect">
            <a:avLst>
              <a:gd name="adj" fmla="val 4364"/>
            </a:avLst>
          </a:prstGeom>
          <a:solidFill>
            <a:schemeClr val="tx2"/>
          </a:solidFill>
          <a:ln w="12700">
            <a:solidFill>
              <a:srgbClr val="2C3844"/>
            </a:solidFill>
            <a:prstDash val="solid"/>
          </a:ln>
        </p:spPr>
      </p:sp>
      <p:sp>
        <p:nvSpPr>
          <p:cNvPr id="15" name="Text 12"/>
          <p:cNvSpPr txBox="1"/>
          <p:nvPr/>
        </p:nvSpPr>
        <p:spPr>
          <a:xfrm>
            <a:off x="9189720" y="1965960"/>
            <a:ext cx="196596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autopair</a:t>
            </a:r>
            <a:endParaRPr lang="en-US" sz="2600" dirty="0"/>
          </a:p>
        </p:txBody>
      </p:sp>
      <p:sp>
        <p:nvSpPr>
          <p:cNvPr id="16" name="Text 13"/>
          <p:cNvSpPr txBox="1"/>
          <p:nvPr/>
        </p:nvSpPr>
        <p:spPr>
          <a:xfrm>
            <a:off x="9189720" y="2560320"/>
            <a:ext cx="1965960" cy="2788920"/>
          </a:xfrm>
          <a:prstGeom prst="rect">
            <a:avLst/>
          </a:prstGeom>
          <a:noFill/>
          <a:ln/>
        </p:spPr>
        <p:txBody>
          <a:bodyPr wrap="square" lIns="0" tIns="0" rIns="0" bIns="0" rtlCol="0" anchor="t"/>
          <a:lstStyle/>
          <a:p>
            <a:pPr indent="0" marL="0">
              <a:buNone/>
            </a:pPr>
            <a:r>
              <a:rPr lang="en-US" sz="2800" dirty="0">
                <a:solidFill>
                  <a:schemeClr val="bg2"/>
                </a:solidFill>
              </a:rPr>
              <a:t>Bracket and quote auto-pairing</a:t>
            </a:r>
            <a:endParaRPr lang="en-US" sz="28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Syntax highlighting</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README</a:t>
            </a:r>
            <a:endParaRPr lang="en-US" sz="1200" dirty="0"/>
          </a:p>
        </p:txBody>
      </p:sp>
      <p:sp>
        <p:nvSpPr>
          <p:cNvPr id="5" name="Shape 2"/>
          <p:cNvSpPr/>
          <p:nvPr/>
        </p:nvSpPr>
        <p:spPr>
          <a:xfrm>
            <a:off x="822960" y="1737360"/>
            <a:ext cx="3383280" cy="3840480"/>
          </a:xfrm>
          <a:prstGeom prst="roundRect">
            <a:avLst>
              <a:gd name="adj" fmla="val 3243"/>
            </a:avLst>
          </a:prstGeom>
          <a:solidFill>
            <a:schemeClr val="tx2"/>
          </a:solidFill>
          <a:ln w="12700">
            <a:solidFill>
              <a:srgbClr val="2C3844"/>
            </a:solidFill>
            <a:prstDash val="solid"/>
          </a:ln>
        </p:spPr>
      </p:sp>
      <p:sp>
        <p:nvSpPr>
          <p:cNvPr id="6" name="Text 3"/>
          <p:cNvSpPr txBox="1"/>
          <p:nvPr/>
        </p:nvSpPr>
        <p:spPr>
          <a:xfrm>
            <a:off x="1097280" y="1965960"/>
            <a:ext cx="2834640" cy="457200"/>
          </a:xfrm>
          <a:prstGeom prst="rect">
            <a:avLst/>
          </a:prstGeom>
          <a:noFill/>
          <a:ln/>
        </p:spPr>
        <p:txBody>
          <a:bodyPr wrap="square" lIns="0" tIns="0" rIns="0" bIns="0" rtlCol="0" anchor="t"/>
          <a:lstStyle/>
          <a:p>
            <a:pPr indent="0" marL="0">
              <a:buNone/>
            </a:pPr>
            <a:r>
              <a:rPr lang="en-US" sz="2300" b="1" dirty="0">
                <a:solidFill>
                  <a:schemeClr val="accent1"/>
                </a:solidFill>
                <a:latin typeface="Cambria" pitchFamily="34" charset="0"/>
                <a:ea typeface="Cambria" pitchFamily="34" charset="-122"/>
                <a:cs typeface="Cambria" pitchFamily="34" charset="-120"/>
              </a:rPr>
              <a:t>What it checks</a:t>
            </a:r>
            <a:endParaRPr lang="en-US" sz="2300" dirty="0"/>
          </a:p>
        </p:txBody>
      </p:sp>
      <p:sp>
        <p:nvSpPr>
          <p:cNvPr id="7" name="Text 4"/>
          <p:cNvSpPr txBox="1"/>
          <p:nvPr/>
        </p:nvSpPr>
        <p:spPr>
          <a:xfrm>
            <a:off x="1097280" y="2560320"/>
            <a:ext cx="2834640" cy="2788920"/>
          </a:xfrm>
          <a:prstGeom prst="rect">
            <a:avLst/>
          </a:prstGeom>
          <a:noFill/>
          <a:ln/>
        </p:spPr>
        <p:txBody>
          <a:bodyPr wrap="square" lIns="0" tIns="0" rIns="0" bIns="0" rtlCol="0" anchor="t"/>
          <a:lstStyle/>
          <a:p>
            <a:pPr marL="342900" indent="-342900">
              <a:spcAft>
                <a:spcPts val="800"/>
              </a:spcAft>
              <a:buSzPct val="100000"/>
              <a:buChar char="•"/>
            </a:pPr>
            <a:r>
              <a:rPr lang="en-US" sz="2100" dirty="0">
                <a:solidFill>
                  <a:schemeClr val="bg2"/>
                </a:solidFill>
              </a:rPr>
              <a:t>Command validity</a:t>
            </a:r>
            <a:endParaRPr lang="en-US" sz="2100" dirty="0"/>
          </a:p>
          <a:p>
            <a:pPr marL="342900" indent="-342900">
              <a:spcAft>
                <a:spcPts val="800"/>
              </a:spcAft>
              <a:buSzPct val="100000"/>
              <a:buChar char="•"/>
            </a:pPr>
            <a:r>
              <a:rPr lang="en-US" sz="2100" dirty="0">
                <a:solidFill>
                  <a:schemeClr val="bg2"/>
                </a:solidFill>
              </a:rPr>
              <a:t>File existence for paths</a:t>
            </a:r>
            <a:endParaRPr lang="en-US" sz="2100" dirty="0"/>
          </a:p>
          <a:p>
            <a:pPr marL="342900" indent="-342900">
              <a:spcAft>
                <a:spcPts val="800"/>
              </a:spcAft>
              <a:buSzPct val="100000"/>
              <a:buChar char="•"/>
            </a:pPr>
            <a:r>
              <a:rPr lang="en-US" sz="2100" dirty="0">
                <a:solidFill>
                  <a:schemeClr val="bg2"/>
                </a:solidFill>
              </a:rPr>
              <a:t>Quotes, redirections, keywords</a:t>
            </a:r>
            <a:endParaRPr lang="en-US" sz="2100" dirty="0"/>
          </a:p>
        </p:txBody>
      </p:sp>
      <p:sp>
        <p:nvSpPr>
          <p:cNvPr id="8" name="Shape 5"/>
          <p:cNvSpPr/>
          <p:nvPr/>
        </p:nvSpPr>
        <p:spPr>
          <a:xfrm>
            <a:off x="4389120" y="1737360"/>
            <a:ext cx="3383280" cy="3840480"/>
          </a:xfrm>
          <a:prstGeom prst="roundRect">
            <a:avLst>
              <a:gd name="adj" fmla="val 3243"/>
            </a:avLst>
          </a:prstGeom>
          <a:solidFill>
            <a:schemeClr val="tx2"/>
          </a:solidFill>
          <a:ln w="12700">
            <a:solidFill>
              <a:srgbClr val="2C3844"/>
            </a:solidFill>
            <a:prstDash val="solid"/>
          </a:ln>
        </p:spPr>
      </p:sp>
      <p:sp>
        <p:nvSpPr>
          <p:cNvPr id="9" name="Text 6"/>
          <p:cNvSpPr txBox="1"/>
          <p:nvPr/>
        </p:nvSpPr>
        <p:spPr>
          <a:xfrm>
            <a:off x="4663440" y="1965960"/>
            <a:ext cx="2834640" cy="457200"/>
          </a:xfrm>
          <a:prstGeom prst="rect">
            <a:avLst/>
          </a:prstGeom>
          <a:noFill/>
          <a:ln/>
        </p:spPr>
        <p:txBody>
          <a:bodyPr wrap="square" lIns="0" tIns="0" rIns="0" bIns="0" rtlCol="0" anchor="t"/>
          <a:lstStyle/>
          <a:p>
            <a:pPr indent="0" marL="0">
              <a:buNone/>
            </a:pPr>
            <a:r>
              <a:rPr lang="en-US" sz="2300" b="1" dirty="0">
                <a:solidFill>
                  <a:schemeClr val="accent1"/>
                </a:solidFill>
                <a:latin typeface="Cambria" pitchFamily="34" charset="0"/>
                <a:ea typeface="Cambria" pitchFamily="34" charset="-122"/>
                <a:cs typeface="Cambria" pitchFamily="34" charset="-120"/>
              </a:rPr>
              <a:t>How it colours</a:t>
            </a:r>
            <a:endParaRPr lang="en-US" sz="2300" dirty="0"/>
          </a:p>
        </p:txBody>
      </p:sp>
      <p:sp>
        <p:nvSpPr>
          <p:cNvPr id="10" name="Text 7"/>
          <p:cNvSpPr txBox="1"/>
          <p:nvPr/>
        </p:nvSpPr>
        <p:spPr>
          <a:xfrm>
            <a:off x="4663440" y="2560320"/>
            <a:ext cx="2834640" cy="27889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bg2"/>
                </a:solidFill>
              </a:rPr>
              <a:t>Command-type ladder</a:t>
            </a:r>
            <a:endParaRPr lang="en-US" sz="1800" dirty="0"/>
          </a:p>
          <a:p>
            <a:pPr marL="342900" indent="-342900">
              <a:spcAft>
                <a:spcPts val="800"/>
              </a:spcAft>
              <a:buSzPct val="100000"/>
              <a:buChar char="•"/>
            </a:pPr>
            <a:r>
              <a:rPr lang="en-US" sz="1800" dirty="0">
                <a:solidFill>
                  <a:schemeClr val="bg2"/>
                </a:solidFill>
              </a:rPr>
              <a:t>Brackets by nesting level</a:t>
            </a:r>
            <a:endParaRPr lang="en-US" sz="1800" dirty="0"/>
          </a:p>
          <a:p>
            <a:pPr marL="342900" indent="-342900">
              <a:spcAft>
                <a:spcPts val="800"/>
              </a:spcAft>
              <a:buSzPct val="100000"/>
              <a:buChar char="•"/>
            </a:pPr>
            <a:r>
              <a:rPr lang="en-US" sz="1800" dirty="0">
                <a:solidFill>
                  <a:schemeClr val="bg2"/>
                </a:solidFill>
              </a:rPr>
              <a:t>Glob, variable, option, math</a:t>
            </a:r>
            <a:endParaRPr lang="en-US" sz="1800" dirty="0"/>
          </a:p>
          <a:p>
            <a:pPr marL="342900" indent="-342900">
              <a:spcAft>
                <a:spcPts val="800"/>
              </a:spcAft>
              <a:buSzPct val="100000"/>
              <a:buChar char="•"/>
            </a:pPr>
            <a:r>
              <a:rPr lang="en-US" sz="1800" dirty="0">
                <a:solidFill>
                  <a:schemeClr val="bg2"/>
                </a:solidFill>
              </a:rPr>
              <a:t>Secondary theme inside $(...)</a:t>
            </a:r>
            <a:endParaRPr lang="en-US" sz="1800" dirty="0"/>
          </a:p>
        </p:txBody>
      </p:sp>
      <p:sp>
        <p:nvSpPr>
          <p:cNvPr id="11" name="Shape 8"/>
          <p:cNvSpPr/>
          <p:nvPr/>
        </p:nvSpPr>
        <p:spPr>
          <a:xfrm>
            <a:off x="7955280" y="1737360"/>
            <a:ext cx="3383280" cy="3840480"/>
          </a:xfrm>
          <a:prstGeom prst="roundRect">
            <a:avLst>
              <a:gd name="adj" fmla="val 3243"/>
            </a:avLst>
          </a:prstGeom>
          <a:solidFill>
            <a:schemeClr val="tx2"/>
          </a:solidFill>
          <a:ln w="12700">
            <a:solidFill>
              <a:srgbClr val="2C3844"/>
            </a:solidFill>
            <a:prstDash val="solid"/>
          </a:ln>
        </p:spPr>
      </p:sp>
      <p:sp>
        <p:nvSpPr>
          <p:cNvPr id="12" name="Text 9"/>
          <p:cNvSpPr txBox="1"/>
          <p:nvPr/>
        </p:nvSpPr>
        <p:spPr>
          <a:xfrm>
            <a:off x="8229600" y="1965960"/>
            <a:ext cx="2834640" cy="45720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Same as the plugin</a:t>
            </a:r>
            <a:endParaRPr lang="en-US" sz="1800" dirty="0"/>
          </a:p>
        </p:txBody>
      </p:sp>
      <p:sp>
        <p:nvSpPr>
          <p:cNvPr id="13" name="Text 10"/>
          <p:cNvSpPr txBox="1"/>
          <p:nvPr/>
        </p:nvSpPr>
        <p:spPr>
          <a:xfrm>
            <a:off x="8229600" y="2560320"/>
            <a:ext cx="2834640" cy="278892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bg2"/>
                </a:solidFill>
              </a:rPr>
              <a:t>fast-syntax-highlighting palette</a:t>
            </a:r>
            <a:endParaRPr lang="en-US" sz="2000" dirty="0"/>
          </a:p>
          <a:p>
            <a:pPr marL="342900" indent="-342900">
              <a:spcAft>
                <a:spcPts val="800"/>
              </a:spcAft>
              <a:buSzPct val="100000"/>
              <a:buChar char="•"/>
            </a:pPr>
            <a:r>
              <a:rPr lang="en-US" sz="2000" dirty="0">
                <a:solidFill>
                  <a:schemeClr val="bg2"/>
                </a:solidFill>
              </a:rPr>
              <a:t>ZSH_HIGHLIGHT_STYLES honoured</a:t>
            </a:r>
            <a:endParaRPr lang="en-US" sz="2000" dirty="0"/>
          </a:p>
          <a:p>
            <a:pPr marL="342900" indent="-342900">
              <a:spcAft>
                <a:spcPts val="800"/>
              </a:spcAft>
              <a:buSzPct val="100000"/>
              <a:buChar char="•"/>
            </a:pPr>
            <a:r>
              <a:rPr lang="en-US" sz="2000" dirty="0">
                <a:solidFill>
                  <a:schemeClr val="bg2"/>
                </a:solidFill>
              </a:rPr>
              <a:t>No plugin to install</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Config vocabulary is inherited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docs/INVENTIONS.md entry 21</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4114800"/>
                <a:gridCol w="6400800"/>
              </a:tblGrid>
              <a:tr h="731520">
                <a:tc>
                  <a:txBody>
                    <a:bodyPr/>
                    <a:lstStyle/>
                    <a:p>
                      <a:pPr indent="0" marL="0">
                        <a:buNone/>
                      </a:pPr>
                      <a:r>
                        <a:rPr lang="en-US" sz="2800" b="1" dirty="0">
                          <a:solidFill>
                            <a:schemeClr val="accent1"/>
                          </a:solidFill>
                        </a:rPr>
                        <a:t>Native engine</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800" b="1" dirty="0">
                          <a:solidFill>
                            <a:schemeClr val="accent1"/>
                          </a:solidFill>
                        </a:rPr>
                        <a:t>Config it honours</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2800" dirty="0">
                          <a:solidFill>
                            <a:schemeClr val="bg2"/>
                          </a:solidFill>
                        </a:rPr>
                        <a:t>syntax highlighting</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800" dirty="0">
                          <a:solidFill>
                            <a:schemeClr val="bg2"/>
                          </a:solidFill>
                        </a:rPr>
                        <a:t>ZSH_HIGHLIGHT_STYLES</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2800" dirty="0">
                          <a:solidFill>
                            <a:schemeClr val="bg2"/>
                          </a:solidFill>
                        </a:rPr>
                        <a:t>autosuggest</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800" dirty="0">
                          <a:solidFill>
                            <a:schemeClr val="bg2"/>
                          </a:solidFill>
                        </a:rPr>
                        <a:t>ZSH_AUTOSUGGEST_*</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2800" dirty="0">
                          <a:solidFill>
                            <a:schemeClr val="bg2"/>
                          </a:solidFill>
                        </a:rPr>
                        <a:t>history search</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800" dirty="0">
                          <a:solidFill>
                            <a:schemeClr val="bg2"/>
                          </a:solidFill>
                        </a:rPr>
                        <a:t>HISTORY_SUBSTRING_SEARCH_*</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2800" dirty="0">
                          <a:solidFill>
                            <a:schemeClr val="bg2"/>
                          </a:solidFill>
                        </a:rPr>
                        <a:t>autopair</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800" dirty="0">
                          <a:solidFill>
                            <a:schemeClr val="bg2"/>
                          </a:solidFill>
                        </a:rPr>
                        <a:t>AUTOPAIR_*</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731520">
                <a:tc>
                  <a:txBody>
                    <a:bodyPr/>
                    <a:lstStyle/>
                    <a:p>
                      <a:pPr indent="0" marL="0">
                        <a:buNone/>
                      </a:pPr>
                      <a:r>
                        <a:rPr lang="en-US" sz="2800" dirty="0">
                          <a:solidFill>
                            <a:schemeClr val="bg2"/>
                          </a:solidFill>
                        </a:rPr>
                        <a:t>prompt</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800" dirty="0">
                          <a:solidFill>
                            <a:schemeClr val="bg2"/>
                          </a:solidFill>
                        </a:rPr>
                        <a:t>.p10k.zsh, sourced unchanged</a:t>
                      </a:r>
                      <a:endParaRPr lang="en-US" sz="2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Typing never waits on rendering</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docs/INVENTIONS.md entry 23</a:t>
            </a:r>
            <a:endParaRPr lang="en-US" sz="1200" dirty="0"/>
          </a:p>
        </p:txBody>
      </p:sp>
      <p:sp>
        <p:nvSpPr>
          <p:cNvPr id="5" name="Shape 2"/>
          <p:cNvSpPr/>
          <p:nvPr/>
        </p:nvSpPr>
        <p:spPr>
          <a:xfrm>
            <a:off x="822960" y="1737360"/>
            <a:ext cx="3291840" cy="2377440"/>
          </a:xfrm>
          <a:prstGeom prst="roundRect">
            <a:avLst>
              <a:gd name="adj" fmla="val 4615"/>
            </a:avLst>
          </a:prstGeom>
          <a:solidFill>
            <a:schemeClr val="tx2"/>
          </a:solidFill>
          <a:ln w="12700">
            <a:solidFill>
              <a:srgbClr val="2C3844"/>
            </a:solidFill>
            <a:prstDash val="solid"/>
          </a:ln>
        </p:spPr>
      </p:sp>
      <p:sp>
        <p:nvSpPr>
          <p:cNvPr id="6" name="Text 3"/>
          <p:cNvSpPr txBox="1"/>
          <p:nvPr/>
        </p:nvSpPr>
        <p:spPr>
          <a:xfrm>
            <a:off x="109728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8 ms</a:t>
            </a:r>
            <a:endParaRPr lang="en-US" sz="4400" dirty="0"/>
          </a:p>
        </p:txBody>
      </p:sp>
      <p:sp>
        <p:nvSpPr>
          <p:cNvPr id="7" name="Text 4"/>
          <p:cNvSpPr txBox="1"/>
          <p:nvPr/>
        </p:nvSpPr>
        <p:spPr>
          <a:xfrm>
            <a:off x="109728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default wall-clock budget per keystroke pass</a:t>
            </a:r>
            <a:endParaRPr lang="en-US" sz="1800" dirty="0"/>
          </a:p>
        </p:txBody>
      </p:sp>
      <p:sp>
        <p:nvSpPr>
          <p:cNvPr id="8" name="Shape 5"/>
          <p:cNvSpPr/>
          <p:nvPr/>
        </p:nvSpPr>
        <p:spPr>
          <a:xfrm>
            <a:off x="4434840" y="1737360"/>
            <a:ext cx="6903720" cy="2377440"/>
          </a:xfrm>
          <a:prstGeom prst="roundRect">
            <a:avLst>
              <a:gd name="adj" fmla="val 4615"/>
            </a:avLst>
          </a:prstGeom>
          <a:solidFill>
            <a:schemeClr val="tx2"/>
          </a:solidFill>
          <a:ln w="12700">
            <a:solidFill>
              <a:srgbClr val="2C3844"/>
            </a:solidFill>
            <a:prstDash val="solid"/>
          </a:ln>
        </p:spPr>
      </p:sp>
      <p:sp>
        <p:nvSpPr>
          <p:cNvPr id="9" name="Text 6"/>
          <p:cNvSpPr txBox="1"/>
          <p:nvPr/>
        </p:nvSpPr>
        <p:spPr>
          <a:xfrm>
            <a:off x="4709160" y="1965960"/>
            <a:ext cx="63550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Overrides</a:t>
            </a:r>
            <a:endParaRPr lang="en-US" sz="2600" dirty="0"/>
          </a:p>
        </p:txBody>
      </p:sp>
      <p:sp>
        <p:nvSpPr>
          <p:cNvPr id="10" name="Text 7"/>
          <p:cNvSpPr txBox="1"/>
          <p:nvPr/>
        </p:nvSpPr>
        <p:spPr>
          <a:xfrm>
            <a:off x="4709160" y="2560320"/>
            <a:ext cx="6355080" cy="132588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chemeClr val="bg2"/>
                </a:solidFill>
              </a:rPr>
              <a:t>ZSHRS_ZLE_HIGHLIGHT_BUDGET_MS</a:t>
            </a:r>
            <a:endParaRPr lang="en-US" sz="2400" dirty="0"/>
          </a:p>
          <a:p>
            <a:pPr marL="342900" indent="-342900">
              <a:spcAft>
                <a:spcPts val="800"/>
              </a:spcAft>
              <a:buSzPct val="100000"/>
              <a:buChar char="•"/>
            </a:pPr>
            <a:r>
              <a:rPr lang="en-US" sz="2400" dirty="0">
                <a:solidFill>
                  <a:schemeClr val="bg2"/>
                </a:solidFill>
              </a:rPr>
              <a:t>ZSHRS_ZLE_AUTOSUGGEST_BUDGET_MS</a:t>
            </a:r>
            <a:endParaRPr lang="en-US" sz="2400" dirty="0"/>
          </a:p>
        </p:txBody>
      </p:sp>
      <p:sp>
        <p:nvSpPr>
          <p:cNvPr id="11" name="Text 8"/>
          <p:cNvSpPr txBox="1"/>
          <p:nvPr/>
        </p:nvSpPr>
        <p:spPr>
          <a:xfrm>
            <a:off x="822960" y="4572000"/>
            <a:ext cx="10515600" cy="548640"/>
          </a:xfrm>
          <a:prstGeom prst="rect">
            <a:avLst/>
          </a:prstGeom>
          <a:noFill/>
          <a:ln/>
        </p:spPr>
        <p:txBody>
          <a:bodyPr wrap="square" lIns="0" tIns="0" rIns="0" bIns="0" rtlCol="0" anchor="t"/>
          <a:lstStyle/>
          <a:p>
            <a:pPr indent="0" marL="0">
              <a:buNone/>
            </a:pPr>
            <a:r>
              <a:rPr lang="en-US" sz="2600" b="1" dirty="0">
                <a:solidFill>
                  <a:schemeClr val="accent3"/>
                </a:solidFill>
              </a:rPr>
              <a:t>A slow directory or a huge PATH cannot lag typing.</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Rust prompt engine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docs/INVENTIONS.md entry 22</a:t>
            </a:r>
            <a:endParaRPr lang="en-US" sz="1200" dirty="0"/>
          </a:p>
        </p:txBody>
      </p:sp>
      <p:sp>
        <p:nvSpPr>
          <p:cNvPr id="5" name="Shape 2"/>
          <p:cNvSpPr/>
          <p:nvPr/>
        </p:nvSpPr>
        <p:spPr>
          <a:xfrm>
            <a:off x="822960" y="1737360"/>
            <a:ext cx="3291840" cy="2377440"/>
          </a:xfrm>
          <a:prstGeom prst="roundRect">
            <a:avLst>
              <a:gd name="adj" fmla="val 4615"/>
            </a:avLst>
          </a:prstGeom>
          <a:solidFill>
            <a:schemeClr val="tx2"/>
          </a:solidFill>
          <a:ln w="12700">
            <a:solidFill>
              <a:srgbClr val="2C3844"/>
            </a:solidFill>
            <a:prstDash val="solid"/>
          </a:ln>
        </p:spPr>
      </p:sp>
      <p:sp>
        <p:nvSpPr>
          <p:cNvPr id="6" name="Text 3"/>
          <p:cNvSpPr txBox="1"/>
          <p:nvPr/>
        </p:nvSpPr>
        <p:spPr>
          <a:xfrm>
            <a:off x="109728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21k</a:t>
            </a:r>
            <a:endParaRPr lang="en-US" sz="4400" dirty="0"/>
          </a:p>
        </p:txBody>
      </p:sp>
      <p:sp>
        <p:nvSpPr>
          <p:cNvPr id="7" name="Text 4"/>
          <p:cNvSpPr txBox="1"/>
          <p:nvPr/>
        </p:nvSpPr>
        <p:spPr>
          <a:xfrm>
            <a:off x="109728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lines of Rust in src/extensions/p10k</a:t>
            </a:r>
            <a:endParaRPr lang="en-US" sz="1800" dirty="0"/>
          </a:p>
        </p:txBody>
      </p:sp>
      <p:sp>
        <p:nvSpPr>
          <p:cNvPr id="8" name="Shape 5"/>
          <p:cNvSpPr/>
          <p:nvPr/>
        </p:nvSpPr>
        <p:spPr>
          <a:xfrm>
            <a:off x="4434840" y="1737360"/>
            <a:ext cx="6903720" cy="2377440"/>
          </a:xfrm>
          <a:prstGeom prst="roundRect">
            <a:avLst>
              <a:gd name="adj" fmla="val 4615"/>
            </a:avLst>
          </a:prstGeom>
          <a:solidFill>
            <a:schemeClr val="tx2"/>
          </a:solidFill>
          <a:ln w="12700">
            <a:solidFill>
              <a:srgbClr val="2C3844"/>
            </a:solidFill>
            <a:prstDash val="solid"/>
          </a:ln>
        </p:spPr>
      </p:sp>
      <p:sp>
        <p:nvSpPr>
          <p:cNvPr id="9" name="Text 6"/>
          <p:cNvSpPr txBox="1"/>
          <p:nvPr/>
        </p:nvSpPr>
        <p:spPr>
          <a:xfrm>
            <a:off x="4709160" y="1965960"/>
            <a:ext cx="63550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What it does</a:t>
            </a:r>
            <a:endParaRPr lang="en-US" sz="2600" dirty="0"/>
          </a:p>
        </p:txBody>
      </p:sp>
      <p:sp>
        <p:nvSpPr>
          <p:cNvPr id="10" name="Text 7"/>
          <p:cNvSpPr txBox="1"/>
          <p:nvPr/>
        </p:nvSpPr>
        <p:spPr>
          <a:xfrm>
            <a:off x="4709160" y="2560320"/>
            <a:ext cx="6355080" cy="132588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bg2"/>
                </a:solidFill>
              </a:rPr>
              <a:t>Renders your existing .p10k.zsh unchanged</a:t>
            </a:r>
            <a:endParaRPr lang="en-US" sz="1800" dirty="0"/>
          </a:p>
          <a:p>
            <a:pPr marL="342900" indent="-342900">
              <a:spcAft>
                <a:spcPts val="800"/>
              </a:spcAft>
              <a:buSzPct val="100000"/>
              <a:buChar char="•"/>
            </a:pPr>
            <a:r>
              <a:rPr lang="en-US" sz="1800" dirty="0">
                <a:solidFill>
                  <a:schemeClr val="bg2"/>
                </a:solidFill>
              </a:rPr>
              <a:t>Native .git reader instead of gitstatusd</a:t>
            </a:r>
            <a:endParaRPr lang="en-US" sz="1800" dirty="0"/>
          </a:p>
          <a:p>
            <a:pPr marL="342900" indent="-342900">
              <a:spcAft>
                <a:spcPts val="800"/>
              </a:spcAft>
              <a:buSzPct val="100000"/>
              <a:buChar char="•"/>
            </a:pPr>
            <a:r>
              <a:rPr lang="en-US" sz="1800" dirty="0">
                <a:solidFill>
                  <a:schemeClr val="bg2"/>
                </a:solidFill>
              </a:rPr>
              <a:t>In process: no instant-prompt workaround</a:t>
            </a:r>
            <a:endParaRPr lang="en-US" sz="1800" dirty="0"/>
          </a:p>
        </p:txBody>
      </p:sp>
      <p:sp>
        <p:nvSpPr>
          <p:cNvPr id="11" name="Text 8"/>
          <p:cNvSpPr txBox="1"/>
          <p:nvPr/>
        </p:nvSpPr>
        <p:spPr>
          <a:xfrm>
            <a:off x="822960" y="4572000"/>
            <a:ext cx="10515600" cy="548640"/>
          </a:xfrm>
          <a:prstGeom prst="rect">
            <a:avLst/>
          </a:prstGeom>
          <a:noFill/>
          <a:ln/>
        </p:spPr>
        <p:txBody>
          <a:bodyPr wrap="square" lIns="0" tIns="0" rIns="0" bIns="0" rtlCol="0" anchor="t"/>
          <a:lstStyle/>
          <a:p>
            <a:pPr indent="0" marL="0">
              <a:buNone/>
            </a:pPr>
            <a:r>
              <a:rPr lang="en-US" sz="2600" b="1" dirty="0">
                <a:solidFill>
                  <a:schemeClr val="accent3"/>
                </a:solidFill>
              </a:rPr>
              <a:t>First paint is the full prompt.</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12 · Value lineage at the bytecode level</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Observability / docs/INVENTIONS.md entry 12</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provenance records where a value came from and every op that touched it, each stamped with file, line, function and wall clock.</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Origins: command substitution, glob, heredoc, process substitution</a:t>
            </a:r>
            <a:endParaRPr lang="en-US" sz="2400" dirty="0"/>
          </a:p>
          <a:p>
            <a:pPr marL="342900" indent="-342900">
              <a:spcAft>
                <a:spcPts val="1000"/>
              </a:spcAft>
              <a:buSzPct val="100000"/>
              <a:buChar char="•"/>
            </a:pPr>
            <a:r>
              <a:rPr lang="en-US" sz="2400" dirty="0">
                <a:solidFill>
                  <a:schemeClr val="accent4"/>
                </a:solidFill>
              </a:rPr>
              <a:t>Ops: expand, concat, assign, exec, call</a:t>
            </a:r>
            <a:endParaRPr lang="en-US" sz="2400" dirty="0"/>
          </a:p>
          <a:p>
            <a:pPr marL="342900" indent="-342900">
              <a:spcAft>
                <a:spcPts val="1000"/>
              </a:spcAft>
              <a:buSzPct val="100000"/>
              <a:buChar char="•"/>
            </a:pPr>
            <a:r>
              <a:rPr lang="en-US" sz="2400" dirty="0">
                <a:solidFill>
                  <a:schemeClr val="accent4"/>
                </a:solidFill>
              </a:rPr>
              <a:t>One relaxed atomic load when disarmed</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typeset -p says what a value is. set -x says what ran. Nothing said where the bytes came from. See docs/PROVENANCE.md.</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13 · Aspect-oriented advice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Observability / docs/INVENTIONS.md entry 13</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intercept before, after and around, on any command or function, with glob patterns and nanosecond timing.</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accent4"/>
                </a:solidFill>
              </a:rPr>
              <a:t>intercept_proceed continues the original call</a:t>
            </a:r>
            <a:endParaRPr lang="en-US" sz="2000" dirty="0"/>
          </a:p>
          <a:p>
            <a:pPr marL="342900" indent="-342900">
              <a:spcAft>
                <a:spcPts val="1000"/>
              </a:spcAft>
              <a:buSzPct val="100000"/>
              <a:buChar char="•"/>
            </a:pPr>
            <a:r>
              <a:rPr lang="en-US" sz="2000" dirty="0">
                <a:solidFill>
                  <a:schemeClr val="accent4"/>
                </a:solidFill>
              </a:rPr>
              <a:t>Subsumes defer, profiling, memoisation, retry, timeout</a:t>
            </a:r>
            <a:endParaRPr lang="en-US" sz="20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Flavors, CLOS :around and AspectJ made this vocabulary standard. No shell offered it beyond hand-rolled wrappers.</a:t>
            </a:r>
            <a:endParaRPr lang="en-US" sz="1700" dirty="0"/>
          </a:p>
        </p:txBody>
      </p:sp>
      <p:sp>
        <p:nvSpPr>
          <p:cNvPr id="10" name="Shape 7"/>
          <p:cNvSpPr/>
          <p:nvPr/>
        </p:nvSpPr>
        <p:spPr>
          <a:xfrm>
            <a:off x="822960" y="4434840"/>
            <a:ext cx="10515600" cy="1148080"/>
          </a:xfrm>
          <a:prstGeom prst="roundRect">
            <a:avLst>
              <a:gd name="adj" fmla="val 9558"/>
            </a:avLst>
          </a:prstGeom>
          <a:solidFill>
            <a:schemeClr val="accent4"/>
          </a:solidFill>
          <a:ln w="12700">
            <a:solidFill>
              <a:srgbClr val="2C3844"/>
            </a:solidFill>
            <a:prstDash val="solid"/>
          </a:ln>
        </p:spPr>
      </p:sp>
      <p:sp>
        <p:nvSpPr>
          <p:cNvPr id="11" name="Text 8"/>
          <p:cNvSpPr txBox="1"/>
          <p:nvPr/>
        </p:nvSpPr>
        <p:spPr>
          <a:xfrm>
            <a:off x="1143000" y="4663440"/>
            <a:ext cx="9875520" cy="690880"/>
          </a:xfrm>
          <a:prstGeom prst="rect">
            <a:avLst/>
          </a:prstGeom>
          <a:noFill/>
          <a:ln/>
        </p:spPr>
        <p:txBody>
          <a:bodyPr wrap="square" lIns="0" tIns="0" rIns="0" bIns="0" rtlCol="0" anchor="t"/>
          <a:lstStyle/>
          <a:p>
            <a:pPr indent="0" marL="0">
              <a:lnSpc>
                <a:spcPct val="125000"/>
              </a:lnSpc>
              <a:buNone/>
            </a:pPr>
            <a:r>
              <a:rPr lang="en-US" sz="1700" dirty="0">
                <a:solidFill>
                  <a:schemeClr val="accent1"/>
                </a:solidFill>
                <a:latin typeface="Courier New" pitchFamily="34" charset="0"/>
                <a:ea typeface="Courier New" pitchFamily="34" charset="-122"/>
                <a:cs typeface="Courier New" pitchFamily="34" charset="-120"/>
              </a:rPr>
              <a:t>intercept before git { echo "[$(date)] git $INTERCEPT_ARGS" &gt;&gt; ~/git.log }</a:t>
            </a:r>
            <a:endParaRPr lang="en-US" sz="1700" dirty="0"/>
          </a:p>
          <a:p>
            <a:pPr indent="0" marL="0">
              <a:lnSpc>
                <a:spcPct val="125000"/>
              </a:lnSpc>
              <a:buNone/>
            </a:pPr>
            <a:r>
              <a:rPr lang="en-US" sz="1700" dirty="0">
                <a:solidFill>
                  <a:schemeClr val="accent1"/>
                </a:solidFill>
                <a:latin typeface="Courier New" pitchFamily="34" charset="0"/>
                <a:ea typeface="Courier New" pitchFamily="34" charset="-122"/>
                <a:cs typeface="Courier New" pitchFamily="34" charset="-120"/>
              </a:rPr>
              <a:t>intercept after '_*' { echo "$INTERCEPT_NAME took ${INTERCEPT_MS}ms" }</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14 · The shell describes itself</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Observability / docs/INVENTIONS.md entry 14</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Lexer, wordcode, AST and bytecode dumps on stdout, plus a JSON self-description of builtins, keywords and options.</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accent4"/>
                </a:solidFill>
              </a:rPr>
              <a:t>javap, dis and B::Deparse, for a shell</a:t>
            </a:r>
            <a:endParaRPr lang="en-US" sz="30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No Bourne-family shell can describe itself to a program.</a:t>
            </a:r>
            <a:endParaRPr lang="en-US" sz="1700" dirty="0"/>
          </a:p>
        </p:txBody>
      </p:sp>
      <p:sp>
        <p:nvSpPr>
          <p:cNvPr id="10" name="Shape 7"/>
          <p:cNvSpPr/>
          <p:nvPr/>
        </p:nvSpPr>
        <p:spPr>
          <a:xfrm>
            <a:off x="822960" y="4434840"/>
            <a:ext cx="10515600" cy="1310640"/>
          </a:xfrm>
          <a:prstGeom prst="roundRect">
            <a:avLst>
              <a:gd name="adj" fmla="val 8372"/>
            </a:avLst>
          </a:prstGeom>
          <a:solidFill>
            <a:schemeClr val="accent4"/>
          </a:solidFill>
          <a:ln w="12700">
            <a:solidFill>
              <a:srgbClr val="2C3844"/>
            </a:solidFill>
            <a:prstDash val="solid"/>
          </a:ln>
        </p:spPr>
      </p:sp>
      <p:sp>
        <p:nvSpPr>
          <p:cNvPr id="11" name="Text 8"/>
          <p:cNvSpPr txBox="1"/>
          <p:nvPr/>
        </p:nvSpPr>
        <p:spPr>
          <a:xfrm>
            <a:off x="1143000" y="4663440"/>
            <a:ext cx="9875520" cy="853440"/>
          </a:xfrm>
          <a:prstGeom prst="rect">
            <a:avLst/>
          </a:prstGeom>
          <a:noFill/>
          <a:ln/>
        </p:spPr>
        <p:txBody>
          <a:bodyPr wrap="square" lIns="0" tIns="0" rIns="0" bIns="0" rtlCol="0" anchor="t"/>
          <a:lstStyle/>
          <a:p>
            <a:pPr indent="0" marL="0">
              <a:lnSpc>
                <a:spcPct val="125000"/>
              </a:lnSpc>
              <a:buNone/>
            </a:pPr>
            <a:r>
              <a:rPr lang="en-US" sz="2100" dirty="0">
                <a:solidFill>
                  <a:schemeClr val="accent1"/>
                </a:solidFill>
                <a:latin typeface="Courier New" pitchFamily="34" charset="0"/>
                <a:ea typeface="Courier New" pitchFamily="34" charset="-122"/>
                <a:cs typeface="Courier New" pitchFamily="34" charset="-120"/>
              </a:rPr>
              <a:t>zshrs --dump-tokens | --dump-wordcode | --dump-ast | --disasm</a:t>
            </a:r>
            <a:endParaRPr lang="en-US" sz="2100" dirty="0"/>
          </a:p>
          <a:p>
            <a:pPr indent="0" marL="0">
              <a:lnSpc>
                <a:spcPct val="125000"/>
              </a:lnSpc>
              <a:buNone/>
            </a:pPr>
            <a:r>
              <a:rPr lang="en-US" sz="2100" dirty="0">
                <a:solidFill>
                  <a:schemeClr val="accent1"/>
                </a:solidFill>
                <a:latin typeface="Courier New" pitchFamily="34" charset="0"/>
                <a:ea typeface="Courier New" pitchFamily="34" charset="-122"/>
                <a:cs typeface="Courier New" pitchFamily="34" charset="-120"/>
              </a:rPr>
              <a:t>zshrs --dump-reflection</a:t>
            </a:r>
            <a:endParaRPr lang="en-US" sz="21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15 · A second language on the same VM</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Language / docs/INVENTIONS.md entry 15</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 routes to embedded stryke, which compiles to the same fusevm ops the shell does, including inside AOP advice.</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One VM, two languages</a:t>
            </a:r>
            <a:endParaRPr lang="en-US" sz="3000" dirty="0"/>
          </a:p>
          <a:p>
            <a:pPr marL="342900" indent="-342900">
              <a:spcAft>
                <a:spcPts val="1000"/>
              </a:spcAft>
              <a:buSzPct val="100000"/>
              <a:buChar char="•"/>
            </a:pPr>
            <a:r>
              <a:rPr lang="en-US" sz="3000" dirty="0">
                <a:solidFill>
                  <a:schemeClr val="bg2"/>
                </a:solidFill>
              </a:rPr>
              <a:t>No process boundary between them</a:t>
            </a:r>
            <a:endParaRPr lang="en-US" sz="30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The JVM and CLR story. Racket's #lang is the closest inline analogue. No shell hosted a second language in its own grammar.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16 · Syntax extension with an off switch</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Language / docs/INVENTIONS.md entry 16</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intercept ... { } is a real lexer extension. The body is captured as raw source and nothing expands until the advice fires.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900" dirty="0">
                <a:solidFill>
                  <a:schemeClr val="bg2"/>
                </a:solidFill>
              </a:rPr>
              <a:t>Under --zsh the extension is off</a:t>
            </a:r>
            <a:endParaRPr lang="en-US" sz="2900" dirty="0"/>
          </a:p>
          <a:p>
            <a:pPr marL="342900" indent="-342900">
              <a:spcAft>
                <a:spcPts val="1000"/>
              </a:spcAft>
              <a:buSzPct val="100000"/>
              <a:buChar char="•"/>
            </a:pPr>
            <a:r>
              <a:rPr lang="en-US" sz="2900" dirty="0">
                <a:solidFill>
                  <a:schemeClr val="bg2"/>
                </a:solidFill>
              </a:rPr>
              <a:t>The form is rejected exactly as /bin/zsh rejects it</a:t>
            </a:r>
            <a:endParaRPr lang="en-US" sz="29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A way to add syntax to a language you have also promised to stay compatible with.</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17 · A stable, versioned plugin ABI</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Extensibility / docs/INVENTIONS.md entry 17</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cargo add znative, ship a cdylib, load it with zmodload -R. Mismatched versions are refused and only #[repr(C)] crosses the boundary.</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accent4"/>
                </a:solidFill>
              </a:rPr>
              <a:t>Plugins register builtins and native completion generators</a:t>
            </a:r>
            <a:endParaRPr lang="en-US" sz="2000" dirty="0"/>
          </a:p>
          <a:p>
            <a:pPr marL="342900" indent="-342900">
              <a:spcAft>
                <a:spcPts val="1000"/>
              </a:spcAft>
              <a:buSzPct val="100000"/>
              <a:buChar char="•"/>
            </a:pPr>
            <a:r>
              <a:rPr lang="en-US" sz="2000" dirty="0">
                <a:solidFill>
                  <a:schemeClr val="accent4"/>
                </a:solidFill>
              </a:rPr>
              <a:t>znative load owner/repo builds on first start, then loads from a content-addressed store</a:t>
            </a:r>
            <a:endParaRPr lang="en-US" sz="20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bash enable -f and zsh zmodload load native code against private headers with no stable ABI. See docs/PLUGINS.md.</a:t>
            </a:r>
            <a:endParaRPr lang="en-US" sz="1700" dirty="0"/>
          </a:p>
        </p:txBody>
      </p:sp>
      <p:sp>
        <p:nvSpPr>
          <p:cNvPr id="10" name="Shape 7"/>
          <p:cNvSpPr/>
          <p:nvPr/>
        </p:nvSpPr>
        <p:spPr>
          <a:xfrm>
            <a:off x="822960" y="4434840"/>
            <a:ext cx="10515600" cy="2042160"/>
          </a:xfrm>
          <a:prstGeom prst="roundRect">
            <a:avLst>
              <a:gd name="adj" fmla="val 5373"/>
            </a:avLst>
          </a:prstGeom>
          <a:solidFill>
            <a:schemeClr val="accent4"/>
          </a:solidFill>
          <a:ln w="12700">
            <a:solidFill>
              <a:srgbClr val="2C3844"/>
            </a:solidFill>
            <a:prstDash val="solid"/>
          </a:ln>
        </p:spPr>
      </p:sp>
      <p:sp>
        <p:nvSpPr>
          <p:cNvPr id="11" name="Text 8"/>
          <p:cNvSpPr txBox="1"/>
          <p:nvPr/>
        </p:nvSpPr>
        <p:spPr>
          <a:xfrm>
            <a:off x="1143000" y="4663440"/>
            <a:ext cx="9875520" cy="158496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zmodload -R ./libfoo.dylib</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znative load MenkeTechnologies/zshrs-forgit</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znative load zsh-users/zsh-autosuggestions</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18 · Absorbing foreign binaries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Extensibility / docs/INVENTIONS.md entry 18</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git runs as a builtin with no fork, exec or PATH lookup. An fzf-compatible finder runs in-process.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500" dirty="0">
                <a:solidFill>
                  <a:schemeClr val="accent4"/>
                </a:solidFill>
              </a:rPr>
              <a:t>git: zshrs-native build</a:t>
            </a:r>
            <a:endParaRPr lang="en-US" sz="2500" dirty="0"/>
          </a:p>
          <a:p>
            <a:pPr marL="342900" indent="-342900">
              <a:spcAft>
                <a:spcPts val="1000"/>
              </a:spcAft>
              <a:buSzPct val="100000"/>
              <a:buChar char="•"/>
            </a:pPr>
            <a:r>
              <a:rPr lang="en-US" sz="2500" dirty="0">
                <a:solidFill>
                  <a:schemeClr val="accent4"/>
                </a:solidFill>
              </a:rPr>
              <a:t>arb --fzf honours FZF_DEFAULT_OPTS and FZF_DEFAULT_OPTS_FILE</a:t>
            </a:r>
            <a:endParaRPr lang="en-US" sz="2500" dirty="0"/>
          </a:p>
          <a:p>
            <a:pPr marL="342900" indent="-342900">
              <a:spcAft>
                <a:spcPts val="1000"/>
              </a:spcAft>
              <a:buSzPct val="100000"/>
              <a:buChar char="•"/>
            </a:pPr>
            <a:r>
              <a:rPr lang="en-US" sz="2500" dirty="0">
                <a:solidFill>
                  <a:schemeClr val="accent4"/>
                </a:solidFill>
              </a:rPr>
              <a:t>48 coreutils in the main binary</a:t>
            </a:r>
            <a:endParaRPr lang="en-US" sz="25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BusyBox has no git applet. Nushell's gstat is status-only in a child process. git-shell execs real git.</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19 · Two axes of emulation fidelity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Compatibility / docs/INVENTIONS.md entry 19</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--sh reproduces /bin/sh. --sh --zsh reproduces zsh's model of /bin/sh. Both are available.</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Bare POSIX modes use XSI echo where zsh's emulate sh sets BSD_ECHO</a:t>
            </a:r>
            <a:endParaRPr lang="en-US" sz="2400" dirty="0"/>
          </a:p>
          <a:p>
            <a:pPr marL="342900" indent="-342900">
              <a:spcAft>
                <a:spcPts val="1000"/>
              </a:spcAft>
              <a:buSzPct val="100000"/>
              <a:buChar char="•"/>
            </a:pPr>
            <a:r>
              <a:rPr lang="en-US" sz="2400" dirty="0">
                <a:solidFill>
                  <a:schemeClr val="bg2"/>
                </a:solidFill>
              </a:rPr>
              <a:t>--bash accepts bash's own set -o names</a:t>
            </a:r>
            <a:endParaRPr lang="en-US" sz="2400" dirty="0"/>
          </a:p>
          <a:p>
            <a:pPr marL="342900" indent="-342900">
              <a:spcAft>
                <a:spcPts val="1000"/>
              </a:spcAft>
              <a:buSzPct val="100000"/>
              <a:buChar char="•"/>
            </a:pPr>
            <a:r>
              <a:rPr lang="en-US" sz="2400" dirty="0">
                <a:solidFill>
                  <a:schemeClr val="bg2"/>
                </a:solidFill>
              </a:rPr>
              <a:t>Eight Bourne-family dialects through one bytecode core</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Each mode is verified against its real reference shell, not against zsh's approximation. No precedent found for offering both.</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20 · Hybrid port: native spine, interpreted leaves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Compatibility / docs/INVENTIONS.md entry 20</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Completion engine functions are ported to Rust with citations. End-user completers are copied verbatim alongside them.</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600" dirty="0">
                <a:solidFill>
                  <a:schemeClr val="bg2"/>
                </a:solidFill>
              </a:rPr>
              <a:t>src/compsys/ported/ mirrors zsh's Completion/ layout</a:t>
            </a:r>
            <a:endParaRPr lang="en-US" sz="2600" dirty="0"/>
          </a:p>
          <a:p>
            <a:pPr marL="342900" indent="-342900">
              <a:spcAft>
                <a:spcPts val="1000"/>
              </a:spcAft>
              <a:buSzPct val="100000"/>
              <a:buChar char="•"/>
            </a:pPr>
            <a:r>
              <a:rPr lang="en-US" sz="2600" dirty="0">
                <a:solidFill>
                  <a:schemeClr val="bg2"/>
                </a:solidFill>
              </a:rPr>
              <a:t>991 upstream files verbatim, 250 engine ports in Rust</a:t>
            </a:r>
            <a:endParaRPr lang="en-US" sz="2600" dirty="0"/>
          </a:p>
          <a:p>
            <a:pPr marL="342900" indent="-342900">
              <a:spcAft>
                <a:spcPts val="1000"/>
              </a:spcAft>
              <a:buSzPct val="100000"/>
              <a:buChar char="•"/>
            </a:pPr>
            <a:r>
              <a:rPr lang="en-US" sz="2600" dirty="0">
                <a:solidFill>
                  <a:schemeClr val="bg2"/>
                </a:solidFill>
              </a:rPr>
              <a:t>1,241 files in one tree</a:t>
            </a:r>
            <a:endParaRPr lang="en-US" sz="26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The shape of a JIT with an interpreter fallback, applied to a script framework.</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24 · Invariants enforced in CI</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Verification / docs/INVENTIONS.md entry 24</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tests/port_purity.rs freezes the port directory: mirror a real Src/&lt;x&gt;.c, cite the C function, no new files, no invented helper names.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800" dirty="0">
                <a:solidFill>
                  <a:schemeClr val="accent4"/>
                </a:solidFill>
              </a:rPr>
              <a:t>tests/tree_walker_absent.rs asserts the old interpreter is gone</a:t>
            </a:r>
            <a:endParaRPr lang="en-US" sz="2800" dirty="0"/>
          </a:p>
          <a:p>
            <a:pPr marL="342900" indent="-342900">
              <a:spcAft>
                <a:spcPts val="1000"/>
              </a:spcAft>
              <a:buSzPct val="100000"/>
              <a:buChar char="•"/>
            </a:pPr>
            <a:r>
              <a:rPr lang="en-US" sz="2800" dirty="0">
                <a:solidFill>
                  <a:schemeClr val="accent4"/>
                </a:solidFill>
              </a:rPr>
              <a:t>174 behavioural pins in no_tree_walker_dispatch.rs</a:t>
            </a:r>
            <a:endParaRPr lang="en-US" sz="28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Contributors and code-generation tools both invent helpers and files. A test closes both, not review.</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25 · Differential fuzzing against zsh</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Verification / docs/INVENTIONS.md entry 25</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Grammar-driven, seed-replayable snippets run through zshrs and real zsh. Divergences are re-confirmed three times.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accent4"/>
                </a:solidFill>
              </a:rPr>
              <a:t>22,200 cases across 74 modes</a:t>
            </a:r>
            <a:endParaRPr lang="en-US" sz="3000" dirty="0"/>
          </a:p>
          <a:p>
            <a:pPr marL="342900" indent="-342900">
              <a:spcAft>
                <a:spcPts val="1000"/>
              </a:spcAft>
              <a:buSzPct val="100000"/>
              <a:buChar char="•"/>
            </a:pPr>
            <a:r>
              <a:rPr lang="en-US" sz="3000" dirty="0">
                <a:solidFill>
                  <a:schemeClr val="accent4"/>
                </a:solidFill>
              </a:rPr>
              <a:t>27 divergences (0.12%)</a:t>
            </a:r>
            <a:endParaRPr lang="en-US" sz="3000" dirty="0"/>
          </a:p>
          <a:p>
            <a:pPr marL="342900" indent="-342900">
              <a:spcAft>
                <a:spcPts val="1000"/>
              </a:spcAft>
              <a:buSzPct val="100000"/>
              <a:buChar char="•"/>
            </a:pPr>
            <a:r>
              <a:rPr lang="en-US" sz="3000" dirty="0">
                <a:solidFill>
                  <a:schemeClr val="accent4"/>
                </a:solidFill>
              </a:rPr>
              <a:t>71 of 74 modes at zero</a:t>
            </a:r>
            <a:endParaRPr lang="en-US" sz="30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371600"/>
          </a:xfrm>
          <a:prstGeom prst="rect">
            <a:avLst/>
          </a:prstGeom>
          <a:noFill/>
          <a:ln/>
        </p:spPr>
        <p:txBody>
          <a:bodyPr wrap="square" lIns="0" tIns="0" rIns="0" bIns="0" rtlCol="0" anchor="t"/>
          <a:lstStyle/>
          <a:p>
            <a:pPr indent="0" marL="0">
              <a:buNone/>
            </a:pPr>
            <a:r>
              <a:rPr lang="en-US" sz="1600" dirty="0">
                <a:solidFill>
                  <a:schemeClr val="accent6"/>
                </a:solidFill>
              </a:rPr>
              <a:t>McKeeman named it in 1998, Csmith made it standard for compilers. Nobody had aimed it at a shell.</a:t>
            </a:r>
            <a:endParaRPr lang="en-US" sz="1600" dirty="0"/>
          </a:p>
        </p:txBody>
      </p:sp>
      <p:graphicFrame>
        <p:nvGraphicFramePr>
          <p:cNvPr id="10" name="Chart 0" descr=""/>
          <p:cNvGraphicFramePr/>
          <p:nvPr/>
        </p:nvGraphicFramePr>
        <p:xfrm>
          <a:off x="7589520" y="3611880"/>
          <a:ext cx="3657600" cy="20574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26 · A formatter in the shell binary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26</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--fmt reindents blocks, applies idiomatic spacing, is heredoc-safe and idempotent. The same engine backs LSP formatting.</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stdin to stdout, or in place with -w</a:t>
            </a:r>
            <a:endParaRPr lang="en-US" sz="3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gofmt made this expected in 2009. Shells got shfmt, a third-party Go program.</a:t>
            </a:r>
            <a:endParaRPr lang="en-US" sz="1700" dirty="0"/>
          </a:p>
        </p:txBody>
      </p:sp>
      <p:sp>
        <p:nvSpPr>
          <p:cNvPr id="10" name="Shape 7"/>
          <p:cNvSpPr/>
          <p:nvPr/>
        </p:nvSpPr>
        <p:spPr>
          <a:xfrm>
            <a:off x="822960" y="4434840"/>
            <a:ext cx="10515600" cy="985520"/>
          </a:xfrm>
          <a:prstGeom prst="roundRect">
            <a:avLst>
              <a:gd name="adj" fmla="val 11134"/>
            </a:avLst>
          </a:prstGeom>
          <a:solidFill>
            <a:schemeClr val="tx2"/>
          </a:solidFill>
          <a:ln w="12700">
            <a:solidFill>
              <a:srgbClr val="2C3844"/>
            </a:solidFill>
            <a:prstDash val="solid"/>
          </a:ln>
        </p:spPr>
      </p:sp>
      <p:sp>
        <p:nvSpPr>
          <p:cNvPr id="11" name="Text 8"/>
          <p:cNvSpPr txBox="1"/>
          <p:nvPr/>
        </p:nvSpPr>
        <p:spPr>
          <a:xfrm>
            <a:off x="1143000" y="4663440"/>
            <a:ext cx="9875520" cy="52832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--fmt [-w] [-t] [-i N] [FILE...]</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27 · Live completion inside the editor</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27</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The language server answers from the real compsys completers, so git ch completes checkout and git checkout lists real branches.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700" dirty="0">
                <a:solidFill>
                  <a:schemeClr val="bg2"/>
                </a:solidFill>
              </a:rPr>
              <a:t>Reads the recorded environment from the canonical shard</a:t>
            </a:r>
            <a:endParaRPr lang="en-US" sz="2700" dirty="0"/>
          </a:p>
          <a:p>
            <a:pPr marL="342900" indent="-342900">
              <a:spcAft>
                <a:spcPts val="1000"/>
              </a:spcAft>
              <a:buSzPct val="100000"/>
              <a:buChar char="•"/>
            </a:pPr>
            <a:r>
              <a:rPr lang="en-US" sz="2700" dirty="0">
                <a:solidFill>
                  <a:schemeClr val="bg2"/>
                </a:solidFill>
              </a:rPr>
              <a:t>Shell-out completers are killed at the request deadline</a:t>
            </a:r>
            <a:endParaRPr lang="en-US" sz="27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bash-language-server and fish-lsp re-derive a parser in a separate Node project. Here the server is the shell. See docs/IN_EDITOR_COMPSYS_COMPLETION.md.</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28 · LSP and DAP in the binary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28</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zshrs --lsp and zshrs --dap ship in the shell. --dump-plugins lists every sourced plugin for the IDE.</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First in the Bourne lineage with either, and with both</a:t>
            </a:r>
            <a:endParaRPr lang="en-US" sz="2000" dirty="0"/>
          </a:p>
          <a:p>
            <a:pPr marL="342900" indent="-342900">
              <a:spcAft>
                <a:spcPts val="1000"/>
              </a:spcAft>
              <a:buSzPct val="100000"/>
              <a:buChar char="•"/>
            </a:pPr>
            <a:r>
              <a:rPr lang="en-US" sz="2000" dirty="0">
                <a:solidFill>
                  <a:schemeClr val="bg2"/>
                </a:solidFill>
              </a:rPr>
              <a:t>Plugin state shows as IDE library roots</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Elvish and Nushell have LSP, Endo has both, all outside the Bourne lineage. Do not claim first with a language server.</a:t>
            </a:r>
            <a:endParaRPr lang="en-US" sz="1700" dirty="0"/>
          </a:p>
        </p:txBody>
      </p:sp>
      <p:sp>
        <p:nvSpPr>
          <p:cNvPr id="10" name="Shape 7"/>
          <p:cNvSpPr/>
          <p:nvPr/>
        </p:nvSpPr>
        <p:spPr>
          <a:xfrm>
            <a:off x="822960" y="4434840"/>
            <a:ext cx="10515600" cy="2042160"/>
          </a:xfrm>
          <a:prstGeom prst="roundRect">
            <a:avLst>
              <a:gd name="adj" fmla="val 5373"/>
            </a:avLst>
          </a:prstGeom>
          <a:solidFill>
            <a:schemeClr val="tx2"/>
          </a:solidFill>
          <a:ln w="12700">
            <a:solidFill>
              <a:srgbClr val="2C3844"/>
            </a:solidFill>
            <a:prstDash val="solid"/>
          </a:ln>
        </p:spPr>
      </p:sp>
      <p:sp>
        <p:nvSpPr>
          <p:cNvPr id="11" name="Text 8"/>
          <p:cNvSpPr txBox="1"/>
          <p:nvPr/>
        </p:nvSpPr>
        <p:spPr>
          <a:xfrm>
            <a:off x="1143000" y="4663440"/>
            <a:ext cx="9875520" cy="158496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--lsp</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--dap HOST:PORT</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--dump-plugins</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29 · A test framework in the binary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29</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Fourteen assertion verbs and a worker-pool runner: one persistent subprocess per CPU, fork-on-receive per test.</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3000" dirty="0">
                <a:solidFill>
                  <a:schemeClr val="bg2"/>
                </a:solidFill>
              </a:rPr>
              <a:t>JSON over pipes</a:t>
            </a:r>
            <a:endParaRPr lang="en-US" sz="3000" dirty="0"/>
          </a:p>
          <a:p>
            <a:pPr marL="342900" indent="-342900">
              <a:spcAft>
                <a:spcPts val="1000"/>
              </a:spcAft>
              <a:buSzPct val="100000"/>
              <a:buChar char="•"/>
            </a:pPr>
            <a:r>
              <a:rPr lang="en-US" sz="3000" dirty="0">
                <a:solidFill>
                  <a:schemeClr val="bg2"/>
                </a:solidFill>
              </a:rPr>
              <a:t>Per-test fd 2 capture, so workers cannot tear each other's output</a:t>
            </a:r>
            <a:endParaRPr lang="en-US" sz="30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bats-core, shunit2, ShellSpec and zunit are all separate installs.</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List 1 · Get started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737360"/>
            <a:ext cx="10515600" cy="2570480"/>
          </a:xfrm>
          <a:prstGeom prst="roundRect">
            <a:avLst>
              <a:gd name="adj" fmla="val 4269"/>
            </a:avLst>
          </a:prstGeom>
          <a:solidFill>
            <a:schemeClr val="tx2"/>
          </a:solidFill>
          <a:ln w="12700">
            <a:solidFill>
              <a:srgbClr val="2C3844"/>
            </a:solidFill>
            <a:prstDash val="solid"/>
          </a:ln>
        </p:spPr>
      </p:sp>
      <p:sp>
        <p:nvSpPr>
          <p:cNvPr id="6" name="Text 3"/>
          <p:cNvSpPr txBox="1"/>
          <p:nvPr/>
        </p:nvSpPr>
        <p:spPr>
          <a:xfrm>
            <a:off x="1143000" y="1965960"/>
            <a:ext cx="9875520" cy="211328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tap MenkeTechnologies/menketech</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install zshrs</a:t>
            </a:r>
            <a:endParaRPr lang="en-US" sz="2600" dirty="0"/>
          </a:p>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 open a new terminal, then:</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--version</a:t>
            </a:r>
            <a:endParaRPr lang="en-US" sz="2600" dirty="0"/>
          </a:p>
        </p:txBody>
      </p:sp>
      <p:sp>
        <p:nvSpPr>
          <p:cNvPr id="7" name="Text 4"/>
          <p:cNvSpPr txBox="1"/>
          <p:nvPr/>
        </p:nvSpPr>
        <p:spPr>
          <a:xfrm>
            <a:off x="822960" y="4480560"/>
            <a:ext cx="10515600" cy="1371600"/>
          </a:xfrm>
          <a:prstGeom prst="rect">
            <a:avLst/>
          </a:prstGeom>
          <a:noFill/>
          <a:ln/>
        </p:spPr>
        <p:txBody>
          <a:bodyPr wrap="square" lIns="0" tIns="0" rIns="0" bIns="0" rtlCol="0" anchor="t"/>
          <a:lstStyle/>
          <a:p>
            <a:pPr marL="342900" indent="-342900">
              <a:spcAft>
                <a:spcPts val="1000"/>
              </a:spcAft>
              <a:buSzPct val="100000"/>
              <a:buChar char="•"/>
            </a:pPr>
            <a:r>
              <a:rPr lang="en-US" sz="2500" dirty="0">
                <a:solidFill>
                  <a:schemeClr val="bg2"/>
                </a:solidFill>
              </a:rPr>
              <a:t>Optional: brew install zshrs-all for the recorder and daemon</a:t>
            </a:r>
            <a:endParaRPr lang="en-US" sz="2500" dirty="0"/>
          </a:p>
          <a:p>
            <a:pPr marL="342900" indent="-342900">
              <a:spcAft>
                <a:spcPts val="1000"/>
              </a:spcAft>
              <a:buSzPct val="100000"/>
              <a:buChar char="•"/>
            </a:pPr>
            <a:r>
              <a:rPr lang="en-US" sz="2500" dirty="0">
                <a:solidFill>
                  <a:schemeClr val="bg2"/>
                </a:solidFill>
              </a:rPr>
              <a:t>Optional: cargo install zshrs</a:t>
            </a:r>
            <a:endParaRPr lang="en-US" sz="25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List 2 · Check it</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737360"/>
            <a:ext cx="10515600" cy="2570480"/>
          </a:xfrm>
          <a:prstGeom prst="roundRect">
            <a:avLst>
              <a:gd name="adj" fmla="val 4269"/>
            </a:avLst>
          </a:prstGeom>
          <a:solidFill>
            <a:schemeClr val="accent4"/>
          </a:solidFill>
          <a:ln w="12700">
            <a:solidFill>
              <a:srgbClr val="2C3844"/>
            </a:solidFill>
            <a:prstDash val="solid"/>
          </a:ln>
        </p:spPr>
      </p:sp>
      <p:sp>
        <p:nvSpPr>
          <p:cNvPr id="6" name="Text 3"/>
          <p:cNvSpPr txBox="1"/>
          <p:nvPr/>
        </p:nvSpPr>
        <p:spPr>
          <a:xfrm>
            <a:off x="1143000" y="1965960"/>
            <a:ext cx="9875520" cy="211328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zsh-bench</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ps -o rss= -p $$</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cargo build -p zshrs-daemon</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cargo test --test '*parity*' -- --test-threads=1</a:t>
            </a:r>
            <a:endParaRPr lang="en-US" sz="2600" dirty="0"/>
          </a:p>
        </p:txBody>
      </p:sp>
      <p:sp>
        <p:nvSpPr>
          <p:cNvPr id="7" name="Text 4"/>
          <p:cNvSpPr txBox="1"/>
          <p:nvPr/>
        </p:nvSpPr>
        <p:spPr>
          <a:xfrm>
            <a:off x="822960" y="4389120"/>
            <a:ext cx="10515600" cy="1371600"/>
          </a:xfrm>
          <a:prstGeom prst="rect">
            <a:avLst/>
          </a:prstGeom>
          <a:noFill/>
          <a:ln/>
        </p:spPr>
        <p:txBody>
          <a:bodyPr wrap="square" lIns="0" tIns="0" rIns="0" bIns="0" rtlCol="0" anchor="t"/>
          <a:lstStyle/>
          <a:p>
            <a:pPr marL="342900" indent="-342900">
              <a:spcAft>
                <a:spcPts val="1000"/>
              </a:spcAft>
              <a:buSzPct val="100000"/>
              <a:buChar char="•"/>
            </a:pPr>
            <a:r>
              <a:rPr lang="en-US" sz="2500" dirty="0">
                <a:solidFill>
                  <a:schemeClr val="accent4"/>
                </a:solidFill>
              </a:rPr>
              <a:t>Serial runs only: parallel runs report false failures</a:t>
            </a:r>
            <a:endParaRPr lang="en-US" sz="2500" dirty="0"/>
          </a:p>
          <a:p>
            <a:pPr marL="342900" indent="-342900">
              <a:spcAft>
                <a:spcPts val="1000"/>
              </a:spcAft>
              <a:buSzPct val="100000"/>
              <a:buChar char="•"/>
            </a:pPr>
            <a:r>
              <a:rPr lang="en-US" sz="2500" dirty="0">
                <a:solidFill>
                  <a:schemeClr val="accent4"/>
                </a:solidFill>
              </a:rPr>
              <a:t>Post any divergence as an issue</a:t>
            </a:r>
            <a:endParaRPr lang="en-US" sz="25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List 3 · Turn things on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737360"/>
            <a:ext cx="10515600" cy="4155440"/>
          </a:xfrm>
          <a:prstGeom prst="roundRect">
            <a:avLst>
              <a:gd name="adj" fmla="val 2641"/>
            </a:avLst>
          </a:prstGeom>
          <a:solidFill>
            <a:schemeClr val="tx2"/>
          </a:solidFill>
          <a:ln w="12700">
            <a:solidFill>
              <a:srgbClr val="2C3844"/>
            </a:solidFill>
            <a:prstDash val="solid"/>
          </a:ln>
        </p:spPr>
      </p:sp>
      <p:sp>
        <p:nvSpPr>
          <p:cNvPr id="6" name="Text 3"/>
          <p:cNvSpPr txBox="1"/>
          <p:nvPr/>
        </p:nvSpPr>
        <p:spPr>
          <a:xfrm>
            <a:off x="1143000" y="1965960"/>
            <a:ext cx="9875520" cy="3698240"/>
          </a:xfrm>
          <a:prstGeom prst="rect">
            <a:avLst/>
          </a:prstGeom>
          <a:noFill/>
          <a:ln/>
        </p:spPr>
        <p:txBody>
          <a:bodyPr wrap="square" lIns="0" tIns="0" rIns="0" bIns="0" rtlCol="0" anchor="t"/>
          <a:lstStyle/>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 ~/.zshrs/zshrs.toml</a:t>
            </a:r>
            <a:endParaRPr lang="en-US" sz="2600" dirty="0"/>
          </a:p>
          <a:p>
            <a:pPr indent="0" marL="0">
              <a:lnSpc>
                <a:spcPct val="125000"/>
              </a:lnSpc>
              <a:buNone/>
            </a:pPr>
            <a:r>
              <a:rPr lang="en-US" sz="2600" dirty="0">
                <a:solidFill>
                  <a:schemeClr val="accent3"/>
                </a:solidFill>
                <a:latin typeface="Courier New" pitchFamily="34" charset="0"/>
                <a:ea typeface="Courier New" pitchFamily="34" charset="-122"/>
                <a:cs typeface="Courier New" pitchFamily="34" charset="-120"/>
              </a:rPr>
              <a:t>[zle]</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syntax_highlight = true</a:t>
            </a:r>
            <a:endParaRPr lang="en-US" sz="2600" dirty="0"/>
          </a:p>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 shell:</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zd daemon start</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zshrs --prewarm-autoloads</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znative load owner/repo</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List 4 · Help</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600200"/>
            <a:ext cx="10515600" cy="731520"/>
          </a:xfrm>
          <a:prstGeom prst="roundRect">
            <a:avLst>
              <a:gd name="adj" fmla="val 15000"/>
            </a:avLst>
          </a:prstGeom>
          <a:solidFill>
            <a:srgbClr val="FFFFFF"/>
          </a:solidFill>
          <a:ln w="12700">
            <a:solidFill>
              <a:srgbClr val="D9D5C8"/>
            </a:solidFill>
            <a:prstDash val="solid"/>
          </a:ln>
        </p:spPr>
      </p:sp>
      <p:sp>
        <p:nvSpPr>
          <p:cNvPr id="6" name="Text 3"/>
          <p:cNvSpPr txBox="1"/>
          <p:nvPr/>
        </p:nvSpPr>
        <p:spPr>
          <a:xfrm>
            <a:off x="1097280" y="160020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1</a:t>
            </a:r>
            <a:endParaRPr lang="en-US" sz="2600" dirty="0"/>
          </a:p>
        </p:txBody>
      </p:sp>
      <p:sp>
        <p:nvSpPr>
          <p:cNvPr id="7" name="Text 4"/>
          <p:cNvSpPr txBox="1"/>
          <p:nvPr/>
        </p:nvSpPr>
        <p:spPr>
          <a:xfrm>
            <a:off x="1828800" y="160020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Use it.</a:t>
            </a:r>
            <a:endParaRPr lang="en-US" sz="2800" dirty="0"/>
          </a:p>
        </p:txBody>
      </p:sp>
      <p:sp>
        <p:nvSpPr>
          <p:cNvPr id="8" name="Shape 5"/>
          <p:cNvSpPr/>
          <p:nvPr/>
        </p:nvSpPr>
        <p:spPr>
          <a:xfrm>
            <a:off x="822960" y="2468880"/>
            <a:ext cx="10515600" cy="731520"/>
          </a:xfrm>
          <a:prstGeom prst="roundRect">
            <a:avLst>
              <a:gd name="adj" fmla="val 15000"/>
            </a:avLst>
          </a:prstGeom>
          <a:solidFill>
            <a:srgbClr val="FFFFFF"/>
          </a:solidFill>
          <a:ln w="12700">
            <a:solidFill>
              <a:srgbClr val="D9D5C8"/>
            </a:solidFill>
            <a:prstDash val="solid"/>
          </a:ln>
        </p:spPr>
      </p:sp>
      <p:sp>
        <p:nvSpPr>
          <p:cNvPr id="9" name="Text 6"/>
          <p:cNvSpPr txBox="1"/>
          <p:nvPr/>
        </p:nvSpPr>
        <p:spPr>
          <a:xfrm>
            <a:off x="1097280" y="246888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2</a:t>
            </a:r>
            <a:endParaRPr lang="en-US" sz="2600" dirty="0"/>
          </a:p>
        </p:txBody>
      </p:sp>
      <p:sp>
        <p:nvSpPr>
          <p:cNvPr id="10" name="Text 7"/>
          <p:cNvSpPr txBox="1"/>
          <p:nvPr/>
        </p:nvSpPr>
        <p:spPr>
          <a:xfrm>
            <a:off x="1828800" y="246888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Check the parity.</a:t>
            </a:r>
            <a:endParaRPr lang="en-US" sz="2800" dirty="0"/>
          </a:p>
        </p:txBody>
      </p:sp>
      <p:sp>
        <p:nvSpPr>
          <p:cNvPr id="11" name="Shape 8"/>
          <p:cNvSpPr/>
          <p:nvPr/>
        </p:nvSpPr>
        <p:spPr>
          <a:xfrm>
            <a:off x="822960" y="3337560"/>
            <a:ext cx="10515600" cy="731520"/>
          </a:xfrm>
          <a:prstGeom prst="roundRect">
            <a:avLst>
              <a:gd name="adj" fmla="val 15000"/>
            </a:avLst>
          </a:prstGeom>
          <a:solidFill>
            <a:srgbClr val="FFFFFF"/>
          </a:solidFill>
          <a:ln w="12700">
            <a:solidFill>
              <a:srgbClr val="D9D5C8"/>
            </a:solidFill>
            <a:prstDash val="solid"/>
          </a:ln>
        </p:spPr>
      </p:sp>
      <p:sp>
        <p:nvSpPr>
          <p:cNvPr id="12" name="Text 9"/>
          <p:cNvSpPr txBox="1"/>
          <p:nvPr/>
        </p:nvSpPr>
        <p:spPr>
          <a:xfrm>
            <a:off x="1097280" y="333756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3</a:t>
            </a:r>
            <a:endParaRPr lang="en-US" sz="2600" dirty="0"/>
          </a:p>
        </p:txBody>
      </p:sp>
      <p:sp>
        <p:nvSpPr>
          <p:cNvPr id="13" name="Text 10"/>
          <p:cNvSpPr txBox="1"/>
          <p:nvPr/>
        </p:nvSpPr>
        <p:spPr>
          <a:xfrm>
            <a:off x="1828800" y="3337560"/>
            <a:ext cx="9144000" cy="731520"/>
          </a:xfrm>
          <a:prstGeom prst="rect">
            <a:avLst/>
          </a:prstGeom>
          <a:noFill/>
          <a:ln/>
        </p:spPr>
        <p:txBody>
          <a:bodyPr wrap="square" lIns="0" tIns="0" rIns="0" bIns="0" rtlCol="0" anchor="ctr"/>
          <a:lstStyle/>
          <a:p>
            <a:pPr indent="0" marL="0">
              <a:buNone/>
            </a:pPr>
            <a:r>
              <a:rPr lang="en-US" sz="2400" dirty="0">
                <a:solidFill>
                  <a:schemeClr val="accent4"/>
                </a:solidFill>
              </a:rPr>
              <a:t>Review security, performance, energy and hardware.</a:t>
            </a:r>
            <a:endParaRPr lang="en-US" sz="2400" dirty="0"/>
          </a:p>
        </p:txBody>
      </p:sp>
      <p:sp>
        <p:nvSpPr>
          <p:cNvPr id="14" name="Shape 11"/>
          <p:cNvSpPr/>
          <p:nvPr/>
        </p:nvSpPr>
        <p:spPr>
          <a:xfrm>
            <a:off x="822960" y="4206240"/>
            <a:ext cx="10515600" cy="731520"/>
          </a:xfrm>
          <a:prstGeom prst="roundRect">
            <a:avLst>
              <a:gd name="adj" fmla="val 15000"/>
            </a:avLst>
          </a:prstGeom>
          <a:solidFill>
            <a:srgbClr val="FFFFFF"/>
          </a:solidFill>
          <a:ln w="12700">
            <a:solidFill>
              <a:srgbClr val="D9D5C8"/>
            </a:solidFill>
            <a:prstDash val="solid"/>
          </a:ln>
        </p:spPr>
      </p:sp>
      <p:sp>
        <p:nvSpPr>
          <p:cNvPr id="15" name="Text 12"/>
          <p:cNvSpPr txBox="1"/>
          <p:nvPr/>
        </p:nvSpPr>
        <p:spPr>
          <a:xfrm>
            <a:off x="1097280" y="420624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4</a:t>
            </a:r>
            <a:endParaRPr lang="en-US" sz="2600" dirty="0"/>
          </a:p>
        </p:txBody>
      </p:sp>
      <p:sp>
        <p:nvSpPr>
          <p:cNvPr id="16" name="Text 13"/>
          <p:cNvSpPr txBox="1"/>
          <p:nvPr/>
        </p:nvSpPr>
        <p:spPr>
          <a:xfrm>
            <a:off x="1828800" y="420624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Open issues.</a:t>
            </a:r>
            <a:endParaRPr lang="en-US" sz="2800" dirty="0"/>
          </a:p>
        </p:txBody>
      </p:sp>
      <p:sp>
        <p:nvSpPr>
          <p:cNvPr id="17" name="Shape 14"/>
          <p:cNvSpPr/>
          <p:nvPr/>
        </p:nvSpPr>
        <p:spPr>
          <a:xfrm>
            <a:off x="822960" y="5074920"/>
            <a:ext cx="10515600" cy="731520"/>
          </a:xfrm>
          <a:prstGeom prst="roundRect">
            <a:avLst>
              <a:gd name="adj" fmla="val 15000"/>
            </a:avLst>
          </a:prstGeom>
          <a:solidFill>
            <a:srgbClr val="FFFFFF"/>
          </a:solidFill>
          <a:ln w="12700">
            <a:solidFill>
              <a:srgbClr val="D9D5C8"/>
            </a:solidFill>
            <a:prstDash val="solid"/>
          </a:ln>
        </p:spPr>
      </p:sp>
      <p:sp>
        <p:nvSpPr>
          <p:cNvPr id="18" name="Text 15"/>
          <p:cNvSpPr txBox="1"/>
          <p:nvPr/>
        </p:nvSpPr>
        <p:spPr>
          <a:xfrm>
            <a:off x="1097280" y="5074920"/>
            <a:ext cx="548640" cy="731520"/>
          </a:xfrm>
          <a:prstGeom prst="rect">
            <a:avLst/>
          </a:prstGeom>
          <a:noFill/>
          <a:ln/>
        </p:spPr>
        <p:txBody>
          <a:bodyPr wrap="square" lIns="0" tIns="0" rIns="0" bIns="0" rtlCol="0" anchor="ctr"/>
          <a:lstStyle/>
          <a:p>
            <a:pPr indent="0" marL="0">
              <a:buNone/>
            </a:pPr>
            <a:r>
              <a:rPr lang="en-US" sz="2600" b="1" dirty="0">
                <a:solidFill>
                  <a:schemeClr val="accent3"/>
                </a:solidFill>
              </a:rPr>
              <a:t>5</a:t>
            </a:r>
            <a:endParaRPr lang="en-US" sz="2600" dirty="0"/>
          </a:p>
        </p:txBody>
      </p:sp>
      <p:sp>
        <p:nvSpPr>
          <p:cNvPr id="19" name="Text 16"/>
          <p:cNvSpPr txBox="1"/>
          <p:nvPr/>
        </p:nvSpPr>
        <p:spPr>
          <a:xfrm>
            <a:off x="1828800" y="5074920"/>
            <a:ext cx="9144000" cy="731520"/>
          </a:xfrm>
          <a:prstGeom prst="rect">
            <a:avLst/>
          </a:prstGeom>
          <a:noFill/>
          <a:ln/>
        </p:spPr>
        <p:txBody>
          <a:bodyPr wrap="square" lIns="0" tIns="0" rIns="0" bIns="0" rtlCol="0" anchor="ctr"/>
          <a:lstStyle/>
          <a:p>
            <a:pPr indent="0" marL="0">
              <a:buNone/>
            </a:pPr>
            <a:r>
              <a:rPr lang="en-US" sz="2800" dirty="0">
                <a:solidFill>
                  <a:schemeClr val="accent4"/>
                </a:solidFill>
              </a:rPr>
              <a:t>Ask questions.</a:t>
            </a:r>
            <a:endParaRPr lang="en-US" sz="28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Install again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install</a:t>
            </a:r>
            <a:endParaRPr lang="en-US" sz="1200" dirty="0"/>
          </a:p>
        </p:txBody>
      </p:sp>
      <p:sp>
        <p:nvSpPr>
          <p:cNvPr id="5" name="Shape 2"/>
          <p:cNvSpPr/>
          <p:nvPr/>
        </p:nvSpPr>
        <p:spPr>
          <a:xfrm>
            <a:off x="822960" y="1737360"/>
            <a:ext cx="10515600" cy="2042160"/>
          </a:xfrm>
          <a:prstGeom prst="roundRect">
            <a:avLst>
              <a:gd name="adj" fmla="val 5373"/>
            </a:avLst>
          </a:prstGeom>
          <a:solidFill>
            <a:schemeClr val="tx2"/>
          </a:solidFill>
          <a:ln w="12700">
            <a:solidFill>
              <a:srgbClr val="2C3844"/>
            </a:solidFill>
            <a:prstDash val="solid"/>
          </a:ln>
        </p:spPr>
      </p:sp>
      <p:sp>
        <p:nvSpPr>
          <p:cNvPr id="6" name="Text 3"/>
          <p:cNvSpPr txBox="1"/>
          <p:nvPr/>
        </p:nvSpPr>
        <p:spPr>
          <a:xfrm>
            <a:off x="1143000" y="1965960"/>
            <a:ext cx="9875520" cy="1584960"/>
          </a:xfrm>
          <a:prstGeom prst="rect">
            <a:avLst/>
          </a:prstGeom>
          <a:noFill/>
          <a:ln/>
        </p:spPr>
        <p:txBody>
          <a:bodyPr wrap="square" lIns="0" tIns="0" rIns="0" bIns="0" rtlCol="0" anchor="t"/>
          <a:lstStyle/>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tap MenkeTechnologies/menketech</a:t>
            </a:r>
            <a:endParaRPr lang="en-US" sz="2600" dirty="0"/>
          </a:p>
          <a:p>
            <a:pPr indent="0" marL="0">
              <a:lnSpc>
                <a:spcPct val="125000"/>
              </a:lnSpc>
              <a:buNone/>
            </a:pPr>
            <a:r>
              <a:rPr lang="en-US" sz="2600" dirty="0">
                <a:solidFill>
                  <a:schemeClr val="accent1"/>
                </a:solidFill>
                <a:latin typeface="Courier New" pitchFamily="34" charset="0"/>
                <a:ea typeface="Courier New" pitchFamily="34" charset="-122"/>
                <a:cs typeface="Courier New" pitchFamily="34" charset="-120"/>
              </a:rPr>
              <a:t>brew install zshrs</a:t>
            </a:r>
            <a:endParaRPr lang="en-US" sz="2600" dirty="0"/>
          </a:p>
          <a:p>
            <a:pPr indent="0" marL="0">
              <a:lnSpc>
                <a:spcPct val="125000"/>
              </a:lnSpc>
              <a:buNone/>
            </a:pPr>
            <a:r>
              <a:rPr lang="en-US" sz="2600" dirty="0">
                <a:solidFill>
                  <a:schemeClr val="accent5"/>
                </a:solidFill>
                <a:latin typeface="Courier New" pitchFamily="34" charset="0"/>
                <a:ea typeface="Courier New" pitchFamily="34" charset="-122"/>
                <a:cs typeface="Courier New" pitchFamily="34" charset="-120"/>
              </a:rPr>
              <a:t>brew install zshrs-all   # adds recorder + daemon</a:t>
            </a:r>
            <a:endParaRPr lang="en-US" sz="2600" dirty="0"/>
          </a:p>
        </p:txBody>
      </p:sp>
      <p:sp>
        <p:nvSpPr>
          <p:cNvPr id="7" name="Text 4"/>
          <p:cNvSpPr txBox="1"/>
          <p:nvPr/>
        </p:nvSpPr>
        <p:spPr>
          <a:xfrm>
            <a:off x="822960" y="4114800"/>
            <a:ext cx="10515600" cy="548640"/>
          </a:xfrm>
          <a:prstGeom prst="rect">
            <a:avLst/>
          </a:prstGeom>
          <a:noFill/>
          <a:ln/>
        </p:spPr>
        <p:txBody>
          <a:bodyPr wrap="square" lIns="0" tIns="0" rIns="0" bIns="0" rtlCol="0" anchor="t"/>
          <a:lstStyle/>
          <a:p>
            <a:pPr indent="0" marL="0">
              <a:buNone/>
            </a:pPr>
            <a:r>
              <a:rPr lang="en-US" sz="2600" dirty="0">
                <a:solidFill>
                  <a:schemeClr val="bg2"/>
                </a:solidFill>
              </a:rPr>
              <a:t>Use it, check the parity, review it, open issues.</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3" name="Text 0"/>
          <p:cNvSpPr txBox="1"/>
          <p:nvPr/>
        </p:nvSpPr>
        <p:spPr>
          <a:xfrm>
            <a:off x="822960" y="2377440"/>
            <a:ext cx="10515600" cy="1463040"/>
          </a:xfrm>
          <a:prstGeom prst="rect">
            <a:avLst/>
          </a:prstGeom>
          <a:noFill/>
          <a:ln/>
        </p:spPr>
        <p:txBody>
          <a:bodyPr wrap="square" lIns="0" tIns="0" rIns="0" bIns="0" rtlCol="0" anchor="t"/>
          <a:lstStyle/>
          <a:p>
            <a:pPr indent="0" marL="0">
              <a:buNone/>
            </a:pPr>
            <a:r>
              <a:rPr lang="en-US" sz="6600" b="1" dirty="0">
                <a:solidFill>
                  <a:schemeClr val="accent4"/>
                </a:solidFill>
                <a:latin typeface="Cambria" pitchFamily="34" charset="0"/>
                <a:ea typeface="Cambria" pitchFamily="34" charset="-122"/>
                <a:cs typeface="Cambria" pitchFamily="34" charset="-120"/>
              </a:rPr>
              <a:t>Questions</a:t>
            </a:r>
            <a:endParaRPr lang="en-US" sz="6600" dirty="0"/>
          </a:p>
        </p:txBody>
      </p:sp>
      <p:sp>
        <p:nvSpPr>
          <p:cNvPr id="4" name="Text 1"/>
          <p:cNvSpPr txBox="1"/>
          <p:nvPr/>
        </p:nvSpPr>
        <p:spPr>
          <a:xfrm>
            <a:off x="822960" y="4023360"/>
            <a:ext cx="10515600" cy="548640"/>
          </a:xfrm>
          <a:prstGeom prst="rect">
            <a:avLst/>
          </a:prstGeom>
          <a:noFill/>
          <a:ln/>
        </p:spPr>
        <p:txBody>
          <a:bodyPr wrap="square" lIns="0" tIns="0" rIns="0" bIns="0" rtlCol="0" anchor="t"/>
          <a:lstStyle/>
          <a:p>
            <a:pPr indent="0" marL="0">
              <a:buNone/>
            </a:pPr>
            <a:r>
              <a:rPr lang="en-US" sz="2200" dirty="0">
                <a:solidFill>
                  <a:schemeClr val="accent6"/>
                </a:solidFill>
                <a:latin typeface="Courier New" pitchFamily="34" charset="0"/>
                <a:ea typeface="Courier New" pitchFamily="34" charset="-122"/>
                <a:cs typeface="Courier New" pitchFamily="34" charset="-120"/>
              </a:rPr>
              <a:t>github.com/MenkeTechnologies/zshrs</a:t>
            </a:r>
            <a:endParaRPr lang="en-US" sz="2200" dirty="0"/>
          </a:p>
        </p:txBody>
      </p:sp>
      <p:sp>
        <p:nvSpPr>
          <p:cNvPr id="5"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Backup: open parity items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backup</a:t>
            </a:r>
            <a:endParaRPr lang="en-US" sz="12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4206240"/>
                <a:gridCol w="6309360"/>
              </a:tblGrid>
              <a:tr h="822960">
                <a:tc>
                  <a:txBody>
                    <a:bodyPr/>
                    <a:lstStyle/>
                    <a:p>
                      <a:pPr indent="0" marL="0">
                        <a:buNone/>
                      </a:pPr>
                      <a:r>
                        <a:rPr lang="en-US" sz="2100" b="1" dirty="0">
                          <a:solidFill>
                            <a:schemeClr val="accent2"/>
                          </a:solidFill>
                        </a:rPr>
                        <a:t>Test</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100" b="1" dirty="0">
                          <a:solidFill>
                            <a:schemeClr val="accent2"/>
                          </a:solidFill>
                        </a:rPr>
                        <a:t>Why it is open</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822960">
                <a:tc>
                  <a:txBody>
                    <a:bodyPr/>
                    <a:lstStyle/>
                    <a:p>
                      <a:pPr indent="0" marL="0">
                        <a:buNone/>
                      </a:pPr>
                      <a:r>
                        <a:rPr lang="en-US" sz="2100" dirty="0">
                          <a:solidFill>
                            <a:schemeClr val="accent4"/>
                          </a:solidFill>
                        </a:rPr>
                        <a:t>nul_quoting_format</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100" dirty="0">
                          <a:solidFill>
                            <a:schemeClr val="accent4"/>
                          </a:solidFill>
                        </a:rPr>
                        <a:t>Structural: C metafies NUL, Rust String holds a real NUL</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822960">
                <a:tc>
                  <a:txBody>
                    <a:bodyPr/>
                    <a:lstStyle/>
                    <a:p>
                      <a:pPr indent="0" marL="0">
                        <a:buNone/>
                      </a:pPr>
                      <a:r>
                        <a:rPr lang="en-US" sz="2100" dirty="0">
                          <a:solidFill>
                            <a:schemeClr val="accent4"/>
                          </a:solidFill>
                        </a:rPr>
                        <a:t>zmodload -R complete</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100" dirty="0">
                          <a:solidFill>
                            <a:schemeClr val="accent4"/>
                          </a:solidFill>
                        </a:rPr>
                        <a:t>Not a gap: -R loads native Rust plugins by design</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822960">
                <a:tc>
                  <a:txBody>
                    <a:bodyPr/>
                    <a:lstStyle/>
                    <a:p>
                      <a:pPr indent="0" marL="0">
                        <a:buNone/>
                      </a:pPr>
                      <a:r>
                        <a:rPr lang="en-US" sz="2100" dirty="0">
                          <a:solidFill>
                            <a:schemeClr val="accent4"/>
                          </a:solidFill>
                        </a:rPr>
                        <a:t>config_state_parity (aliases)</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100" dirty="0">
                          <a:solidFill>
                            <a:schemeClr val="accent4"/>
                          </a:solidFill>
                        </a:rPr>
                        <a:t>RC_QUOTES '' in alias bodies; target behaviour undecided</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822960">
                <a:tc>
                  <a:txBody>
                    <a:bodyPr/>
                    <a:lstStyle/>
                    <a:p>
                      <a:pPr indent="0" marL="0">
                        <a:buNone/>
                      </a:pPr>
                      <a:r>
                        <a:rPr lang="en-US" sz="2100" dirty="0">
                          <a:solidFill>
                            <a:schemeClr val="accent4"/>
                          </a:solidFill>
                        </a:rPr>
                        <a:t>bulk_vw_fc_row_015, times_builtin_summary</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100" dirty="0">
                          <a:solidFill>
                            <a:schemeClr val="accent4"/>
                          </a:solidFill>
                        </a:rPr>
                        <a:t>Load artifacts; pass serially</a:t>
                      </a:r>
                      <a:endParaRPr lang="en-US" sz="21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1"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Backup: startup layers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backup</a:t>
            </a:r>
            <a:endParaRPr lang="en-US" sz="1200" dirty="0"/>
          </a:p>
        </p:txBody>
      </p:sp>
      <p:sp>
        <p:nvSpPr>
          <p:cNvPr id="5" name="Shape 2"/>
          <p:cNvSpPr/>
          <p:nvPr/>
        </p:nvSpPr>
        <p:spPr>
          <a:xfrm>
            <a:off x="822960" y="1737360"/>
            <a:ext cx="5120640" cy="3840480"/>
          </a:xfrm>
          <a:prstGeom prst="roundRect">
            <a:avLst>
              <a:gd name="adj" fmla="val 2857"/>
            </a:avLst>
          </a:prstGeom>
          <a:solidFill>
            <a:schemeClr val="tx2"/>
          </a:solidFill>
          <a:ln w="12700">
            <a:solidFill>
              <a:srgbClr val="2C3844"/>
            </a:solidFill>
            <a:prstDash val="solid"/>
          </a:ln>
        </p:spPr>
      </p:sp>
      <p:sp>
        <p:nvSpPr>
          <p:cNvPr id="6" name="Text 3"/>
          <p:cNvSpPr txBox="1"/>
          <p:nvPr/>
        </p:nvSpPr>
        <p:spPr>
          <a:xfrm>
            <a:off x="1097280" y="1965960"/>
            <a:ext cx="45720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The claim</a:t>
            </a:r>
            <a:endParaRPr lang="en-US" sz="2600" dirty="0"/>
          </a:p>
        </p:txBody>
      </p:sp>
      <p:sp>
        <p:nvSpPr>
          <p:cNvPr id="7" name="Text 4"/>
          <p:cNvSpPr txBox="1"/>
          <p:nvPr/>
        </p:nvSpPr>
        <p:spPr>
          <a:xfrm>
            <a:off x="1097280" y="2560320"/>
            <a:ext cx="4572000" cy="2788920"/>
          </a:xfrm>
          <a:prstGeom prst="rect">
            <a:avLst/>
          </a:prstGeom>
          <a:noFill/>
          <a:ln/>
        </p:spPr>
        <p:txBody>
          <a:bodyPr wrap="square" lIns="0" tIns="0" rIns="0" bIns="0" rtlCol="0" anchor="t"/>
          <a:lstStyle/>
          <a:p>
            <a:pPr marL="342900" indent="-342900">
              <a:spcAft>
                <a:spcPts val="800"/>
              </a:spcAft>
              <a:buSzPct val="100000"/>
              <a:buChar char="•"/>
            </a:pPr>
            <a:r>
              <a:rPr lang="en-US" sz="2500" dirty="0">
                <a:solidFill>
                  <a:schemeClr val="bg2"/>
                </a:solidFill>
              </a:rPr>
              <a:t>Startup layers hide interpretation cost</a:t>
            </a:r>
            <a:endParaRPr lang="en-US" sz="2500" dirty="0"/>
          </a:p>
          <a:p>
            <a:pPr marL="342900" indent="-342900">
              <a:spcAft>
                <a:spcPts val="800"/>
              </a:spcAft>
              <a:buSzPct val="100000"/>
              <a:buChar char="•"/>
            </a:pPr>
            <a:r>
              <a:rPr lang="en-US" sz="2500" dirty="0">
                <a:solidFill>
                  <a:schemeClr val="bg2"/>
                </a:solidFill>
              </a:rPr>
              <a:t>zshrs removes the cost instead</a:t>
            </a:r>
            <a:endParaRPr lang="en-US" sz="2500" dirty="0"/>
          </a:p>
          <a:p>
            <a:pPr marL="342900" indent="-342900">
              <a:spcAft>
                <a:spcPts val="800"/>
              </a:spcAft>
              <a:buSzPct val="100000"/>
              <a:buChar char="•"/>
            </a:pPr>
            <a:r>
              <a:rPr lang="en-US" sz="2500" dirty="0">
                <a:solidFill>
                  <a:schemeClr val="bg2"/>
                </a:solidFill>
              </a:rPr>
              <a:t>No instant-prompt equivalent needed</a:t>
            </a:r>
            <a:endParaRPr lang="en-US" sz="2500" dirty="0"/>
          </a:p>
        </p:txBody>
      </p:sp>
      <p:sp>
        <p:nvSpPr>
          <p:cNvPr id="8" name="Shape 5"/>
          <p:cNvSpPr/>
          <p:nvPr/>
        </p:nvSpPr>
        <p:spPr>
          <a:xfrm>
            <a:off x="6217920" y="1737360"/>
            <a:ext cx="5120640" cy="3840480"/>
          </a:xfrm>
          <a:prstGeom prst="roundRect">
            <a:avLst>
              <a:gd name="adj" fmla="val 2857"/>
            </a:avLst>
          </a:prstGeom>
          <a:solidFill>
            <a:schemeClr val="tx2"/>
          </a:solidFill>
          <a:ln w="12700">
            <a:solidFill>
              <a:srgbClr val="2C3844"/>
            </a:solidFill>
            <a:prstDash val="solid"/>
          </a:ln>
        </p:spPr>
      </p:sp>
      <p:sp>
        <p:nvSpPr>
          <p:cNvPr id="9" name="Text 6"/>
          <p:cNvSpPr txBox="1"/>
          <p:nvPr/>
        </p:nvSpPr>
        <p:spPr>
          <a:xfrm>
            <a:off x="6492240" y="1965960"/>
            <a:ext cx="457200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The test</a:t>
            </a:r>
            <a:endParaRPr lang="en-US" sz="2600" dirty="0"/>
          </a:p>
        </p:txBody>
      </p:sp>
      <p:sp>
        <p:nvSpPr>
          <p:cNvPr id="10" name="Text 7"/>
          <p:cNvSpPr txBox="1"/>
          <p:nvPr/>
        </p:nvSpPr>
        <p:spPr>
          <a:xfrm>
            <a:off x="6492240" y="2560320"/>
            <a:ext cx="4572000" cy="2788920"/>
          </a:xfrm>
          <a:prstGeom prst="rect">
            <a:avLst/>
          </a:prstGeom>
          <a:noFill/>
          <a:ln/>
        </p:spPr>
        <p:txBody>
          <a:bodyPr wrap="square" lIns="0" tIns="0" rIns="0" bIns="0" rtlCol="0" anchor="t"/>
          <a:lstStyle/>
          <a:p>
            <a:pPr marL="342900" indent="-342900">
              <a:spcAft>
                <a:spcPts val="800"/>
              </a:spcAft>
              <a:buSzPct val="100000"/>
              <a:buChar char="•"/>
            </a:pPr>
            <a:r>
              <a:rPr lang="en-US" sz="2500" dirty="0">
                <a:solidFill>
                  <a:schemeClr val="bg2"/>
                </a:solidFill>
              </a:rPr>
              <a:t>First paint is the full feature set</a:t>
            </a:r>
            <a:endParaRPr lang="en-US" sz="2500" dirty="0"/>
          </a:p>
          <a:p>
            <a:pPr marL="342900" indent="-342900">
              <a:spcAft>
                <a:spcPts val="800"/>
              </a:spcAft>
              <a:buSzPct val="100000"/>
              <a:buChar char="•"/>
            </a:pPr>
            <a:r>
              <a:rPr lang="en-US" sz="2500" dirty="0">
                <a:solidFill>
                  <a:schemeClr val="bg2"/>
                </a:solidFill>
              </a:rPr>
              <a:t>Measure with zsh-bench</a:t>
            </a:r>
            <a:endParaRPr lang="en-US" sz="2500" dirty="0"/>
          </a:p>
          <a:p>
            <a:pPr marL="342900" indent="-342900">
              <a:spcAft>
                <a:spcPts val="800"/>
              </a:spcAft>
              <a:buSzPct val="100000"/>
              <a:buChar char="•"/>
            </a:pPr>
            <a:r>
              <a:rPr lang="en-US" sz="2500" dirty="0">
                <a:solidFill>
                  <a:schemeClr val="bg2"/>
                </a:solidFill>
              </a:rPr>
              <a:t>Compare your own setup both ways</a:t>
            </a:r>
            <a:endParaRPr lang="en-US" sz="25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59</a:t>
            </a:fld>
            <a:endParaRPr lang="en-US"/>
          </a:p>
        </p:txBody>
      </p:sp>
    </p:spTree>
  </p:cSld>
  <p:clrMapOvr>
    <a:masterClrMapping/>
  </p:clrMapOvr>
</p:sld>
</file>

<file path=ppt/theme/theme1.xml><?xml version="1.0" encoding="utf-8"?>
<a:theme xmlns:a="http://schemas.openxmlformats.org/drawingml/2006/main" name="zshrs talk">
  <a:themeElements>
    <a:clrScheme name="zshrs talk">
      <a:dk1>
        <a:srgbClr val="0F1419"/>
      </a:dk1>
      <a:lt1>
        <a:srgbClr val="F2F0E9"/>
      </a:lt1>
      <a:dk2>
        <a:srgbClr val="1A222B"/>
      </a:dk2>
      <a:lt2>
        <a:srgbClr val="E8E6DF"/>
      </a:lt2>
      <a:accent1>
        <a:srgbClr val="5CC8D7"/>
      </a:accent1>
      <a:accent2>
        <a:srgbClr val="1B7F8E"/>
      </a:accent2>
      <a:accent3>
        <a:srgbClr val="F2994A"/>
      </a:accent3>
      <a:accent4>
        <a:srgbClr val="14181D"/>
      </a:accent4>
      <a:accent5>
        <a:srgbClr val="9AA4AE"/>
      </a:accent5>
      <a:accent6>
        <a:srgbClr val="4A5158"/>
      </a:accent6>
      <a:hlink>
        <a:srgbClr val="5CC8D7"/>
      </a:hlink>
      <a:folHlink>
        <a:srgbClr val="9AA4AE"/>
      </a:folHlink>
    </a:clrScheme>
    <a:fontScheme name="zshrs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zshrs</dc:title>
  <dc:subject>PptxGenJS Presentation</dc:subject>
  <dc:creator>PptxGenJS</dc:creator>
  <cp:lastModifiedBy>PptxGenJS</cp:lastModifiedBy>
  <cp:revision>1</cp:revision>
  <dcterms:created xsi:type="dcterms:W3CDTF">2026-10-09T22:42:09Z</dcterms:created>
  <dcterms:modified xsi:type="dcterms:W3CDTF">2026-10-09T22:42:09Z</dcterms:modified>
</cp:coreProperties>
</file>